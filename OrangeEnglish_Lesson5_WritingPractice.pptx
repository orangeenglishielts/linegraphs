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Lesson 5. This is full practice without a timer, the chance to produce a complete, accurate response while the good habits are still settling in. Lesson 6 will add the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of untimed practice is to make the good habits automatic before the timer is added in Lesson 6. Prove you can produce a full, accurate response when you're not rushed. Preview the four parts.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1. Before writing a word, identify the graph type, the time period, the units, and every category shown. Missing a category is one of the fastest ways to lose Task Achievement 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2. Two minutes of planning saves ten minutes of rewriting. Note the overview pattern, decide the paragraph grouping, and jot a few key figures per body paragraph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3. A complete response, paragraph by paragraph. Each one is labelled and annotated with the vocabulary and grammar choices from Lessons 2 and 3. This is the museum visitors graph from Lesson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4. Run this five-point checklist every time before you finish: tense consistency, a number-free overview, logical grouping, varied vocabulary, and at least two linking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Examiner Mode. The same body data, two outcomes. A weak version lists numbers with no comparison and repeats 'increased'. A strong version uses varied verbs, a comparative, a linking word, and a clear point of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Activity. Using this lesson's checklist, students write a complete answer to the practice graph in their workbook. No timer yet, the focus is accuracy, not speed.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four takeaways: read the question fully, plan for two minutes, run the self-editing checklist, and prioritise accuracy now, speed comes in Lesson 6. Preview Lesson 6: Timed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857250"/>
            <a:ext cx="1428750" cy="172142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 rot="-120000">
            <a:off x="1238250" y="1143000"/>
            <a:ext cx="1628584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Lesson 5 · Writing</a:t>
            </a:r>
            <a:endParaRPr lang="en-US" sz="3450" dirty="0"/>
          </a:p>
        </p:txBody>
      </p:sp>
      <p:sp>
        <p:nvSpPr>
          <p:cNvPr id="6" name="Text 2"/>
          <p:cNvSpPr/>
          <p:nvPr/>
        </p:nvSpPr>
        <p:spPr>
          <a:xfrm>
            <a:off x="1238250" y="1852612"/>
            <a:ext cx="4067476" cy="1243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Writing</a:t>
            </a:r>
            <a:endParaRPr lang="en-US" sz="78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5315248" y="1943100"/>
            <a:ext cx="4519538" cy="1031677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467648" y="1852612"/>
            <a:ext cx="4636212" cy="124301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practice</a:t>
            </a:r>
            <a:endParaRPr lang="en-US" sz="7800" dirty="0"/>
          </a:p>
        </p:txBody>
      </p:sp>
      <p:sp>
        <p:nvSpPr>
          <p:cNvPr id="9" name="Text 4"/>
          <p:cNvSpPr/>
          <p:nvPr/>
        </p:nvSpPr>
        <p:spPr>
          <a:xfrm>
            <a:off x="9682386" y="1852612"/>
            <a:ext cx="336128" cy="1243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7800" dirty="0"/>
          </a:p>
        </p:txBody>
      </p:sp>
      <p:sp>
        <p:nvSpPr>
          <p:cNvPr id="10" name="Text 5"/>
          <p:cNvSpPr/>
          <p:nvPr/>
        </p:nvSpPr>
        <p:spPr>
          <a:xfrm>
            <a:off x="1238250" y="3755827"/>
            <a:ext cx="10791825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7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Put vocabulary, grammar, and structure together in one full, untimed response.</a:t>
            </a:r>
            <a:endParaRPr lang="en-US" sz="27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15600" y="6705600"/>
            <a:ext cx="6858000" cy="2705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THIS MATTERS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5506700" cy="6514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 the habit before the clock starts.</a:t>
            </a:r>
            <a:endParaRPr lang="en-US" sz="4200" dirty="0"/>
          </a:p>
        </p:txBody>
      </p:sp>
      <p:sp>
        <p:nvSpPr>
          <p:cNvPr id="7" name="Text 3"/>
          <p:cNvSpPr/>
          <p:nvPr/>
        </p:nvSpPr>
        <p:spPr>
          <a:xfrm>
            <a:off x="1238250" y="2356470"/>
            <a:ext cx="14716125" cy="1495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6 adds time pressure. Before that, you need to prove you can produce a </a:t>
            </a:r>
            <a:pPr algn="l" indent="0" marL="0">
              <a:lnSpc>
                <a:spcPct val="150000"/>
              </a:lnSpc>
              <a:buNone/>
            </a:pPr>
            <a:r>
              <a:rPr lang="en-US" sz="25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full, accurate response </a:t>
            </a:r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you're not rushed, so the good habits are automatic, not something you're thinking about for the first time under a timer.</a:t>
            </a:r>
            <a:endParaRPr lang="en-US" sz="2550" dirty="0"/>
          </a:p>
        </p:txBody>
      </p:sp>
      <p:sp>
        <p:nvSpPr>
          <p:cNvPr id="8" name="Text 4"/>
          <p:cNvSpPr/>
          <p:nvPr/>
        </p:nvSpPr>
        <p:spPr>
          <a:xfrm rot="-90000">
            <a:off x="1238250" y="4382914"/>
            <a:ext cx="16285845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in this lesson →</a:t>
            </a:r>
            <a:endParaRPr lang="en-US" sz="3000" dirty="0"/>
          </a:p>
        </p:txBody>
      </p:sp>
      <p:sp>
        <p:nvSpPr>
          <p:cNvPr id="9" name="Text 5"/>
          <p:cNvSpPr/>
          <p:nvPr/>
        </p:nvSpPr>
        <p:spPr>
          <a:xfrm>
            <a:off x="1238250" y="5113958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01</a:t>
            </a:r>
            <a:endParaRPr lang="en-US" sz="4200" dirty="0"/>
          </a:p>
        </p:txBody>
      </p:sp>
      <p:sp>
        <p:nvSpPr>
          <p:cNvPr id="10" name="Text 6"/>
          <p:cNvSpPr/>
          <p:nvPr/>
        </p:nvSpPr>
        <p:spPr>
          <a:xfrm>
            <a:off x="1985070" y="5113958"/>
            <a:ext cx="3450699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the question</a:t>
            </a:r>
            <a:endParaRPr lang="en-US" sz="2475" dirty="0"/>
          </a:p>
        </p:txBody>
      </p:sp>
      <p:sp>
        <p:nvSpPr>
          <p:cNvPr id="11" name="Text 7"/>
          <p:cNvSpPr/>
          <p:nvPr/>
        </p:nvSpPr>
        <p:spPr>
          <a:xfrm>
            <a:off x="8763000" y="5113958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02</a:t>
            </a:r>
            <a:endParaRPr lang="en-US" sz="4200" dirty="0"/>
          </a:p>
        </p:txBody>
      </p:sp>
      <p:sp>
        <p:nvSpPr>
          <p:cNvPr id="12" name="Text 8"/>
          <p:cNvSpPr/>
          <p:nvPr/>
        </p:nvSpPr>
        <p:spPr>
          <a:xfrm>
            <a:off x="9509820" y="5113958"/>
            <a:ext cx="3779758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Planning before writing</a:t>
            </a:r>
            <a:endParaRPr lang="en-US" sz="2475" dirty="0"/>
          </a:p>
        </p:txBody>
      </p:sp>
      <p:sp>
        <p:nvSpPr>
          <p:cNvPr id="13" name="Text 9"/>
          <p:cNvSpPr/>
          <p:nvPr/>
        </p:nvSpPr>
        <p:spPr>
          <a:xfrm>
            <a:off x="1238250" y="5917853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03</a:t>
            </a:r>
            <a:endParaRPr lang="en-US" sz="4200" dirty="0"/>
          </a:p>
        </p:txBody>
      </p:sp>
      <p:sp>
        <p:nvSpPr>
          <p:cNvPr id="14" name="Text 10"/>
          <p:cNvSpPr/>
          <p:nvPr/>
        </p:nvSpPr>
        <p:spPr>
          <a:xfrm>
            <a:off x="1985070" y="5917853"/>
            <a:ext cx="4446962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model answer, annotated</a:t>
            </a:r>
            <a:endParaRPr lang="en-US" sz="2475" dirty="0"/>
          </a:p>
        </p:txBody>
      </p:sp>
      <p:sp>
        <p:nvSpPr>
          <p:cNvPr id="15" name="Text 11"/>
          <p:cNvSpPr/>
          <p:nvPr/>
        </p:nvSpPr>
        <p:spPr>
          <a:xfrm>
            <a:off x="8763000" y="5917853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04</a:t>
            </a:r>
            <a:endParaRPr lang="en-US" sz="4200" dirty="0"/>
          </a:p>
        </p:txBody>
      </p:sp>
      <p:sp>
        <p:nvSpPr>
          <p:cNvPr id="16" name="Text 12"/>
          <p:cNvSpPr/>
          <p:nvPr/>
        </p:nvSpPr>
        <p:spPr>
          <a:xfrm>
            <a:off x="9509820" y="5917853"/>
            <a:ext cx="3445788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Self-editing checklist</a:t>
            </a:r>
            <a:endParaRPr lang="en-US" sz="2475" dirty="0"/>
          </a:p>
        </p:txBody>
      </p:sp>
      <p:sp>
        <p:nvSpPr>
          <p:cNvPr id="17" name="Text 13"/>
          <p:cNvSpPr/>
          <p:nvPr/>
        </p:nvSpPr>
        <p:spPr>
          <a:xfrm>
            <a:off x="1238250" y="9491663"/>
            <a:ext cx="638685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5 of 6 · IELTS Writing Task 1 · orangeenglish.nl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6910298" y="9491663"/>
            <a:ext cx="21565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1 · BEFORE YOU WRITE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5304770" cy="1147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9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 the question like an examiner will read your answer.</a:t>
            </a:r>
            <a:endParaRPr lang="en-US" sz="3900" dirty="0"/>
          </a:p>
        </p:txBody>
      </p:sp>
      <p:sp>
        <p:nvSpPr>
          <p:cNvPr id="7" name="Text 3"/>
          <p:cNvSpPr/>
          <p:nvPr/>
        </p:nvSpPr>
        <p:spPr>
          <a:xfrm>
            <a:off x="1238250" y="2642890"/>
            <a:ext cx="15304770" cy="921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writing a word, identify the graph type, the time period, the units, and every category shown.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a category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your answer is one of the fastest ways to lose Task Achievement marks.</a:t>
            </a:r>
            <a:endParaRPr lang="en-US" sz="2400" dirty="0"/>
          </a:p>
        </p:txBody>
      </p:sp>
      <p:sp>
        <p:nvSpPr>
          <p:cNvPr id="8" name="Shape 4"/>
          <p:cNvSpPr/>
          <p:nvPr/>
        </p:nvSpPr>
        <p:spPr>
          <a:xfrm>
            <a:off x="1238250" y="4060180"/>
            <a:ext cx="3695700" cy="2452688"/>
          </a:xfrm>
          <a:prstGeom prst="roundRect">
            <a:avLst>
              <a:gd name="adj" fmla="val 7767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5"/>
          <p:cNvSpPr/>
          <p:nvPr/>
        </p:nvSpPr>
        <p:spPr>
          <a:xfrm>
            <a:off x="2781300" y="4450705"/>
            <a:ext cx="609600" cy="609600"/>
          </a:xfrm>
          <a:prstGeom prst="ellipse">
            <a:avLst/>
          </a:prstGeom>
          <a:solidFill>
            <a:srgbClr val="5FB27B"/>
          </a:solidFill>
          <a:ln/>
        </p:spPr>
        <p:txBody>
          <a:bodyPr/>
          <a:p/>
        </p:txBody>
      </p:sp>
      <p:sp>
        <p:nvSpPr>
          <p:cNvPr id="10" name="Text 6"/>
          <p:cNvSpPr/>
          <p:nvPr/>
        </p:nvSpPr>
        <p:spPr>
          <a:xfrm>
            <a:off x="2743200" y="4450705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27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2036713" y="5303193"/>
            <a:ext cx="2098774" cy="4191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057504" y="5307955"/>
            <a:ext cx="2057192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Graph type</a:t>
            </a:r>
            <a:endParaRPr lang="en-US" sz="2550" dirty="0"/>
          </a:p>
        </p:txBody>
      </p:sp>
      <p:sp>
        <p:nvSpPr>
          <p:cNvPr id="13" name="Shape 8"/>
          <p:cNvSpPr/>
          <p:nvPr/>
        </p:nvSpPr>
        <p:spPr>
          <a:xfrm>
            <a:off x="5276850" y="4060180"/>
            <a:ext cx="3695700" cy="2452688"/>
          </a:xfrm>
          <a:prstGeom prst="roundRect">
            <a:avLst>
              <a:gd name="adj" fmla="val 7767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6819900" y="4450705"/>
            <a:ext cx="609600" cy="609600"/>
          </a:xfrm>
          <a:prstGeom prst="ellipse">
            <a:avLst/>
          </a:prstGeom>
          <a:solidFill>
            <a:srgbClr val="5FB27B"/>
          </a:solidFill>
          <a:ln/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781800" y="4450705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27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</a:blip>
          <a:stretch>
            <a:fillRect/>
          </a:stretch>
        </p:blipFill>
        <p:spPr>
          <a:xfrm>
            <a:off x="5992937" y="5303193"/>
            <a:ext cx="2263453" cy="4191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005494" y="5307955"/>
            <a:ext cx="2238338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 period</a:t>
            </a:r>
            <a:endParaRPr lang="en-US" sz="2550" dirty="0"/>
          </a:p>
        </p:txBody>
      </p:sp>
      <p:sp>
        <p:nvSpPr>
          <p:cNvPr id="18" name="Shape 12"/>
          <p:cNvSpPr/>
          <p:nvPr/>
        </p:nvSpPr>
        <p:spPr>
          <a:xfrm>
            <a:off x="9315450" y="4060180"/>
            <a:ext cx="3695700" cy="2452688"/>
          </a:xfrm>
          <a:prstGeom prst="roundRect">
            <a:avLst>
              <a:gd name="adj" fmla="val 7767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3"/>
          <p:cNvSpPr/>
          <p:nvPr/>
        </p:nvSpPr>
        <p:spPr>
          <a:xfrm>
            <a:off x="10858500" y="4450705"/>
            <a:ext cx="609600" cy="609600"/>
          </a:xfrm>
          <a:prstGeom prst="ellipse">
            <a:avLst/>
          </a:prstGeom>
          <a:solidFill>
            <a:srgbClr val="5FB27B"/>
          </a:solidFill>
          <a:ln/>
        </p:spPr>
        <p:txBody>
          <a:bodyPr/>
          <a:p/>
        </p:txBody>
      </p:sp>
      <p:sp>
        <p:nvSpPr>
          <p:cNvPr id="20" name="Text 14"/>
          <p:cNvSpPr/>
          <p:nvPr/>
        </p:nvSpPr>
        <p:spPr>
          <a:xfrm>
            <a:off x="10820400" y="4450705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27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>
            <a:alphaModFix amt="95000"/>
          </a:blip>
          <a:stretch>
            <a:fillRect/>
          </a:stretch>
        </p:blipFill>
        <p:spPr>
          <a:xfrm>
            <a:off x="10604525" y="5303193"/>
            <a:ext cx="1117476" cy="4191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680725" y="5307955"/>
            <a:ext cx="965076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Units</a:t>
            </a:r>
            <a:endParaRPr lang="en-US" sz="2550" dirty="0"/>
          </a:p>
        </p:txBody>
      </p:sp>
      <p:sp>
        <p:nvSpPr>
          <p:cNvPr id="23" name="Text 16"/>
          <p:cNvSpPr/>
          <p:nvPr/>
        </p:nvSpPr>
        <p:spPr>
          <a:xfrm>
            <a:off x="9497378" y="5836593"/>
            <a:ext cx="333184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%, millions, °C…</a:t>
            </a:r>
            <a:endParaRPr lang="en-US" sz="1875" dirty="0"/>
          </a:p>
        </p:txBody>
      </p:sp>
      <p:sp>
        <p:nvSpPr>
          <p:cNvPr id="24" name="Shape 17"/>
          <p:cNvSpPr/>
          <p:nvPr/>
        </p:nvSpPr>
        <p:spPr>
          <a:xfrm>
            <a:off x="13354050" y="4060180"/>
            <a:ext cx="3695700" cy="2452688"/>
          </a:xfrm>
          <a:prstGeom prst="roundRect">
            <a:avLst>
              <a:gd name="adj" fmla="val 7767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Shape 18"/>
          <p:cNvSpPr/>
          <p:nvPr/>
        </p:nvSpPr>
        <p:spPr>
          <a:xfrm>
            <a:off x="14897100" y="4450705"/>
            <a:ext cx="609600" cy="609600"/>
          </a:xfrm>
          <a:prstGeom prst="ellipse">
            <a:avLst/>
          </a:prstGeom>
          <a:solidFill>
            <a:srgbClr val="5FB27B"/>
          </a:solidFill>
          <a:ln/>
        </p:spPr>
        <p:txBody>
          <a:bodyPr/>
          <a:p/>
        </p:txBody>
      </p:sp>
      <p:sp>
        <p:nvSpPr>
          <p:cNvPr id="26" name="Text 19"/>
          <p:cNvSpPr/>
          <p:nvPr/>
        </p:nvSpPr>
        <p:spPr>
          <a:xfrm>
            <a:off x="14859000" y="4450705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2700" dirty="0"/>
          </a:p>
        </p:txBody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>
            <a:alphaModFix amt="95000"/>
          </a:blip>
          <a:stretch>
            <a:fillRect/>
          </a:stretch>
        </p:blipFill>
        <p:spPr>
          <a:xfrm>
            <a:off x="13929271" y="5303193"/>
            <a:ext cx="2545184" cy="41910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3927741" y="5307955"/>
            <a:ext cx="2548243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All categories</a:t>
            </a:r>
            <a:endParaRPr lang="en-US" sz="2550" dirty="0"/>
          </a:p>
        </p:txBody>
      </p:sp>
      <p:sp>
        <p:nvSpPr>
          <p:cNvPr id="29" name="Text 21"/>
          <p:cNvSpPr/>
          <p:nvPr/>
        </p:nvSpPr>
        <p:spPr>
          <a:xfrm>
            <a:off x="1238250" y="9491663"/>
            <a:ext cx="638685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5 of 6 · IELTS Writing Task 1 · orangeenglish.nl</a:t>
            </a:r>
            <a:endParaRPr lang="en-US" sz="1800" dirty="0"/>
          </a:p>
        </p:txBody>
      </p:sp>
      <p:sp>
        <p:nvSpPr>
          <p:cNvPr id="30" name="Text 22"/>
          <p:cNvSpPr/>
          <p:nvPr/>
        </p:nvSpPr>
        <p:spPr>
          <a:xfrm>
            <a:off x="16908512" y="9491663"/>
            <a:ext cx="217438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2 · PLANNING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5304770" cy="11901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0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minutes of planning saves ten minutes of rewriting.</a:t>
            </a:r>
            <a:endParaRPr lang="en-US" sz="4050" dirty="0"/>
          </a:p>
        </p:txBody>
      </p:sp>
      <p:sp>
        <p:nvSpPr>
          <p:cNvPr id="7" name="Shape 3"/>
          <p:cNvSpPr/>
          <p:nvPr/>
        </p:nvSpPr>
        <p:spPr>
          <a:xfrm>
            <a:off x="1238250" y="3009454"/>
            <a:ext cx="15430500" cy="1136303"/>
          </a:xfrm>
          <a:prstGeom prst="roundRect">
            <a:avLst>
              <a:gd name="adj" fmla="val 15088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1647825" y="3342829"/>
            <a:ext cx="609600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3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01</a:t>
            </a:r>
            <a:endParaRPr lang="en-US" sz="4350" dirty="0"/>
          </a:p>
        </p:txBody>
      </p:sp>
      <p:sp>
        <p:nvSpPr>
          <p:cNvPr id="9" name="Text 5"/>
          <p:cNvSpPr/>
          <p:nvPr/>
        </p:nvSpPr>
        <p:spPr>
          <a:xfrm>
            <a:off x="2466975" y="3376166"/>
            <a:ext cx="1306413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 the</a:t>
            </a:r>
            <a:endParaRPr lang="en-US" sz="2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3706713" y="3342829"/>
            <a:ext cx="2647950" cy="46099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782913" y="3376166"/>
            <a:ext cx="2745105" cy="40481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overview pattern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364188" y="3376166"/>
            <a:ext cx="7572366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(1–2 big trends) before you write a single sentence.</a:t>
            </a:r>
            <a:endParaRPr lang="en-US" sz="2400" dirty="0"/>
          </a:p>
        </p:txBody>
      </p:sp>
      <p:sp>
        <p:nvSpPr>
          <p:cNvPr id="13" name="Shape 8"/>
          <p:cNvSpPr/>
          <p:nvPr/>
        </p:nvSpPr>
        <p:spPr>
          <a:xfrm>
            <a:off x="1238250" y="4469606"/>
            <a:ext cx="15430500" cy="1136303"/>
          </a:xfrm>
          <a:prstGeom prst="roundRect">
            <a:avLst>
              <a:gd name="adj" fmla="val 15088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9"/>
          <p:cNvSpPr/>
          <p:nvPr/>
        </p:nvSpPr>
        <p:spPr>
          <a:xfrm>
            <a:off x="1647825" y="4802981"/>
            <a:ext cx="609600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3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02</a:t>
            </a:r>
            <a:endParaRPr lang="en-US" sz="4350" dirty="0"/>
          </a:p>
        </p:txBody>
      </p:sp>
      <p:sp>
        <p:nvSpPr>
          <p:cNvPr id="15" name="Text 10"/>
          <p:cNvSpPr/>
          <p:nvPr/>
        </p:nvSpPr>
        <p:spPr>
          <a:xfrm>
            <a:off x="2466975" y="4836319"/>
            <a:ext cx="1814959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 your</a:t>
            </a:r>
            <a:endParaRPr lang="en-US" sz="24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</a:blip>
          <a:stretch>
            <a:fillRect/>
          </a:stretch>
        </p:blipFill>
        <p:spPr>
          <a:xfrm>
            <a:off x="4215259" y="4802981"/>
            <a:ext cx="3075831" cy="46099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91459" y="4836319"/>
            <a:ext cx="3215774" cy="40481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paragraph grouping</a:t>
            </a:r>
            <a:endParaRPr lang="en-US" sz="2400" dirty="0"/>
          </a:p>
        </p:txBody>
      </p:sp>
      <p:sp>
        <p:nvSpPr>
          <p:cNvPr id="18" name="Text 12"/>
          <p:cNvSpPr/>
          <p:nvPr/>
        </p:nvSpPr>
        <p:spPr>
          <a:xfrm>
            <a:off x="7214890" y="4836319"/>
            <a:ext cx="7810430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by category, by time period, or by trend (Lesson 4).</a:t>
            </a:r>
            <a:endParaRPr lang="en-US" sz="2400" dirty="0"/>
          </a:p>
        </p:txBody>
      </p:sp>
      <p:sp>
        <p:nvSpPr>
          <p:cNvPr id="19" name="Shape 13"/>
          <p:cNvSpPr/>
          <p:nvPr/>
        </p:nvSpPr>
        <p:spPr>
          <a:xfrm>
            <a:off x="1238250" y="5929759"/>
            <a:ext cx="15430500" cy="1136303"/>
          </a:xfrm>
          <a:prstGeom prst="roundRect">
            <a:avLst>
              <a:gd name="adj" fmla="val 15088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4"/>
          <p:cNvSpPr/>
          <p:nvPr/>
        </p:nvSpPr>
        <p:spPr>
          <a:xfrm>
            <a:off x="1647825" y="6263134"/>
            <a:ext cx="609600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3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03</a:t>
            </a:r>
            <a:endParaRPr lang="en-US" sz="4350" dirty="0"/>
          </a:p>
        </p:txBody>
      </p:sp>
      <p:sp>
        <p:nvSpPr>
          <p:cNvPr id="21" name="Text 15"/>
          <p:cNvSpPr/>
          <p:nvPr/>
        </p:nvSpPr>
        <p:spPr>
          <a:xfrm>
            <a:off x="2466975" y="6263134"/>
            <a:ext cx="14190137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Jot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3–4 key figures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body paragraph so you're not hunting for numbers mid-sentence.</a:t>
            </a:r>
            <a:endParaRPr lang="en-US" sz="2400" dirty="0"/>
          </a:p>
        </p:txBody>
      </p:sp>
      <p:sp>
        <p:nvSpPr>
          <p:cNvPr id="22" name="Text 16"/>
          <p:cNvSpPr/>
          <p:nvPr/>
        </p:nvSpPr>
        <p:spPr>
          <a:xfrm>
            <a:off x="1238250" y="9491663"/>
            <a:ext cx="638685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5 of 6 · IELTS Writing Task 1 · orangeenglish.nl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16902038" y="9491663"/>
            <a:ext cx="22391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4900" y="571500"/>
            <a:ext cx="1028700" cy="123936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8001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3 · A FULL EXAMPLE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190625"/>
            <a:ext cx="17392650" cy="540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shortened example showing the structure.</a:t>
            </a:r>
            <a:endParaRPr lang="en-US" sz="36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143000" y="2036415"/>
            <a:ext cx="1948607" cy="3810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238250" y="2074515"/>
            <a:ext cx="1933917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Introduction</a:t>
            </a:r>
            <a:endParaRPr lang="en-US" sz="2100" dirty="0"/>
          </a:p>
        </p:txBody>
      </p:sp>
      <p:sp>
        <p:nvSpPr>
          <p:cNvPr id="9" name="Text 4"/>
          <p:cNvSpPr/>
          <p:nvPr/>
        </p:nvSpPr>
        <p:spPr>
          <a:xfrm>
            <a:off x="1238250" y="2474565"/>
            <a:ext cx="2095500" cy="320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25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paraphrased prompt</a:t>
            </a:r>
            <a:endParaRPr lang="en-US" sz="2025" dirty="0"/>
          </a:p>
        </p:txBody>
      </p:sp>
      <p:sp>
        <p:nvSpPr>
          <p:cNvPr id="10" name="Text 5"/>
          <p:cNvSpPr/>
          <p:nvPr/>
        </p:nvSpPr>
        <p:spPr>
          <a:xfrm>
            <a:off x="3371850" y="2074515"/>
            <a:ext cx="5670614" cy="1073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"The line graph illustrates how many people visited three London museums over the 30-year period from 1990 to 2020."</a:t>
            </a:r>
            <a:endParaRPr lang="en-US" sz="1875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</a:blip>
          <a:stretch>
            <a:fillRect/>
          </a:stretch>
        </p:blipFill>
        <p:spPr>
          <a:xfrm>
            <a:off x="9315450" y="2036415"/>
            <a:ext cx="1513656" cy="38100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9410700" y="2074515"/>
            <a:ext cx="145547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Overview</a:t>
            </a:r>
            <a:endParaRPr lang="en-US" sz="2100" dirty="0"/>
          </a:p>
        </p:txBody>
      </p:sp>
      <p:sp>
        <p:nvSpPr>
          <p:cNvPr id="13" name="Text 7"/>
          <p:cNvSpPr/>
          <p:nvPr/>
        </p:nvSpPr>
        <p:spPr>
          <a:xfrm>
            <a:off x="9410700" y="2474565"/>
            <a:ext cx="2095500" cy="320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25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two trends, no figures</a:t>
            </a:r>
            <a:endParaRPr lang="en-US" sz="2025" dirty="0"/>
          </a:p>
        </p:txBody>
      </p:sp>
      <p:sp>
        <p:nvSpPr>
          <p:cNvPr id="14" name="Text 8"/>
          <p:cNvSpPr/>
          <p:nvPr/>
        </p:nvSpPr>
        <p:spPr>
          <a:xfrm>
            <a:off x="11544300" y="2074515"/>
            <a:ext cx="5670614" cy="1073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"Overall, one museum consistently attracted far more visitors than the other two, while numbers at all three venues rose considerably."</a:t>
            </a:r>
            <a:endParaRPr lang="en-US" sz="1875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>
            <a:alphaModFix amt="95000"/>
          </a:blip>
          <a:stretch>
            <a:fillRect/>
          </a:stretch>
        </p:blipFill>
        <p:spPr>
          <a:xfrm>
            <a:off x="1143000" y="3396109"/>
            <a:ext cx="1093366" cy="3810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38250" y="3434209"/>
            <a:ext cx="979066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Body 1</a:t>
            </a:r>
            <a:endParaRPr lang="en-US" sz="2100" dirty="0"/>
          </a:p>
        </p:txBody>
      </p:sp>
      <p:sp>
        <p:nvSpPr>
          <p:cNvPr id="17" name="Text 10"/>
          <p:cNvSpPr/>
          <p:nvPr/>
        </p:nvSpPr>
        <p:spPr>
          <a:xfrm>
            <a:off x="1238250" y="3834259"/>
            <a:ext cx="1981200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25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first group, with figures</a:t>
            </a:r>
            <a:endParaRPr lang="en-US" sz="2025" dirty="0"/>
          </a:p>
        </p:txBody>
      </p:sp>
      <p:sp>
        <p:nvSpPr>
          <p:cNvPr id="18" name="Text 11"/>
          <p:cNvSpPr/>
          <p:nvPr/>
        </p:nvSpPr>
        <p:spPr>
          <a:xfrm>
            <a:off x="3371850" y="3434209"/>
            <a:ext cx="5670614" cy="1419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"Visitor numbers at the British Museum stood at 2 million in 1990 and </a:t>
            </a:r>
            <a:pPr algn="l" indent="0" marL="0">
              <a:lnSpc>
                <a:spcPct val="145000"/>
              </a:lnSpc>
              <a:buNone/>
            </a:pPr>
            <a:r>
              <a:rPr lang="en-US" sz="187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climbed steadily </a:t>
            </a:r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6 million by 2020. It was the most popular museum throughout."</a:t>
            </a:r>
            <a:endParaRPr lang="en-US" sz="1875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>
            <a:alphaModFix amt="95000"/>
          </a:blip>
          <a:stretch>
            <a:fillRect/>
          </a:stretch>
        </p:blipFill>
        <p:spPr>
          <a:xfrm>
            <a:off x="9315450" y="3396109"/>
            <a:ext cx="1146125" cy="3810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9410700" y="3434209"/>
            <a:ext cx="103182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Body 2</a:t>
            </a:r>
            <a:endParaRPr lang="en-US" sz="2100" dirty="0"/>
          </a:p>
        </p:txBody>
      </p:sp>
      <p:sp>
        <p:nvSpPr>
          <p:cNvPr id="21" name="Text 13"/>
          <p:cNvSpPr/>
          <p:nvPr/>
        </p:nvSpPr>
        <p:spPr>
          <a:xfrm>
            <a:off x="9410700" y="3834259"/>
            <a:ext cx="1981200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25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second group, with figures</a:t>
            </a:r>
            <a:endParaRPr lang="en-US" sz="2025" dirty="0"/>
          </a:p>
        </p:txBody>
      </p:sp>
      <p:sp>
        <p:nvSpPr>
          <p:cNvPr id="22" name="Text 14"/>
          <p:cNvSpPr/>
          <p:nvPr/>
        </p:nvSpPr>
        <p:spPr>
          <a:xfrm>
            <a:off x="11544300" y="3434209"/>
            <a:ext cx="5670614" cy="1419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</a:t>
            </a:r>
            <a:pPr algn="l" indent="0" marL="0">
              <a:lnSpc>
                <a:spcPct val="145000"/>
              </a:lnSpc>
              <a:buNone/>
            </a:pPr>
            <a:r>
              <a:rPr lang="en-US" sz="187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contrast, </a:t>
            </a:r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attendance at the other two began under 1 million. While the Tate's figure grew gradually to 3 million, the Science Museum's fluctuated before reaching 2.5 million."</a:t>
            </a:r>
            <a:endParaRPr lang="en-US" sz="1875" dirty="0"/>
          </a:p>
        </p:txBody>
      </p:sp>
      <p:sp>
        <p:nvSpPr>
          <p:cNvPr id="23" name="Shape 15"/>
          <p:cNvSpPr/>
          <p:nvPr/>
        </p:nvSpPr>
        <p:spPr>
          <a:xfrm>
            <a:off x="1238250" y="5101084"/>
            <a:ext cx="15811500" cy="704850"/>
          </a:xfrm>
          <a:prstGeom prst="roundRect">
            <a:avLst>
              <a:gd name="adj" fmla="val 18919"/>
            </a:avLst>
          </a:prstGeom>
          <a:solidFill>
            <a:srgbClr val="F88B48">
              <a:alpha val="12000"/>
            </a:srgbClr>
          </a:solidFill>
          <a:ln/>
        </p:spPr>
        <p:txBody>
          <a:bodyPr/>
          <a:p/>
        </p:txBody>
      </p:sp>
      <p:sp>
        <p:nvSpPr>
          <p:cNvPr id="24" name="Text 16"/>
          <p:cNvSpPr/>
          <p:nvPr/>
        </p:nvSpPr>
        <p:spPr>
          <a:xfrm>
            <a:off x="1485900" y="5272534"/>
            <a:ext cx="500881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note</a:t>
            </a:r>
            <a:endParaRPr lang="en-US" sz="2250" dirty="0"/>
          </a:p>
        </p:txBody>
      </p:sp>
      <p:sp>
        <p:nvSpPr>
          <p:cNvPr id="25" name="Text 17"/>
          <p:cNvSpPr/>
          <p:nvPr/>
        </p:nvSpPr>
        <p:spPr>
          <a:xfrm>
            <a:off x="2043931" y="5299174"/>
            <a:ext cx="15932267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paragraph uses the </a:t>
            </a:r>
            <a:pPr algn="l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vocabulary and grammar choices </a:t>
            </a:r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Lessons 2–3: precise verbs, the past simple, comparisons of equivalent figures and clear connections.</a:t>
            </a:r>
            <a:endParaRPr lang="en-US" sz="1800" dirty="0"/>
          </a:p>
        </p:txBody>
      </p:sp>
      <p:sp>
        <p:nvSpPr>
          <p:cNvPr id="26" name="Text 18"/>
          <p:cNvSpPr/>
          <p:nvPr/>
        </p:nvSpPr>
        <p:spPr>
          <a:xfrm>
            <a:off x="1238250" y="9644063"/>
            <a:ext cx="638685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5 of 6 · IELTS Writing Task 1 · orangeenglish.nl</a:t>
            </a:r>
            <a:endParaRPr lang="en-US" sz="1800" dirty="0"/>
          </a:p>
        </p:txBody>
      </p:sp>
      <p:sp>
        <p:nvSpPr>
          <p:cNvPr id="27" name="Text 19"/>
          <p:cNvSpPr/>
          <p:nvPr/>
        </p:nvSpPr>
        <p:spPr>
          <a:xfrm>
            <a:off x="16914093" y="9644063"/>
            <a:ext cx="21185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4 · BEFORE YOU FINISH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 this checklist every time.</a:t>
            </a:r>
            <a:endParaRPr lang="en-US" sz="4200" dirty="0"/>
          </a:p>
        </p:txBody>
      </p:sp>
      <p:sp>
        <p:nvSpPr>
          <p:cNvPr id="7" name="Shape 3"/>
          <p:cNvSpPr/>
          <p:nvPr/>
        </p:nvSpPr>
        <p:spPr>
          <a:xfrm>
            <a:off x="1238250" y="2397621"/>
            <a:ext cx="15430500" cy="971550"/>
          </a:xfrm>
          <a:prstGeom prst="roundRect">
            <a:avLst>
              <a:gd name="adj" fmla="val 15686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4"/>
          <p:cNvSpPr/>
          <p:nvPr/>
        </p:nvSpPr>
        <p:spPr>
          <a:xfrm>
            <a:off x="1590675" y="2654796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5FB27B"/>
          </a:solidFill>
          <a:ln/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1552575" y="2654796"/>
            <a:ext cx="5334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2295525" y="2684115"/>
            <a:ext cx="7431576" cy="4366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the tense </a:t>
            </a:r>
            <a:pPr algn="l" indent="0" marL="0">
              <a:lnSpc>
                <a:spcPct val="135000"/>
              </a:lnSpc>
              <a:buNone/>
            </a:pPr>
            <a:r>
              <a:rPr lang="en-US" sz="23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 the time reference</a:t>
            </a:r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?</a:t>
            </a:r>
            <a:endParaRPr lang="en-US" sz="2325" dirty="0"/>
          </a:p>
        </p:txBody>
      </p:sp>
      <p:sp>
        <p:nvSpPr>
          <p:cNvPr id="11" name="Shape 7"/>
          <p:cNvSpPr/>
          <p:nvPr/>
        </p:nvSpPr>
        <p:spPr>
          <a:xfrm>
            <a:off x="1238250" y="3578721"/>
            <a:ext cx="15430500" cy="971550"/>
          </a:xfrm>
          <a:prstGeom prst="roundRect">
            <a:avLst>
              <a:gd name="adj" fmla="val 15686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1590675" y="3835896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5FB27B"/>
          </a:solidFill>
          <a:ln/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1552575" y="3835896"/>
            <a:ext cx="5334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2295525" y="3865215"/>
            <a:ext cx="5090510" cy="4366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overview </a:t>
            </a:r>
            <a:pPr algn="l" indent="0" marL="0">
              <a:lnSpc>
                <a:spcPct val="135000"/>
              </a:lnSpc>
              <a:buNone/>
            </a:pPr>
            <a:r>
              <a:rPr lang="en-US" sz="23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clear summary</a:t>
            </a:r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?</a:t>
            </a:r>
            <a:endParaRPr lang="en-US" sz="2325" dirty="0"/>
          </a:p>
        </p:txBody>
      </p:sp>
      <p:sp>
        <p:nvSpPr>
          <p:cNvPr id="15" name="Shape 11"/>
          <p:cNvSpPr/>
          <p:nvPr/>
        </p:nvSpPr>
        <p:spPr>
          <a:xfrm>
            <a:off x="1238250" y="4759821"/>
            <a:ext cx="15430500" cy="971550"/>
          </a:xfrm>
          <a:prstGeom prst="roundRect">
            <a:avLst>
              <a:gd name="adj" fmla="val 15686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1590675" y="5016996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5FB27B"/>
          </a:solidFill>
          <a:ln/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1552575" y="5016996"/>
            <a:ext cx="5334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2100" dirty="0"/>
          </a:p>
        </p:txBody>
      </p:sp>
      <p:sp>
        <p:nvSpPr>
          <p:cNvPr id="18" name="Text 14"/>
          <p:cNvSpPr/>
          <p:nvPr/>
        </p:nvSpPr>
        <p:spPr>
          <a:xfrm>
            <a:off x="2295525" y="5046315"/>
            <a:ext cx="6217087" cy="4366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body paragraphs </a:t>
            </a:r>
            <a:pPr algn="l" indent="0" marL="0">
              <a:lnSpc>
                <a:spcPct val="135000"/>
              </a:lnSpc>
              <a:buNone/>
            </a:pPr>
            <a:r>
              <a:rPr lang="en-US" sz="23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grouped logically</a:t>
            </a:r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?</a:t>
            </a:r>
            <a:endParaRPr lang="en-US" sz="2325" dirty="0"/>
          </a:p>
        </p:txBody>
      </p:sp>
      <p:sp>
        <p:nvSpPr>
          <p:cNvPr id="19" name="Shape 15"/>
          <p:cNvSpPr/>
          <p:nvPr/>
        </p:nvSpPr>
        <p:spPr>
          <a:xfrm>
            <a:off x="1238250" y="5940921"/>
            <a:ext cx="15430500" cy="971550"/>
          </a:xfrm>
          <a:prstGeom prst="roundRect">
            <a:avLst>
              <a:gd name="adj" fmla="val 15686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1590675" y="6198096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5FB27B"/>
          </a:solidFill>
          <a:ln/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1552575" y="6198096"/>
            <a:ext cx="5334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2100" dirty="0"/>
          </a:p>
        </p:txBody>
      </p:sp>
      <p:sp>
        <p:nvSpPr>
          <p:cNvPr id="22" name="Text 18"/>
          <p:cNvSpPr/>
          <p:nvPr/>
        </p:nvSpPr>
        <p:spPr>
          <a:xfrm>
            <a:off x="2295525" y="6227415"/>
            <a:ext cx="6285681" cy="4366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comparisons </a:t>
            </a:r>
            <a:pPr algn="l" indent="0" marL="0">
              <a:lnSpc>
                <a:spcPct val="135000"/>
              </a:lnSpc>
              <a:buNone/>
            </a:pPr>
            <a:r>
              <a:rPr lang="en-US" sz="23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like with like</a:t>
            </a:r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?</a:t>
            </a:r>
            <a:endParaRPr lang="en-US" sz="2325" dirty="0"/>
          </a:p>
        </p:txBody>
      </p:sp>
      <p:sp>
        <p:nvSpPr>
          <p:cNvPr id="23" name="Shape 19"/>
          <p:cNvSpPr/>
          <p:nvPr/>
        </p:nvSpPr>
        <p:spPr>
          <a:xfrm>
            <a:off x="1238250" y="7122021"/>
            <a:ext cx="15430500" cy="971550"/>
          </a:xfrm>
          <a:prstGeom prst="roundRect">
            <a:avLst>
              <a:gd name="adj" fmla="val 15686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Shape 20"/>
          <p:cNvSpPr/>
          <p:nvPr/>
        </p:nvSpPr>
        <p:spPr>
          <a:xfrm>
            <a:off x="1590675" y="7379196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5FB27B"/>
          </a:solidFill>
          <a:ln/>
        </p:spPr>
        <p:txBody>
          <a:bodyPr/>
          <a:p/>
        </p:txBody>
      </p:sp>
      <p:sp>
        <p:nvSpPr>
          <p:cNvPr id="25" name="Text 21"/>
          <p:cNvSpPr/>
          <p:nvPr/>
        </p:nvSpPr>
        <p:spPr>
          <a:xfrm>
            <a:off x="1552575" y="7379196"/>
            <a:ext cx="5334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2100" dirty="0"/>
          </a:p>
        </p:txBody>
      </p:sp>
      <p:sp>
        <p:nvSpPr>
          <p:cNvPr id="26" name="Text 22"/>
          <p:cNvSpPr/>
          <p:nvPr/>
        </p:nvSpPr>
        <p:spPr>
          <a:xfrm>
            <a:off x="2295525" y="7408515"/>
            <a:ext cx="10051360" cy="4366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the </a:t>
            </a:r>
            <a:pPr algn="l" indent="0" marL="0">
              <a:lnSpc>
                <a:spcPct val="135000"/>
              </a:lnSpc>
              <a:buNone/>
            </a:pPr>
            <a:r>
              <a:rPr lang="en-US" sz="23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connections between sentences </a:t>
            </a:r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sense?</a:t>
            </a:r>
            <a:endParaRPr lang="en-US" sz="2325" dirty="0"/>
          </a:p>
        </p:txBody>
      </p:sp>
      <p:sp>
        <p:nvSpPr>
          <p:cNvPr id="27" name="Text 23"/>
          <p:cNvSpPr/>
          <p:nvPr/>
        </p:nvSpPr>
        <p:spPr>
          <a:xfrm>
            <a:off x="1238250" y="9491663"/>
            <a:ext cx="638685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5 of 6 · IELTS Writing Task 1 · orangeenglish.nl</a:t>
            </a:r>
            <a:endParaRPr lang="en-US" sz="1800" dirty="0"/>
          </a:p>
        </p:txBody>
      </p:sp>
      <p:sp>
        <p:nvSpPr>
          <p:cNvPr id="28" name="Text 24"/>
          <p:cNvSpPr/>
          <p:nvPr/>
        </p:nvSpPr>
        <p:spPr>
          <a:xfrm>
            <a:off x="16907991" y="9491663"/>
            <a:ext cx="21795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 rot="-120000">
            <a:off x="1238250" y="914400"/>
            <a:ext cx="16285845" cy="542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examiner mode</a:t>
            </a:r>
            <a:endParaRPr lang="en-US" sz="3150" dirty="0"/>
          </a:p>
        </p:txBody>
      </p:sp>
      <p:sp>
        <p:nvSpPr>
          <p:cNvPr id="6" name="Text 2"/>
          <p:cNvSpPr/>
          <p:nvPr/>
        </p:nvSpPr>
        <p:spPr>
          <a:xfrm>
            <a:off x="1238250" y="1514475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Same data, two outcomes.</a:t>
            </a:r>
            <a:endParaRPr lang="en-US" sz="4200" dirty="0"/>
          </a:p>
        </p:txBody>
      </p:sp>
      <p:sp>
        <p:nvSpPr>
          <p:cNvPr id="7" name="Shape 3"/>
          <p:cNvSpPr/>
          <p:nvPr/>
        </p:nvSpPr>
        <p:spPr>
          <a:xfrm>
            <a:off x="1238250" y="2645271"/>
            <a:ext cx="15430500" cy="2213074"/>
          </a:xfrm>
          <a:prstGeom prst="roundRect">
            <a:avLst>
              <a:gd name="adj" fmla="val 7747"/>
            </a:avLst>
          </a:prstGeom>
          <a:solidFill>
            <a:srgbClr val="FFFFFF">
              <a:alpha val="50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1666875" y="3016746"/>
            <a:ext cx="239316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B042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✗</a:t>
            </a:r>
            <a:endParaRPr lang="en-US" sz="2250" dirty="0"/>
          </a:p>
        </p:txBody>
      </p:sp>
      <p:sp>
        <p:nvSpPr>
          <p:cNvPr id="9" name="Text 5"/>
          <p:cNvSpPr/>
          <p:nvPr/>
        </p:nvSpPr>
        <p:spPr>
          <a:xfrm>
            <a:off x="2001441" y="3052465"/>
            <a:ext cx="90167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B042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WEAK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666875" y="3535859"/>
            <a:ext cx="16030575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9A8F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"Visitors increased to 6 million. It increased to 3 million. It increased to 2.5 million."</a:t>
            </a:r>
            <a:endParaRPr lang="en-US" sz="2475" dirty="0"/>
          </a:p>
        </p:txBody>
      </p:sp>
      <p:sp>
        <p:nvSpPr>
          <p:cNvPr id="11" name="Text 7"/>
          <p:cNvSpPr/>
          <p:nvPr/>
        </p:nvSpPr>
        <p:spPr>
          <a:xfrm>
            <a:off x="1666875" y="4124920"/>
            <a:ext cx="16030575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B0421F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listed numbers, repeated "increased," no comparison between the museums</a:t>
            </a:r>
            <a:endParaRPr lang="en-US" sz="2250" dirty="0"/>
          </a:p>
        </p:txBody>
      </p:sp>
      <p:sp>
        <p:nvSpPr>
          <p:cNvPr id="12" name="Shape 8"/>
          <p:cNvSpPr/>
          <p:nvPr/>
        </p:nvSpPr>
        <p:spPr>
          <a:xfrm>
            <a:off x="1238250" y="5239345"/>
            <a:ext cx="15430500" cy="2668786"/>
          </a:xfrm>
          <a:prstGeom prst="roundRect">
            <a:avLst>
              <a:gd name="adj" fmla="val 6424"/>
            </a:avLst>
          </a:prstGeom>
          <a:solidFill>
            <a:srgbClr val="5FB27B">
              <a:alpha val="10000"/>
            </a:srgbClr>
          </a:solidFill>
          <a:ln w="9525">
            <a:solidFill>
              <a:srgbClr val="5FB27B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1666875" y="5610820"/>
            <a:ext cx="294605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250" dirty="0"/>
          </a:p>
        </p:txBody>
      </p:sp>
      <p:sp>
        <p:nvSpPr>
          <p:cNvPr id="14" name="Text 10"/>
          <p:cNvSpPr/>
          <p:nvPr/>
        </p:nvSpPr>
        <p:spPr>
          <a:xfrm>
            <a:off x="2056730" y="5646539"/>
            <a:ext cx="162041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3F8A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STRONGER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1666875" y="6163270"/>
            <a:ext cx="14495920" cy="8748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"Visitor numbers at the British Museum </a:t>
            </a:r>
            <a:endParaRPr lang="en-US" sz="2475" dirty="0"/>
            <a:r>
              <a:rPr lang="en-US" sz="2475" dirty="0" b="1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climbed to 6 million</a:t>
            </a:r>
            <a:r>
              <a:rPr lang="en-US" sz="247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twice the Tate's figure, </a:t>
            </a:r>
            <a:r>
              <a:rPr lang="en-US" sz="2475" dirty="0" b="1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while</a:t>
            </a:r>
            <a:r>
              <a:rPr lang="en-US" sz="247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Science Museum reached only 2.5 million."</a:t>
            </a:r>
          </a:p>
        </p:txBody>
      </p:sp>
      <p:sp>
        <p:nvSpPr>
          <p:cNvPr id="21" name="Text 16"/>
          <p:cNvSpPr/>
          <p:nvPr/>
        </p:nvSpPr>
        <p:spPr>
          <a:xfrm>
            <a:off x="1666875" y="7174706"/>
            <a:ext cx="16030575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3F8A5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precise verb + figures compared with figures + a clear connection</a:t>
            </a:r>
            <a:endParaRPr lang="en-US" sz="2250" dirty="0"/>
          </a:p>
        </p:txBody>
      </p:sp>
      <p:sp>
        <p:nvSpPr>
          <p:cNvPr id="22" name="Text 17"/>
          <p:cNvSpPr/>
          <p:nvPr/>
        </p:nvSpPr>
        <p:spPr>
          <a:xfrm>
            <a:off x="1238250" y="9491663"/>
            <a:ext cx="638685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5 of 6 · IELTS Writing Task 1 · orangeenglish.nl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16920344" y="9491663"/>
            <a:ext cx="205606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1028700"/>
            <a:ext cx="152676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ACTIVITY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 rot="-120000">
            <a:off x="2854896" y="914400"/>
            <a:ext cx="1498283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1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your turn!</a:t>
            </a:r>
            <a:endParaRPr lang="en-US" sz="3150" dirty="0"/>
          </a:p>
        </p:txBody>
      </p:sp>
      <p:sp>
        <p:nvSpPr>
          <p:cNvPr id="7" name="Text 3"/>
          <p:cNvSpPr/>
          <p:nvPr/>
        </p:nvSpPr>
        <p:spPr>
          <a:xfrm>
            <a:off x="1238250" y="1447800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Write a full response.</a:t>
            </a:r>
            <a:endParaRPr lang="en-US" sz="4200" dirty="0"/>
          </a:p>
        </p:txBody>
      </p:sp>
      <p:sp>
        <p:nvSpPr>
          <p:cNvPr id="8" name="Text 4"/>
          <p:cNvSpPr/>
          <p:nvPr/>
        </p:nvSpPr>
        <p:spPr>
          <a:xfrm>
            <a:off x="1238250" y="2197596"/>
            <a:ext cx="15304770" cy="9495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Using the checklist from this lesson, write a complete answer to the practice graph provided in your workbook. </a:t>
            </a:r>
            <a:pPr algn="l" indent="0" marL="0">
              <a:lnSpc>
                <a:spcPct val="145000"/>
              </a:lnSpc>
              <a:buNone/>
            </a:pPr>
            <a:r>
              <a:rPr lang="en-US" sz="247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timer yet</a:t>
            </a:r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focus on accuracy, not speed.</a:t>
            </a:r>
            <a:endParaRPr lang="en-US" sz="2475" dirty="0"/>
          </a:p>
        </p:txBody>
      </p:sp>
      <p:sp>
        <p:nvSpPr>
          <p:cNvPr id="9" name="Shape 5"/>
          <p:cNvSpPr/>
          <p:nvPr/>
        </p:nvSpPr>
        <p:spPr>
          <a:xfrm>
            <a:off x="1238250" y="3566220"/>
            <a:ext cx="14859000" cy="2743200"/>
          </a:xfrm>
          <a:prstGeom prst="roundRect">
            <a:avLst>
              <a:gd name="adj" fmla="val 6944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Shape 6"/>
          <p:cNvSpPr/>
          <p:nvPr/>
        </p:nvSpPr>
        <p:spPr>
          <a:xfrm rot="-90000">
            <a:off x="1664903" y="3366195"/>
            <a:ext cx="1800225" cy="409575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 rot="-90000">
            <a:off x="1798253" y="3366195"/>
            <a:ext cx="1713548" cy="4476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write here →</a:t>
            </a:r>
            <a:endParaRPr lang="en-US" sz="2550" dirty="0"/>
          </a:p>
        </p:txBody>
      </p:sp>
      <p:sp>
        <p:nvSpPr>
          <p:cNvPr id="12" name="Shape 8"/>
          <p:cNvSpPr/>
          <p:nvPr/>
        </p:nvSpPr>
        <p:spPr>
          <a:xfrm>
            <a:off x="1781175" y="4090095"/>
            <a:ext cx="13773150" cy="19050"/>
          </a:xfrm>
          <a:prstGeom prst="rect">
            <a:avLst/>
          </a:prstGeom>
          <a:solidFill>
            <a:srgbClr val="5FB27B">
              <a:alpha val="50000"/>
            </a:srgbClr>
          </a:solidFill>
          <a:ln/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1781175" y="4509195"/>
            <a:ext cx="13773150" cy="19050"/>
          </a:xfrm>
          <a:prstGeom prst="rect">
            <a:avLst/>
          </a:prstGeom>
          <a:solidFill>
            <a:srgbClr val="5FB27B">
              <a:alpha val="50000"/>
            </a:srgbClr>
          </a:solidFill>
          <a:ln/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1781175" y="4928295"/>
            <a:ext cx="13773150" cy="19050"/>
          </a:xfrm>
          <a:prstGeom prst="rect">
            <a:avLst/>
          </a:prstGeom>
          <a:solidFill>
            <a:srgbClr val="5FB27B">
              <a:alpha val="50000"/>
            </a:srgbClr>
          </a:solidFill>
          <a:ln/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1781175" y="5347395"/>
            <a:ext cx="13773150" cy="19050"/>
          </a:xfrm>
          <a:prstGeom prst="rect">
            <a:avLst/>
          </a:prstGeom>
          <a:solidFill>
            <a:srgbClr val="5FB27B">
              <a:alpha val="50000"/>
            </a:srgbClr>
          </a:solidFill>
          <a:ln/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1781175" y="5766495"/>
            <a:ext cx="13773150" cy="19050"/>
          </a:xfrm>
          <a:prstGeom prst="rect">
            <a:avLst/>
          </a:prstGeom>
          <a:solidFill>
            <a:srgbClr val="5FB27B">
              <a:alpha val="50000"/>
            </a:srgbClr>
          </a:solidFill>
          <a:ln/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1238250" y="9491663"/>
            <a:ext cx="638685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5 of 6 · IELTS Writing Task 1 · orangeenglish.nl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6908289" y="9491663"/>
            <a:ext cx="217661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7392650" cy="614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0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to carry into your writing.</a:t>
            </a:r>
            <a:endParaRPr lang="en-US" sz="4050" dirty="0"/>
          </a:p>
        </p:txBody>
      </p:sp>
      <p:sp>
        <p:nvSpPr>
          <p:cNvPr id="7" name="Shape 3"/>
          <p:cNvSpPr/>
          <p:nvPr/>
        </p:nvSpPr>
        <p:spPr>
          <a:xfrm>
            <a:off x="1238250" y="2509614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1657350" y="2376264"/>
            <a:ext cx="12828962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the question fully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writing, graph type, time period, units, categories.</a:t>
            </a:r>
            <a:endParaRPr lang="en-US" sz="2400" dirty="0"/>
          </a:p>
        </p:txBody>
      </p:sp>
      <p:sp>
        <p:nvSpPr>
          <p:cNvPr id="9" name="Shape 5"/>
          <p:cNvSpPr/>
          <p:nvPr/>
        </p:nvSpPr>
        <p:spPr>
          <a:xfrm>
            <a:off x="1238250" y="3218259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  <p:txBody>
          <a:bodyPr/>
          <a:p/>
        </p:txBody>
      </p:sp>
      <p:sp>
        <p:nvSpPr>
          <p:cNvPr id="10" name="Text 6"/>
          <p:cNvSpPr/>
          <p:nvPr/>
        </p:nvSpPr>
        <p:spPr>
          <a:xfrm>
            <a:off x="1657350" y="3084909"/>
            <a:ext cx="10942030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Spend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 planning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overview and paragraph grouping.</a:t>
            </a:r>
            <a:endParaRPr lang="en-US" sz="2400" dirty="0"/>
          </a:p>
        </p:txBody>
      </p:sp>
      <p:sp>
        <p:nvSpPr>
          <p:cNvPr id="11" name="Shape 7"/>
          <p:cNvSpPr/>
          <p:nvPr/>
        </p:nvSpPr>
        <p:spPr>
          <a:xfrm>
            <a:off x="1238250" y="3926904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1657350" y="3793554"/>
            <a:ext cx="9326612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self-editing checklist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time you finish a draft.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1238250" y="4635550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1657350" y="4502200"/>
            <a:ext cx="8703692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 first, speed next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that's what Lesson 6 adds.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 rot="-120000">
            <a:off x="14963462" y="8015288"/>
            <a:ext cx="208502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next up →</a:t>
            </a:r>
            <a:endParaRPr lang="en-US" sz="2550" dirty="0"/>
          </a:p>
        </p:txBody>
      </p:sp>
      <p:sp>
        <p:nvSpPr>
          <p:cNvPr id="16" name="Text 12"/>
          <p:cNvSpPr/>
          <p:nvPr/>
        </p:nvSpPr>
        <p:spPr>
          <a:xfrm>
            <a:off x="14961944" y="8482013"/>
            <a:ext cx="2087806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Timed Task</a:t>
            </a:r>
            <a:endParaRPr lang="en-US" sz="2550" dirty="0"/>
          </a:p>
        </p:txBody>
      </p:sp>
      <p:sp>
        <p:nvSpPr>
          <p:cNvPr id="17" name="Text 13"/>
          <p:cNvSpPr/>
          <p:nvPr/>
        </p:nvSpPr>
        <p:spPr>
          <a:xfrm>
            <a:off x="1238250" y="9491663"/>
            <a:ext cx="638685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5 of 6 · IELTS Writing Task 1 · orangeenglish.nl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6907991" y="9491663"/>
            <a:ext cx="21795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2026-06-20T14:29:51Z</dcterms:created>
  <dcterms:modified xsi:type="dcterms:W3CDTF">2026-06-20T14:29:51Z</dcterms:modified>
</cp:coreProperties>
</file>