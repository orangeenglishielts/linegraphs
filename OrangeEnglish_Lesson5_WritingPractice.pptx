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Lesson 5. This is full practice without a timer, the chance to produce a complete, accurate response while the good habits are still settling in. Lesson 6 will add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untimed practice is to make the good habits automatic before the timer is added in Lesson 6. Prove you can produce a full, accurate response when you're not rushed. Preview the four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1. Before writing a word, identify the graph type, the time period, the units, and every category shown. Missing a category is one of the fastest ways to lose Task Achievement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2. Two minutes of planning saves ten minutes of rewriting. Note the overview pattern, decide the paragraph grouping, and jot a few key figures per body paragraph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3. A complete response, paragraph by paragraph. Each one is labelled and annotated with the vocabulary and grammar choices from Lessons 2 and 3. This is the museum visitors graph from Lesson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4. Run this five-point checklist every time before you finish: tense consistency, a number-free overview, logical grouping, varied vocabulary, and at least two linking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 Mode. The same body data, two outcomes. A weak version lists numbers with no comparison and repeats 'increased'. A strong version uses varied verbs, a comparative, a linking word, and a clear point of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Activity. Using this lesson's checklist, students write a complete answer to the practice graph in their workbook. No timer yet, the focus is accuracy, not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takeaways: read the question fully, plan for two minutes, run the self-editing checklist, and prioritise accuracy now, speed comes in Lesson 6. Preview Lesson 6: Timed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857250"/>
            <a:ext cx="1428750" cy="17214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1143000"/>
            <a:ext cx="162858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Lesson 5 · Writing</a:t>
            </a:r>
            <a:endParaRPr lang="en-US" sz="3450" dirty="0"/>
          </a:p>
        </p:txBody>
      </p:sp>
      <p:sp>
        <p:nvSpPr>
          <p:cNvPr id="6" name="Text 2"/>
          <p:cNvSpPr/>
          <p:nvPr/>
        </p:nvSpPr>
        <p:spPr>
          <a:xfrm>
            <a:off x="1238250" y="1852612"/>
            <a:ext cx="4067476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Writing</a:t>
            </a:r>
            <a:endParaRPr lang="en-US" sz="7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315248" y="1943100"/>
            <a:ext cx="4519538" cy="10316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67648" y="1852612"/>
            <a:ext cx="4636212" cy="12430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</a:t>
            </a:r>
            <a:endParaRPr lang="en-US" sz="7800" dirty="0"/>
          </a:p>
        </p:txBody>
      </p:sp>
      <p:sp>
        <p:nvSpPr>
          <p:cNvPr id="9" name="Text 4"/>
          <p:cNvSpPr/>
          <p:nvPr/>
        </p:nvSpPr>
        <p:spPr>
          <a:xfrm>
            <a:off x="9682386" y="1852612"/>
            <a:ext cx="336128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7800" dirty="0"/>
          </a:p>
        </p:txBody>
      </p:sp>
      <p:sp>
        <p:nvSpPr>
          <p:cNvPr id="10" name="Text 5"/>
          <p:cNvSpPr/>
          <p:nvPr/>
        </p:nvSpPr>
        <p:spPr>
          <a:xfrm>
            <a:off x="1238250" y="3755827"/>
            <a:ext cx="107918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vocabulary, grammar, and structure together in one full, untimed response.</a:t>
            </a:r>
            <a:endParaRPr lang="en-US" sz="2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600" y="6705600"/>
            <a:ext cx="6858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5506700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habit before the clock starts.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1238250" y="2356470"/>
            <a:ext cx="14716125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adds time pressure. Before that, you need to prove you can produce a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full, accurate response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you're not rushed, so the good habits are automatic, not something you're thinking about for the first time under a timer.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 rot="-90000">
            <a:off x="1238250" y="4382914"/>
            <a:ext cx="162858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 this lesson →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238250" y="5113958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1985070" y="5113958"/>
            <a:ext cx="345069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the question</a:t>
            </a:r>
            <a:endParaRPr lang="en-US" sz="2475" dirty="0"/>
          </a:p>
        </p:txBody>
      </p:sp>
      <p:sp>
        <p:nvSpPr>
          <p:cNvPr id="11" name="Text 7"/>
          <p:cNvSpPr/>
          <p:nvPr/>
        </p:nvSpPr>
        <p:spPr>
          <a:xfrm>
            <a:off x="8763000" y="5113958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9509820" y="5113958"/>
            <a:ext cx="377975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before writing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1238250" y="5917853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1985070" y="5917853"/>
            <a:ext cx="444696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 answer, annotated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8763000" y="5917853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04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9509820" y="5917853"/>
            <a:ext cx="344578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Self-editing checklist</a:t>
            </a:r>
            <a:endParaRPr lang="en-US" sz="2475" dirty="0"/>
          </a:p>
        </p:txBody>
      </p:sp>
      <p:sp>
        <p:nvSpPr>
          <p:cNvPr id="17" name="Text 13"/>
          <p:cNvSpPr/>
          <p:nvPr/>
        </p:nvSpPr>
        <p:spPr>
          <a:xfrm>
            <a:off x="1238250" y="9491663"/>
            <a:ext cx="638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5 of 8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10298" y="9491663"/>
            <a:ext cx="2156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BEFORE YOU WRITE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5304770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question like an examiner will read your answer.</a:t>
            </a:r>
            <a:endParaRPr lang="en-US" sz="3900" dirty="0"/>
          </a:p>
        </p:txBody>
      </p:sp>
      <p:sp>
        <p:nvSpPr>
          <p:cNvPr id="7" name="Text 3"/>
          <p:cNvSpPr/>
          <p:nvPr/>
        </p:nvSpPr>
        <p:spPr>
          <a:xfrm>
            <a:off x="1238250" y="2642890"/>
            <a:ext cx="15304770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writing a word, identify the graph type, the time period, the units, and every category shown.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a category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your answer is one of the fastest ways to lose Task Achievement marks.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1238250" y="4060180"/>
            <a:ext cx="3695700" cy="2452688"/>
          </a:xfrm>
          <a:prstGeom prst="roundRect">
            <a:avLst>
              <a:gd name="adj" fmla="val 776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81300" y="4450705"/>
            <a:ext cx="609600" cy="60960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0" y="445070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2036713" y="5303193"/>
            <a:ext cx="2098774" cy="419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57504" y="5307955"/>
            <a:ext cx="2057192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 type</a:t>
            </a:r>
            <a:endParaRPr lang="en-US" sz="2550" dirty="0"/>
          </a:p>
        </p:txBody>
      </p:sp>
      <p:sp>
        <p:nvSpPr>
          <p:cNvPr id="13" name="Shape 8"/>
          <p:cNvSpPr/>
          <p:nvPr/>
        </p:nvSpPr>
        <p:spPr>
          <a:xfrm>
            <a:off x="5276850" y="4060180"/>
            <a:ext cx="3695700" cy="2452688"/>
          </a:xfrm>
          <a:prstGeom prst="roundRect">
            <a:avLst>
              <a:gd name="adj" fmla="val 776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19900" y="4450705"/>
            <a:ext cx="609600" cy="60960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5" name="Text 10"/>
          <p:cNvSpPr/>
          <p:nvPr/>
        </p:nvSpPr>
        <p:spPr>
          <a:xfrm>
            <a:off x="6781800" y="445070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5992937" y="5303193"/>
            <a:ext cx="2263453" cy="4191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05494" y="5307955"/>
            <a:ext cx="2238338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period</a:t>
            </a:r>
            <a:endParaRPr lang="en-US" sz="2550" dirty="0"/>
          </a:p>
        </p:txBody>
      </p:sp>
      <p:sp>
        <p:nvSpPr>
          <p:cNvPr id="18" name="Shape 12"/>
          <p:cNvSpPr/>
          <p:nvPr/>
        </p:nvSpPr>
        <p:spPr>
          <a:xfrm>
            <a:off x="9315450" y="4060180"/>
            <a:ext cx="3695700" cy="2452688"/>
          </a:xfrm>
          <a:prstGeom prst="roundRect">
            <a:avLst>
              <a:gd name="adj" fmla="val 776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858500" y="4450705"/>
            <a:ext cx="609600" cy="60960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20" name="Text 14"/>
          <p:cNvSpPr/>
          <p:nvPr/>
        </p:nvSpPr>
        <p:spPr>
          <a:xfrm>
            <a:off x="10820400" y="445070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7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10604525" y="5303193"/>
            <a:ext cx="1117476" cy="4191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680725" y="5307955"/>
            <a:ext cx="96507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Units</a:t>
            </a:r>
            <a:endParaRPr lang="en-US" sz="2550" dirty="0"/>
          </a:p>
        </p:txBody>
      </p:sp>
      <p:sp>
        <p:nvSpPr>
          <p:cNvPr id="23" name="Text 16"/>
          <p:cNvSpPr/>
          <p:nvPr/>
        </p:nvSpPr>
        <p:spPr>
          <a:xfrm>
            <a:off x="9497378" y="5836593"/>
            <a:ext cx="33318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%, millions, °C…</a:t>
            </a:r>
            <a:endParaRPr lang="en-US" sz="1875" dirty="0"/>
          </a:p>
        </p:txBody>
      </p:sp>
      <p:sp>
        <p:nvSpPr>
          <p:cNvPr id="24" name="Shape 17"/>
          <p:cNvSpPr/>
          <p:nvPr/>
        </p:nvSpPr>
        <p:spPr>
          <a:xfrm>
            <a:off x="13354050" y="4060180"/>
            <a:ext cx="3695700" cy="2452688"/>
          </a:xfrm>
          <a:prstGeom prst="roundRect">
            <a:avLst>
              <a:gd name="adj" fmla="val 776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4897100" y="4450705"/>
            <a:ext cx="609600" cy="60960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26" name="Text 19"/>
          <p:cNvSpPr/>
          <p:nvPr/>
        </p:nvSpPr>
        <p:spPr>
          <a:xfrm>
            <a:off x="14859000" y="445070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7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>
            <a:alphaModFix amt="95000"/>
          </a:blip>
          <a:stretch>
            <a:fillRect/>
          </a:stretch>
        </p:blipFill>
        <p:spPr>
          <a:xfrm>
            <a:off x="13929271" y="5303193"/>
            <a:ext cx="2545184" cy="4191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927741" y="5307955"/>
            <a:ext cx="2548243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categories</a:t>
            </a:r>
            <a:endParaRPr lang="en-US" sz="2550" dirty="0"/>
          </a:p>
        </p:txBody>
      </p:sp>
      <p:sp>
        <p:nvSpPr>
          <p:cNvPr id="29" name="Text 21"/>
          <p:cNvSpPr/>
          <p:nvPr/>
        </p:nvSpPr>
        <p:spPr>
          <a:xfrm>
            <a:off x="1238250" y="9491663"/>
            <a:ext cx="638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5 of 8 · IELTS Writing Task 1 · orangeenglish.nl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16908512" y="9491663"/>
            <a:ext cx="2174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· PLANNING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5304770" cy="1190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minutes of planning saves ten minutes of rewriting.</a:t>
            </a:r>
            <a:endParaRPr lang="en-US" sz="4050" dirty="0"/>
          </a:p>
        </p:txBody>
      </p:sp>
      <p:sp>
        <p:nvSpPr>
          <p:cNvPr id="7" name="Shape 3"/>
          <p:cNvSpPr/>
          <p:nvPr/>
        </p:nvSpPr>
        <p:spPr>
          <a:xfrm>
            <a:off x="1238250" y="3009454"/>
            <a:ext cx="15430500" cy="1136303"/>
          </a:xfrm>
          <a:prstGeom prst="roundRect">
            <a:avLst>
              <a:gd name="adj" fmla="val 1508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47825" y="3342829"/>
            <a:ext cx="6096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3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4350" dirty="0"/>
          </a:p>
        </p:txBody>
      </p:sp>
      <p:sp>
        <p:nvSpPr>
          <p:cNvPr id="9" name="Text 5"/>
          <p:cNvSpPr/>
          <p:nvPr/>
        </p:nvSpPr>
        <p:spPr>
          <a:xfrm>
            <a:off x="2466975" y="3376166"/>
            <a:ext cx="1306413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the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3706713" y="3342829"/>
            <a:ext cx="2647950" cy="4609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82913" y="3376166"/>
            <a:ext cx="2745105" cy="4048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pattern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364188" y="3376166"/>
            <a:ext cx="7572366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(1–2 big trends) before you write a single sentence.</a:t>
            </a:r>
            <a:endParaRPr lang="en-US" sz="2400" dirty="0"/>
          </a:p>
        </p:txBody>
      </p:sp>
      <p:sp>
        <p:nvSpPr>
          <p:cNvPr id="13" name="Shape 8"/>
          <p:cNvSpPr/>
          <p:nvPr/>
        </p:nvSpPr>
        <p:spPr>
          <a:xfrm>
            <a:off x="1238250" y="4469606"/>
            <a:ext cx="15430500" cy="1136303"/>
          </a:xfrm>
          <a:prstGeom prst="roundRect">
            <a:avLst>
              <a:gd name="adj" fmla="val 1508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647825" y="4802981"/>
            <a:ext cx="6096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3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4350" dirty="0"/>
          </a:p>
        </p:txBody>
      </p:sp>
      <p:sp>
        <p:nvSpPr>
          <p:cNvPr id="15" name="Text 10"/>
          <p:cNvSpPr/>
          <p:nvPr/>
        </p:nvSpPr>
        <p:spPr>
          <a:xfrm>
            <a:off x="2466975" y="4836319"/>
            <a:ext cx="1814959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your</a:t>
            </a:r>
            <a:endParaRPr lang="en-US" sz="2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4215259" y="4802981"/>
            <a:ext cx="3075831" cy="4609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91459" y="4836319"/>
            <a:ext cx="3215774" cy="4048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paragraph grouping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7214890" y="4836319"/>
            <a:ext cx="781043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by category, by time period, or by trend (Lesson 4).</a:t>
            </a:r>
            <a:endParaRPr lang="en-US" sz="2400" dirty="0"/>
          </a:p>
        </p:txBody>
      </p:sp>
      <p:sp>
        <p:nvSpPr>
          <p:cNvPr id="19" name="Shape 13"/>
          <p:cNvSpPr/>
          <p:nvPr/>
        </p:nvSpPr>
        <p:spPr>
          <a:xfrm>
            <a:off x="1238250" y="5929759"/>
            <a:ext cx="15430500" cy="1136303"/>
          </a:xfrm>
          <a:prstGeom prst="roundRect">
            <a:avLst>
              <a:gd name="adj" fmla="val 1508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647825" y="6263134"/>
            <a:ext cx="6096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3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4350" dirty="0"/>
          </a:p>
        </p:txBody>
      </p:sp>
      <p:sp>
        <p:nvSpPr>
          <p:cNvPr id="21" name="Text 15"/>
          <p:cNvSpPr/>
          <p:nvPr/>
        </p:nvSpPr>
        <p:spPr>
          <a:xfrm>
            <a:off x="2466975" y="6263134"/>
            <a:ext cx="14190137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Jot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key figures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body paragraph so you're not hunting for numbers mid-sentence.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1238250" y="9491663"/>
            <a:ext cx="638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5 of 8 · IELTS Writing Task 1 · orangeenglish.nl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6902038" y="9491663"/>
            <a:ext cx="2239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0" y="571500"/>
            <a:ext cx="1028700" cy="1239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8001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 · A FULL EXAMPLE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190625"/>
            <a:ext cx="1739265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graph, one complete response.</a:t>
            </a:r>
            <a:endParaRPr lang="en-US" sz="3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143000" y="2036415"/>
            <a:ext cx="1948607" cy="381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8250" y="2074515"/>
            <a:ext cx="19339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238250" y="2474565"/>
            <a:ext cx="2095500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paraphrased prompt</a:t>
            </a:r>
            <a:endParaRPr lang="en-US" sz="2025" dirty="0"/>
          </a:p>
        </p:txBody>
      </p:sp>
      <p:sp>
        <p:nvSpPr>
          <p:cNvPr id="10" name="Text 5"/>
          <p:cNvSpPr/>
          <p:nvPr/>
        </p:nvSpPr>
        <p:spPr>
          <a:xfrm>
            <a:off x="3371850" y="2074515"/>
            <a:ext cx="5670614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line graph illustrates how many people visited three London museums over the 30-year period from 1990 to 2020."</a:t>
            </a:r>
            <a:endParaRPr lang="en-US" sz="1875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9315450" y="2036415"/>
            <a:ext cx="1513656" cy="381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410700" y="2074515"/>
            <a:ext cx="14554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9410700" y="2474565"/>
            <a:ext cx="2095500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two trends, no figures</a:t>
            </a:r>
            <a:endParaRPr lang="en-US" sz="2025" dirty="0"/>
          </a:p>
        </p:txBody>
      </p:sp>
      <p:sp>
        <p:nvSpPr>
          <p:cNvPr id="14" name="Text 8"/>
          <p:cNvSpPr/>
          <p:nvPr/>
        </p:nvSpPr>
        <p:spPr>
          <a:xfrm>
            <a:off x="11544300" y="2074515"/>
            <a:ext cx="5670614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"Overall, one museum consistently attracted far more visitors than the other two, while numbers at all three venues rose considerably."</a:t>
            </a:r>
            <a:endParaRPr lang="en-US" sz="187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1143000" y="3396109"/>
            <a:ext cx="1093366" cy="381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8250" y="3434209"/>
            <a:ext cx="9790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1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1238250" y="3834259"/>
            <a:ext cx="198120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first group, with figures</a:t>
            </a:r>
            <a:endParaRPr lang="en-US" sz="2025" dirty="0"/>
          </a:p>
        </p:txBody>
      </p:sp>
      <p:sp>
        <p:nvSpPr>
          <p:cNvPr id="18" name="Text 11"/>
          <p:cNvSpPr/>
          <p:nvPr/>
        </p:nvSpPr>
        <p:spPr>
          <a:xfrm>
            <a:off x="3371850" y="3434209"/>
            <a:ext cx="5670614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British Museum began at around 2 million in 1990 and </a:t>
            </a:r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climbed steadily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roughly 6 million by 2020, remaining the most popular throughout."</a:t>
            </a:r>
            <a:endParaRPr lang="en-US" sz="18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>
            <a:alphaModFix amt="95000"/>
          </a:blip>
          <a:stretch>
            <a:fillRect/>
          </a:stretch>
        </p:blipFill>
        <p:spPr>
          <a:xfrm>
            <a:off x="9315450" y="3396109"/>
            <a:ext cx="1146125" cy="381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410700" y="3434209"/>
            <a:ext cx="10318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2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9410700" y="3834259"/>
            <a:ext cx="198120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second group, with figures</a:t>
            </a:r>
            <a:endParaRPr lang="en-US" sz="2025" dirty="0"/>
          </a:p>
        </p:txBody>
      </p:sp>
      <p:sp>
        <p:nvSpPr>
          <p:cNvPr id="22" name="Text 14"/>
          <p:cNvSpPr/>
          <p:nvPr/>
        </p:nvSpPr>
        <p:spPr>
          <a:xfrm>
            <a:off x="11544300" y="3434209"/>
            <a:ext cx="5670614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contrast,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other two began under 1 million. While the Tate grew gradually to 3 million, the Science Museum fluctuated before reaching 2.5 million."</a:t>
            </a:r>
            <a:endParaRPr lang="en-US" sz="1875" dirty="0"/>
          </a:p>
        </p:txBody>
      </p:sp>
      <p:sp>
        <p:nvSpPr>
          <p:cNvPr id="23" name="Shape 15"/>
          <p:cNvSpPr/>
          <p:nvPr/>
        </p:nvSpPr>
        <p:spPr>
          <a:xfrm>
            <a:off x="1238250" y="5101084"/>
            <a:ext cx="15811500" cy="704850"/>
          </a:xfrm>
          <a:prstGeom prst="roundRect">
            <a:avLst>
              <a:gd name="adj" fmla="val 18919"/>
            </a:avLst>
          </a:prstGeom>
          <a:solidFill>
            <a:srgbClr val="F88B48">
              <a:alpha val="12000"/>
            </a:srgbClr>
          </a:solidFill>
          <a:ln/>
        </p:spPr>
      </p:sp>
      <p:sp>
        <p:nvSpPr>
          <p:cNvPr id="24" name="Text 16"/>
          <p:cNvSpPr/>
          <p:nvPr/>
        </p:nvSpPr>
        <p:spPr>
          <a:xfrm>
            <a:off x="1485900" y="5272534"/>
            <a:ext cx="50088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note</a:t>
            </a:r>
            <a:endParaRPr lang="en-US" sz="2250" dirty="0"/>
          </a:p>
        </p:txBody>
      </p:sp>
      <p:sp>
        <p:nvSpPr>
          <p:cNvPr id="25" name="Text 17"/>
          <p:cNvSpPr/>
          <p:nvPr/>
        </p:nvSpPr>
        <p:spPr>
          <a:xfrm>
            <a:off x="2043931" y="5299174"/>
            <a:ext cx="15932267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paragraph uses the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and grammar choices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Lessons 2–3, varied verbs, past simple, comparatives, linking words.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1238250" y="9644063"/>
            <a:ext cx="638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5 of 8 · IELTS Writing Task 1 · orangeenglish.nl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16914093" y="9644063"/>
            <a:ext cx="2118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 · BEFORE YOU FINISH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this checklist every time.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397621"/>
            <a:ext cx="1543050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590675" y="265479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5FB27B"/>
          </a:solidFill>
          <a:ln/>
        </p:spPr>
      </p:sp>
      <p:sp>
        <p:nvSpPr>
          <p:cNvPr id="9" name="Text 5"/>
          <p:cNvSpPr/>
          <p:nvPr/>
        </p:nvSpPr>
        <p:spPr>
          <a:xfrm>
            <a:off x="1552575" y="265479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2295525" y="2684115"/>
            <a:ext cx="7431576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tense consistent, </a:t>
            </a:r>
            <a:pPr algn="l" indent="0" marL="0">
              <a:lnSpc>
                <a:spcPct val="135000"/>
              </a:lnSpc>
              <a:buNone/>
            </a:pPr>
            <a:r>
              <a:rPr lang="en-US" sz="23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simple throughout</a:t>
            </a:r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325" dirty="0"/>
          </a:p>
        </p:txBody>
      </p:sp>
      <p:sp>
        <p:nvSpPr>
          <p:cNvPr id="11" name="Shape 7"/>
          <p:cNvSpPr/>
          <p:nvPr/>
        </p:nvSpPr>
        <p:spPr>
          <a:xfrm>
            <a:off x="1238250" y="3578721"/>
            <a:ext cx="1543050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590675" y="383589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5FB27B"/>
          </a:solidFill>
          <a:ln/>
        </p:spPr>
      </p:sp>
      <p:sp>
        <p:nvSpPr>
          <p:cNvPr id="13" name="Text 9"/>
          <p:cNvSpPr/>
          <p:nvPr/>
        </p:nvSpPr>
        <p:spPr>
          <a:xfrm>
            <a:off x="1552575" y="383589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2295525" y="3865215"/>
            <a:ext cx="509051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overview </a:t>
            </a:r>
            <a:pPr algn="l" indent="0" marL="0">
              <a:lnSpc>
                <a:spcPct val="135000"/>
              </a:lnSpc>
              <a:buNone/>
            </a:pPr>
            <a:r>
              <a:rPr lang="en-US" sz="23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of numbers</a:t>
            </a:r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325" dirty="0"/>
          </a:p>
        </p:txBody>
      </p:sp>
      <p:sp>
        <p:nvSpPr>
          <p:cNvPr id="15" name="Shape 11"/>
          <p:cNvSpPr/>
          <p:nvPr/>
        </p:nvSpPr>
        <p:spPr>
          <a:xfrm>
            <a:off x="1238250" y="4759821"/>
            <a:ext cx="1543050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590675" y="501699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5FB27B"/>
          </a:solidFill>
          <a:ln/>
        </p:spPr>
      </p:sp>
      <p:sp>
        <p:nvSpPr>
          <p:cNvPr id="17" name="Text 13"/>
          <p:cNvSpPr/>
          <p:nvPr/>
        </p:nvSpPr>
        <p:spPr>
          <a:xfrm>
            <a:off x="1552575" y="501699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2295525" y="5046315"/>
            <a:ext cx="6217087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body paragraphs </a:t>
            </a:r>
            <a:pPr algn="l" indent="0" marL="0">
              <a:lnSpc>
                <a:spcPct val="135000"/>
              </a:lnSpc>
              <a:buNone/>
            </a:pPr>
            <a:r>
              <a:rPr lang="en-US" sz="23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grouped logically</a:t>
            </a:r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325" dirty="0"/>
          </a:p>
        </p:txBody>
      </p:sp>
      <p:sp>
        <p:nvSpPr>
          <p:cNvPr id="19" name="Shape 15"/>
          <p:cNvSpPr/>
          <p:nvPr/>
        </p:nvSpPr>
        <p:spPr>
          <a:xfrm>
            <a:off x="1238250" y="5940921"/>
            <a:ext cx="1543050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590675" y="619809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5FB27B"/>
          </a:solidFill>
          <a:ln/>
        </p:spPr>
      </p:sp>
      <p:sp>
        <p:nvSpPr>
          <p:cNvPr id="21" name="Text 17"/>
          <p:cNvSpPr/>
          <p:nvPr/>
        </p:nvSpPr>
        <p:spPr>
          <a:xfrm>
            <a:off x="1552575" y="619809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2295525" y="6227415"/>
            <a:ext cx="6285681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vocabulary </a:t>
            </a:r>
            <a:pPr algn="l" indent="0" marL="0">
              <a:lnSpc>
                <a:spcPct val="135000"/>
              </a:lnSpc>
              <a:buNone/>
            </a:pPr>
            <a:r>
              <a:rPr lang="en-US" sz="23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varied</a:t>
            </a:r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 repeated verbs?</a:t>
            </a:r>
            <a:endParaRPr lang="en-US" sz="2325" dirty="0"/>
          </a:p>
        </p:txBody>
      </p:sp>
      <p:sp>
        <p:nvSpPr>
          <p:cNvPr id="23" name="Shape 19"/>
          <p:cNvSpPr/>
          <p:nvPr/>
        </p:nvSpPr>
        <p:spPr>
          <a:xfrm>
            <a:off x="1238250" y="7122021"/>
            <a:ext cx="1543050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590675" y="737919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5FB27B"/>
          </a:solidFill>
          <a:ln/>
        </p:spPr>
      </p:sp>
      <p:sp>
        <p:nvSpPr>
          <p:cNvPr id="25" name="Text 21"/>
          <p:cNvSpPr/>
          <p:nvPr/>
        </p:nvSpPr>
        <p:spPr>
          <a:xfrm>
            <a:off x="1552575" y="737919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2295525" y="7408515"/>
            <a:ext cx="1005136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</a:t>
            </a:r>
            <a:pPr algn="l" indent="0" marL="0">
              <a:lnSpc>
                <a:spcPct val="135000"/>
              </a:lnSpc>
              <a:buNone/>
            </a:pPr>
            <a:r>
              <a:rPr lang="en-US" sz="23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two linking words </a:t>
            </a:r>
            <a:pPr algn="l" indent="0" marL="0">
              <a:lnSpc>
                <a:spcPct val="135000"/>
              </a:lnSpc>
              <a:buNone/>
            </a:pPr>
            <a:r>
              <a:rPr lang="en-US" sz="23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(while, in contrast, however)?</a:t>
            </a:r>
            <a:endParaRPr lang="en-US" sz="2325" dirty="0"/>
          </a:p>
        </p:txBody>
      </p:sp>
      <p:sp>
        <p:nvSpPr>
          <p:cNvPr id="27" name="Text 23"/>
          <p:cNvSpPr/>
          <p:nvPr/>
        </p:nvSpPr>
        <p:spPr>
          <a:xfrm>
            <a:off x="1238250" y="9491663"/>
            <a:ext cx="638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5 of 8 · IELTS Writing Task 1 · orangeenglish.nl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914400"/>
            <a:ext cx="1628584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examiner mode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1238250" y="15144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data, two outcomes.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645271"/>
            <a:ext cx="15430500" cy="2213074"/>
          </a:xfrm>
          <a:prstGeom prst="roundRect">
            <a:avLst>
              <a:gd name="adj" fmla="val 7747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66875" y="3016746"/>
            <a:ext cx="23931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2001441" y="3052465"/>
            <a:ext cx="9016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66875" y="3535859"/>
            <a:ext cx="1603057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9A8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"Visitors increased to 6 million. It increased to 3 million. It increased to 2.5 million."</a:t>
            </a:r>
            <a:endParaRPr lang="en-US" sz="2475" dirty="0"/>
          </a:p>
        </p:txBody>
      </p:sp>
      <p:sp>
        <p:nvSpPr>
          <p:cNvPr id="11" name="Text 7"/>
          <p:cNvSpPr/>
          <p:nvPr/>
        </p:nvSpPr>
        <p:spPr>
          <a:xfrm>
            <a:off x="1666875" y="4124920"/>
            <a:ext cx="160305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42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listed numbers, repeated "increased," no comparison or linking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238250" y="5239345"/>
            <a:ext cx="15430500" cy="2668786"/>
          </a:xfrm>
          <a:prstGeom prst="roundRect">
            <a:avLst>
              <a:gd name="adj" fmla="val 6424"/>
            </a:avLst>
          </a:prstGeom>
          <a:solidFill>
            <a:srgbClr val="5FB27B">
              <a:alpha val="10000"/>
            </a:srgbClr>
          </a:solidFill>
          <a:ln w="9525">
            <a:solidFill>
              <a:srgbClr val="5FB27B">
                <a:alpha val="3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66875" y="5610820"/>
            <a:ext cx="29460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2056730" y="5646539"/>
            <a:ext cx="16204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3F8A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666875" y="6163270"/>
            <a:ext cx="32490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British Museum</a:t>
            </a:r>
            <a:endParaRPr lang="en-US" sz="2475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4828803" y="6129933"/>
            <a:ext cx="3094509" cy="4747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05003" y="6163270"/>
            <a:ext cx="3236320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climbed to 6 million</a:t>
            </a:r>
            <a:endParaRPr lang="en-US" sz="2475" dirty="0"/>
          </a:p>
        </p:txBody>
      </p:sp>
      <p:sp>
        <p:nvSpPr>
          <p:cNvPr id="18" name="Text 13"/>
          <p:cNvSpPr/>
          <p:nvPr/>
        </p:nvSpPr>
        <p:spPr>
          <a:xfrm>
            <a:off x="7847112" y="6163270"/>
            <a:ext cx="388245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far higher than the Tate,</a:t>
            </a:r>
            <a:endParaRPr lang="en-US" sz="2475" dirty="0"/>
          </a:p>
        </p:txBody>
      </p:sp>
      <p:sp>
        <p:nvSpPr>
          <p:cNvPr id="19" name="Text 14"/>
          <p:cNvSpPr/>
          <p:nvPr/>
        </p:nvSpPr>
        <p:spPr>
          <a:xfrm>
            <a:off x="11700272" y="6163270"/>
            <a:ext cx="8828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</a:t>
            </a:r>
            <a:endParaRPr lang="en-US" sz="2475" dirty="0"/>
          </a:p>
        </p:txBody>
      </p:sp>
      <p:sp>
        <p:nvSpPr>
          <p:cNvPr id="20" name="Text 15"/>
          <p:cNvSpPr/>
          <p:nvPr/>
        </p:nvSpPr>
        <p:spPr>
          <a:xfrm>
            <a:off x="1666875" y="6163270"/>
            <a:ext cx="14495920" cy="874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Science Museum only reached 2.5 million."</a:t>
            </a:r>
            <a:endParaRPr lang="en-US" sz="2475" dirty="0"/>
          </a:p>
        </p:txBody>
      </p:sp>
      <p:sp>
        <p:nvSpPr>
          <p:cNvPr id="21" name="Text 16"/>
          <p:cNvSpPr/>
          <p:nvPr/>
        </p:nvSpPr>
        <p:spPr>
          <a:xfrm>
            <a:off x="1666875" y="7174706"/>
            <a:ext cx="160305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varied verb + comparative + linking word + clear comparison</a:t>
            </a:r>
            <a:endParaRPr lang="en-US" sz="2250" dirty="0"/>
          </a:p>
        </p:txBody>
      </p:sp>
      <p:sp>
        <p:nvSpPr>
          <p:cNvPr id="22" name="Text 17"/>
          <p:cNvSpPr/>
          <p:nvPr/>
        </p:nvSpPr>
        <p:spPr>
          <a:xfrm>
            <a:off x="1238250" y="9491663"/>
            <a:ext cx="638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5 of 8 · IELTS Writing Task 1 · orangeenglish.nl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6920344" y="9491663"/>
            <a:ext cx="20560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1028700"/>
            <a:ext cx="1526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 rot="-120000">
            <a:off x="2854896" y="914400"/>
            <a:ext cx="14982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your turn!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1238250" y="1447800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a full response.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1238250" y="2197596"/>
            <a:ext cx="15304770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the checklist from this lesson, write a complete answer to the practice graph provided in your workbook. </a:t>
            </a:r>
            <a:pPr algn="l" indent="0" marL="0">
              <a:lnSpc>
                <a:spcPct val="145000"/>
              </a:lnSpc>
              <a:buNone/>
            </a:pPr>
            <a:r>
              <a:rPr lang="en-US" sz="24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timer yet</a:t>
            </a:r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focus on accuracy, not speed.</a:t>
            </a:r>
            <a:endParaRPr lang="en-US" sz="2475" dirty="0"/>
          </a:p>
        </p:txBody>
      </p:sp>
      <p:sp>
        <p:nvSpPr>
          <p:cNvPr id="9" name="Shape 5"/>
          <p:cNvSpPr/>
          <p:nvPr/>
        </p:nvSpPr>
        <p:spPr>
          <a:xfrm>
            <a:off x="1238250" y="3566220"/>
            <a:ext cx="14859000" cy="2743200"/>
          </a:xfrm>
          <a:prstGeom prst="roundRect">
            <a:avLst>
              <a:gd name="adj" fmla="val 6944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rot="-90000">
            <a:off x="1664903" y="3366195"/>
            <a:ext cx="1800225" cy="409575"/>
          </a:xfrm>
          <a:prstGeom prst="rect">
            <a:avLst/>
          </a:prstGeom>
          <a:solidFill>
            <a:srgbClr val="FAF8F3"/>
          </a:solidFill>
          <a:ln/>
        </p:spPr>
      </p:sp>
      <p:sp>
        <p:nvSpPr>
          <p:cNvPr id="11" name="Text 7"/>
          <p:cNvSpPr/>
          <p:nvPr/>
        </p:nvSpPr>
        <p:spPr>
          <a:xfrm rot="-90000">
            <a:off x="1798253" y="3366195"/>
            <a:ext cx="1713548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write here →</a:t>
            </a:r>
            <a:endParaRPr lang="en-US" sz="2550" dirty="0"/>
          </a:p>
        </p:txBody>
      </p:sp>
      <p:sp>
        <p:nvSpPr>
          <p:cNvPr id="12" name="Shape 8"/>
          <p:cNvSpPr/>
          <p:nvPr/>
        </p:nvSpPr>
        <p:spPr>
          <a:xfrm>
            <a:off x="1781175" y="4090095"/>
            <a:ext cx="13773150" cy="19050"/>
          </a:xfrm>
          <a:prstGeom prst="rect">
            <a:avLst/>
          </a:prstGeom>
          <a:solidFill>
            <a:srgbClr val="5FB27B">
              <a:alpha val="5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1781175" y="4509195"/>
            <a:ext cx="13773150" cy="19050"/>
          </a:xfrm>
          <a:prstGeom prst="rect">
            <a:avLst/>
          </a:prstGeom>
          <a:solidFill>
            <a:srgbClr val="5FB27B">
              <a:alpha val="5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781175" y="4928295"/>
            <a:ext cx="13773150" cy="19050"/>
          </a:xfrm>
          <a:prstGeom prst="rect">
            <a:avLst/>
          </a:prstGeom>
          <a:solidFill>
            <a:srgbClr val="5FB27B">
              <a:alpha val="5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1781175" y="5347395"/>
            <a:ext cx="13773150" cy="19050"/>
          </a:xfrm>
          <a:prstGeom prst="rect">
            <a:avLst/>
          </a:prstGeom>
          <a:solidFill>
            <a:srgbClr val="5FB27B">
              <a:alpha val="5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1781175" y="5766495"/>
            <a:ext cx="13773150" cy="19050"/>
          </a:xfrm>
          <a:prstGeom prst="rect">
            <a:avLst/>
          </a:prstGeom>
          <a:solidFill>
            <a:srgbClr val="5FB27B">
              <a:alpha val="5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238250" y="9491663"/>
            <a:ext cx="638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5 of 8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08289" y="9491663"/>
            <a:ext cx="21766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to carry into your writing.</a:t>
            </a:r>
            <a:endParaRPr lang="en-US" sz="4050" dirty="0"/>
          </a:p>
        </p:txBody>
      </p:sp>
      <p:sp>
        <p:nvSpPr>
          <p:cNvPr id="7" name="Shape 3"/>
          <p:cNvSpPr/>
          <p:nvPr/>
        </p:nvSpPr>
        <p:spPr>
          <a:xfrm>
            <a:off x="1238250" y="2509614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8" name="Text 4"/>
          <p:cNvSpPr/>
          <p:nvPr/>
        </p:nvSpPr>
        <p:spPr>
          <a:xfrm>
            <a:off x="1657350" y="2376264"/>
            <a:ext cx="12828962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question fully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writing, graph type, time period, units, categories.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1238250" y="3218259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0" name="Text 6"/>
          <p:cNvSpPr/>
          <p:nvPr/>
        </p:nvSpPr>
        <p:spPr>
          <a:xfrm>
            <a:off x="1657350" y="3084909"/>
            <a:ext cx="1094203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minutes planning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overview and paragraph grouping.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238250" y="3926904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2" name="Text 8"/>
          <p:cNvSpPr/>
          <p:nvPr/>
        </p:nvSpPr>
        <p:spPr>
          <a:xfrm>
            <a:off x="1657350" y="3793554"/>
            <a:ext cx="9326612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self-editing checklist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time you finish a draft.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1238250" y="4635550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4" name="Text 10"/>
          <p:cNvSpPr/>
          <p:nvPr/>
        </p:nvSpPr>
        <p:spPr>
          <a:xfrm>
            <a:off x="1657350" y="4502200"/>
            <a:ext cx="8703692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first, speed next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that's what Lesson 6 adds.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 rot="-120000">
            <a:off x="14963462" y="8015288"/>
            <a:ext cx="208502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next up →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14961944" y="8482013"/>
            <a:ext cx="208780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Timed Task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238250" y="9491663"/>
            <a:ext cx="638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5 of 8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2026-06-20T14:29:51Z</dcterms:created>
  <dcterms:modified xsi:type="dcterms:W3CDTF">2026-06-20T14:29:51Z</dcterms:modified>
</cp:coreProperties>
</file>