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5.svg" ContentType="image/svg+xml"/>
  <Override PartName="/ppt/media/image-3-11.svg" ContentType="image/svg+xml"/>
  <Override PartName="/ppt/media/image-3-5.svg" ContentType="image/svg+xml"/>
  <Override PartName="/ppt/media/image-3-8.svg" ContentType="image/svg+xml"/>
  <Override PartName="/ppt/media/image-4-11.svg" ContentType="image/svg+xml"/>
  <Override PartName="/ppt/media/image-4-5.svg" ContentType="image/svg+xml"/>
  <Override PartName="/ppt/media/image-4-8.svg" ContentType="image/svg+xml"/>
  <Override PartName="/ppt/media/image-5-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Lesson 2. This lesson is all about the vocabulary examiners reward when describing trends, the precise verbs and adverbs for up, down, and stable.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stakes clear: lexical resource is a quarter of the Task 1 score. Repeating 'went up / went down' caps it. Preview the four parts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1. Three tiers of intensity for going up. The highlighted verbs are the ones to memorise; match the adverb to how steep the line is. Each tier has its own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 continued. The mirror image for going down. Same three tiers, slight, steady, dramatic, with the matching verbs. Each tier has its own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2. Not every line moves in one direction. Stability verbs for flat lines, fluctuation verbs for jagged ones. Use the side chart to illustrate fluctuation.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3. A verb describes the change; a time expression anchors it. Four kinds: a single point, a period, an ongoing trend, and an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Mode. Put it all together: one weak sentence rewritten with a varied verb, an adverb, and exact figures. This is the band 5 to band 7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Activity. Students sort the word bank into three columns, increase, decrease, stability. Do the first one together, then let them finish. The answer key is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key. Walk through the sort: surged, climbed and soared describe an increase; plummeted, fell and declined a decrease; plateaued and remained stable describe stability. The trick word is fluctuated, which describes fluctuation and belongs to none of the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four takeaways. Vary verbs, match the adverb, anchor in time, precision over decoration. Preview Lesson 3: Grammar for Data Description.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sv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857250"/>
            <a:ext cx="1428750" cy="17214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1143000"/>
            <a:ext cx="162858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Lesson 2 · Writing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1238250" y="1852612"/>
            <a:ext cx="7782454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Vocabulary for</a:t>
            </a:r>
            <a:endParaRPr lang="en-US" sz="7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8922023" y="1943100"/>
            <a:ext cx="3679403" cy="10316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074423" y="1852612"/>
            <a:ext cx="3712064" cy="12430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trends</a:t>
            </a:r>
            <a:endParaRPr lang="en-US" sz="7800" dirty="0"/>
          </a:p>
        </p:txBody>
      </p:sp>
      <p:sp>
        <p:nvSpPr>
          <p:cNvPr id="9" name="Text 4"/>
          <p:cNvSpPr/>
          <p:nvPr/>
        </p:nvSpPr>
        <p:spPr>
          <a:xfrm>
            <a:off x="12449026" y="1852612"/>
            <a:ext cx="336128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7800" dirty="0"/>
          </a:p>
        </p:txBody>
      </p:sp>
      <p:sp>
        <p:nvSpPr>
          <p:cNvPr id="10" name="Text 5"/>
          <p:cNvSpPr/>
          <p:nvPr/>
        </p:nvSpPr>
        <p:spPr>
          <a:xfrm>
            <a:off x="1238250" y="3793927"/>
            <a:ext cx="1059561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exact words examiners look for when data goes up, down, or nowhere at all.</a:t>
            </a:r>
            <a:endParaRPr lang="en-US" sz="2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96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5600" y="6705600"/>
            <a:ext cx="6858000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4458950" cy="651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Precise verbs make your description accurate.</a:t>
            </a:r>
            <a:endParaRPr lang="en-US" sz="4200" dirty="0"/>
          </a:p>
        </p:txBody>
      </p:sp>
      <p:sp>
        <p:nvSpPr>
          <p:cNvPr id="7" name="Text 3"/>
          <p:cNvSpPr/>
          <p:nvPr/>
        </p:nvSpPr>
        <p:spPr>
          <a:xfrm>
            <a:off x="1238250" y="2356470"/>
            <a:ext cx="1451991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Examiners reward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precise, varied language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If every sentence says "went up" or "went down", your lexical resource score has a ceiling, no matter how accurate your data is.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 rot="-90000">
            <a:off x="1238250" y="3935239"/>
            <a:ext cx="162858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 this lesson →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238250" y="4666283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1985070" y="4666283"/>
            <a:ext cx="374627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Describing an increase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8763000" y="4666283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9509820" y="4666283"/>
            <a:ext cx="3667289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Describing a decrease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1238250" y="5470178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1985070" y="5470178"/>
            <a:ext cx="3458967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Stability &amp; fluctuation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8763000" y="5470178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04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9509820" y="5470178"/>
            <a:ext cx="4180850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Anchoring change in time</a:t>
            </a:r>
            <a:endParaRPr lang="en-US" sz="2475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10298" y="9491663"/>
            <a:ext cx="2156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0" y="571500"/>
            <a:ext cx="1028700" cy="12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85725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VERBS FOR CHANGE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266825"/>
            <a:ext cx="7433704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Describing an increase.</a:t>
            </a:r>
            <a:endParaRPr lang="en-US" sz="4350" dirty="0"/>
          </a:p>
        </p:txBody>
      </p:sp>
      <p:sp>
        <p:nvSpPr>
          <p:cNvPr id="7" name="Text 3"/>
          <p:cNvSpPr/>
          <p:nvPr/>
        </p:nvSpPr>
        <p:spPr>
          <a:xfrm rot="-120000">
            <a:off x="8244669" y="1385888"/>
            <a:ext cx="143827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going up ↗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1238250" y="2281238"/>
            <a:ext cx="13106400" cy="1379190"/>
          </a:xfrm>
          <a:prstGeom prst="roundRect">
            <a:avLst>
              <a:gd name="adj" fmla="val 1243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609725" y="2590800"/>
            <a:ext cx="1571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SLIGHT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3171825" y="2547938"/>
            <a:ext cx="1838399" cy="3714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48025" y="2557463"/>
            <a:ext cx="185459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rose slightly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5014392" y="2557463"/>
            <a:ext cx="28983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edged up · crept up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1609725" y="3033713"/>
            <a:ext cx="135997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"Sales rose slightly in March."</a:t>
            </a:r>
            <a:endParaRPr lang="en-US" sz="2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63750" y="2304083"/>
            <a:ext cx="2286000" cy="13335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238250" y="3908078"/>
            <a:ext cx="13106400" cy="1379190"/>
          </a:xfrm>
          <a:prstGeom prst="roundRect">
            <a:avLst>
              <a:gd name="adj" fmla="val 1243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0"/>
          <p:cNvSpPr/>
          <p:nvPr/>
        </p:nvSpPr>
        <p:spPr>
          <a:xfrm>
            <a:off x="1609725" y="4217640"/>
            <a:ext cx="1571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STEADY</a:t>
            </a:r>
            <a:endParaRPr lang="en-US" sz="1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>
            <a:alphaModFix amt="95000"/>
          </a:blip>
          <a:stretch>
            <a:fillRect/>
          </a:stretch>
        </p:blipFill>
        <p:spPr>
          <a:xfrm>
            <a:off x="3171825" y="4174778"/>
            <a:ext cx="2677344" cy="3714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48025" y="4184303"/>
            <a:ext cx="2777438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steadily</a:t>
            </a:r>
            <a:endParaRPr lang="en-US" sz="2250" dirty="0"/>
          </a:p>
        </p:txBody>
      </p:sp>
      <p:sp>
        <p:nvSpPr>
          <p:cNvPr id="19" name="Text 12"/>
          <p:cNvSpPr/>
          <p:nvPr/>
        </p:nvSpPr>
        <p:spPr>
          <a:xfrm>
            <a:off x="5853336" y="4184303"/>
            <a:ext cx="22237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grew · climbed</a:t>
            </a:r>
            <a:endParaRPr lang="en-US" sz="2250" dirty="0"/>
          </a:p>
        </p:txBody>
      </p:sp>
      <p:sp>
        <p:nvSpPr>
          <p:cNvPr id="20" name="Text 13"/>
          <p:cNvSpPr/>
          <p:nvPr/>
        </p:nvSpPr>
        <p:spPr>
          <a:xfrm>
            <a:off x="1609725" y="4660553"/>
            <a:ext cx="135997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"Profits grew steadily over the decade."</a:t>
            </a:r>
            <a:endParaRPr lang="en-US" sz="2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63750" y="3930923"/>
            <a:ext cx="2286000" cy="13335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238250" y="5534918"/>
            <a:ext cx="13106400" cy="1379190"/>
          </a:xfrm>
          <a:prstGeom prst="roundRect">
            <a:avLst>
              <a:gd name="adj" fmla="val 1243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15"/>
          <p:cNvSpPr/>
          <p:nvPr/>
        </p:nvSpPr>
        <p:spPr>
          <a:xfrm>
            <a:off x="1609725" y="5844480"/>
            <a:ext cx="1571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DRAMATIC</a:t>
            </a:r>
            <a:endParaRPr lang="en-US" sz="1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9">
            <a:alphaModFix amt="95000"/>
          </a:blip>
          <a:stretch>
            <a:fillRect/>
          </a:stretch>
        </p:blipFill>
        <p:spPr>
          <a:xfrm>
            <a:off x="3171825" y="5801618"/>
            <a:ext cx="1117699" cy="3714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248025" y="5811143"/>
            <a:ext cx="104149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surged</a:t>
            </a:r>
            <a:endParaRPr lang="en-US" sz="2250" dirty="0"/>
          </a:p>
        </p:txBody>
      </p:sp>
      <p:sp>
        <p:nvSpPr>
          <p:cNvPr id="26" name="Text 17"/>
          <p:cNvSpPr/>
          <p:nvPr/>
        </p:nvSpPr>
        <p:spPr>
          <a:xfrm>
            <a:off x="4293691" y="5811143"/>
            <a:ext cx="259846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soared · rocketed</a:t>
            </a:r>
            <a:endParaRPr lang="en-US" sz="2250" dirty="0"/>
          </a:p>
        </p:txBody>
      </p:sp>
      <p:sp>
        <p:nvSpPr>
          <p:cNvPr id="27" name="Text 18"/>
          <p:cNvSpPr/>
          <p:nvPr/>
        </p:nvSpPr>
        <p:spPr>
          <a:xfrm>
            <a:off x="1609725" y="6287393"/>
            <a:ext cx="135997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"Demand surged after 2018."</a:t>
            </a:r>
            <a:endParaRPr lang="en-US" sz="24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63750" y="5557763"/>
            <a:ext cx="2286000" cy="13335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238250" y="96059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6908512" y="9605963"/>
            <a:ext cx="2174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0" y="571500"/>
            <a:ext cx="1028700" cy="12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85725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VERBS FOR CHANGE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266825"/>
            <a:ext cx="7213677" cy="6567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3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Describing a decrease.</a:t>
            </a:r>
            <a:endParaRPr lang="en-US" sz="4350" dirty="0"/>
          </a:p>
        </p:txBody>
      </p:sp>
      <p:sp>
        <p:nvSpPr>
          <p:cNvPr id="7" name="Text 3"/>
          <p:cNvSpPr/>
          <p:nvPr/>
        </p:nvSpPr>
        <p:spPr>
          <a:xfrm rot="-120000">
            <a:off x="8043044" y="1438275"/>
            <a:ext cx="184404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going down ↘</a:t>
            </a:r>
            <a:endParaRPr lang="en-US" sz="2700" dirty="0"/>
          </a:p>
        </p:txBody>
      </p:sp>
      <p:sp>
        <p:nvSpPr>
          <p:cNvPr id="8" name="Shape 4"/>
          <p:cNvSpPr/>
          <p:nvPr/>
        </p:nvSpPr>
        <p:spPr>
          <a:xfrm>
            <a:off x="1238250" y="2266504"/>
            <a:ext cx="13106400" cy="1379190"/>
          </a:xfrm>
          <a:prstGeom prst="roundRect">
            <a:avLst>
              <a:gd name="adj" fmla="val 1243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1609725" y="2576066"/>
            <a:ext cx="1571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SLIGHT</a:t>
            </a:r>
            <a:endParaRPr lang="en-US" sz="18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3171825" y="2533204"/>
            <a:ext cx="2188518" cy="3714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48025" y="2542729"/>
            <a:ext cx="2239729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dipped slightly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5364510" y="2542729"/>
            <a:ext cx="375866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eased back · edged down</a:t>
            </a:r>
            <a:endParaRPr lang="en-US" sz="2250" dirty="0"/>
          </a:p>
        </p:txBody>
      </p:sp>
      <p:sp>
        <p:nvSpPr>
          <p:cNvPr id="13" name="Text 8"/>
          <p:cNvSpPr/>
          <p:nvPr/>
        </p:nvSpPr>
        <p:spPr>
          <a:xfrm>
            <a:off x="1609725" y="3018979"/>
            <a:ext cx="135997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"Prices eased slightly in Q2."</a:t>
            </a:r>
            <a:endParaRPr lang="en-US" sz="24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63750" y="2289349"/>
            <a:ext cx="2286000" cy="13335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1238250" y="3893344"/>
            <a:ext cx="13106400" cy="1379190"/>
          </a:xfrm>
          <a:prstGeom prst="roundRect">
            <a:avLst>
              <a:gd name="adj" fmla="val 1243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0"/>
          <p:cNvSpPr/>
          <p:nvPr/>
        </p:nvSpPr>
        <p:spPr>
          <a:xfrm>
            <a:off x="1609725" y="4202906"/>
            <a:ext cx="1571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STEADY</a:t>
            </a:r>
            <a:endParaRPr lang="en-US" sz="18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>
            <a:alphaModFix amt="95000"/>
          </a:blip>
          <a:stretch>
            <a:fillRect/>
          </a:stretch>
        </p:blipFill>
        <p:spPr>
          <a:xfrm>
            <a:off x="3171825" y="4160044"/>
            <a:ext cx="2499420" cy="3714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48025" y="4169569"/>
            <a:ext cx="2581721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declined steadily</a:t>
            </a:r>
            <a:endParaRPr lang="en-US" sz="2250" dirty="0"/>
          </a:p>
        </p:txBody>
      </p:sp>
      <p:sp>
        <p:nvSpPr>
          <p:cNvPr id="19" name="Text 12"/>
          <p:cNvSpPr/>
          <p:nvPr/>
        </p:nvSpPr>
        <p:spPr>
          <a:xfrm>
            <a:off x="5675412" y="4169569"/>
            <a:ext cx="202503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fell · dropped</a:t>
            </a:r>
            <a:endParaRPr lang="en-US" sz="2250" dirty="0"/>
          </a:p>
        </p:txBody>
      </p:sp>
      <p:sp>
        <p:nvSpPr>
          <p:cNvPr id="20" name="Text 13"/>
          <p:cNvSpPr/>
          <p:nvPr/>
        </p:nvSpPr>
        <p:spPr>
          <a:xfrm>
            <a:off x="1609725" y="4645819"/>
            <a:ext cx="135997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"Membership fell steadily each year."</a:t>
            </a:r>
            <a:endParaRPr lang="en-US" sz="24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763750" y="3916189"/>
            <a:ext cx="2286000" cy="13335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238250" y="5520184"/>
            <a:ext cx="13106400" cy="1379190"/>
          </a:xfrm>
          <a:prstGeom prst="roundRect">
            <a:avLst>
              <a:gd name="adj" fmla="val 12431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15"/>
          <p:cNvSpPr/>
          <p:nvPr/>
        </p:nvSpPr>
        <p:spPr>
          <a:xfrm>
            <a:off x="1609725" y="5829746"/>
            <a:ext cx="157162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DRAMATIC</a:t>
            </a:r>
            <a:endParaRPr lang="en-US" sz="18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9">
            <a:alphaModFix amt="95000"/>
          </a:blip>
          <a:stretch>
            <a:fillRect/>
          </a:stretch>
        </p:blipFill>
        <p:spPr>
          <a:xfrm>
            <a:off x="3171825" y="5786884"/>
            <a:ext cx="1709514" cy="371475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248025" y="5796409"/>
            <a:ext cx="1712826" cy="3810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plummeted</a:t>
            </a:r>
            <a:endParaRPr lang="en-US" sz="2250" dirty="0"/>
          </a:p>
        </p:txBody>
      </p:sp>
      <p:sp>
        <p:nvSpPr>
          <p:cNvPr id="26" name="Text 17"/>
          <p:cNvSpPr/>
          <p:nvPr/>
        </p:nvSpPr>
        <p:spPr>
          <a:xfrm>
            <a:off x="4885506" y="5796409"/>
            <a:ext cx="3198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collapsed · nosedived</a:t>
            </a:r>
            <a:endParaRPr lang="en-US" sz="2250" dirty="0"/>
          </a:p>
        </p:txBody>
      </p:sp>
      <p:sp>
        <p:nvSpPr>
          <p:cNvPr id="27" name="Text 18"/>
          <p:cNvSpPr/>
          <p:nvPr/>
        </p:nvSpPr>
        <p:spPr>
          <a:xfrm>
            <a:off x="1609725" y="6272659"/>
            <a:ext cx="13599795" cy="388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"Exports collapsed in 2020."</a:t>
            </a:r>
            <a:endParaRPr lang="en-US" sz="24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63750" y="5543029"/>
            <a:ext cx="2286000" cy="133350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1238250" y="96059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30" name="Text 20"/>
          <p:cNvSpPr/>
          <p:nvPr/>
        </p:nvSpPr>
        <p:spPr>
          <a:xfrm>
            <a:off x="16902038" y="9605963"/>
            <a:ext cx="2239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900" y="571500"/>
            <a:ext cx="1028700" cy="123936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857250"/>
            <a:ext cx="11106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DESCRIBING CHANGE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266825"/>
            <a:ext cx="8829675" cy="12107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the line doesn't go in one direction.</a:t>
            </a:r>
            <a:endParaRPr lang="en-US" sz="4050" dirty="0"/>
          </a:p>
        </p:txBody>
      </p:sp>
      <p:sp>
        <p:nvSpPr>
          <p:cNvPr id="7" name="Shape 3"/>
          <p:cNvSpPr/>
          <p:nvPr/>
        </p:nvSpPr>
        <p:spPr>
          <a:xfrm>
            <a:off x="1238250" y="2915692"/>
            <a:ext cx="10096500" cy="2175942"/>
          </a:xfrm>
          <a:prstGeom prst="roundRect">
            <a:avLst>
              <a:gd name="adj" fmla="val 7879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476375" y="3253829"/>
            <a:ext cx="1851496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28775" y="3249067"/>
            <a:ext cx="170136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Stability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1628775" y="3863429"/>
            <a:ext cx="102469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remained stable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levelled off · plateaued · stayed constant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1628775" y="4396829"/>
            <a:ext cx="10246995" cy="399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7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"Numbers remained stable between 2015 and 2018."</a:t>
            </a:r>
            <a:endParaRPr lang="en-US" sz="2475" dirty="0"/>
          </a:p>
        </p:txBody>
      </p:sp>
      <p:sp>
        <p:nvSpPr>
          <p:cNvPr id="12" name="Shape 7"/>
          <p:cNvSpPr/>
          <p:nvPr/>
        </p:nvSpPr>
        <p:spPr>
          <a:xfrm>
            <a:off x="1238250" y="5415483"/>
            <a:ext cx="10096500" cy="2175942"/>
          </a:xfrm>
          <a:prstGeom prst="roundRect">
            <a:avLst>
              <a:gd name="adj" fmla="val 7879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1476375" y="5753621"/>
            <a:ext cx="2493169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28775" y="5748858"/>
            <a:ext cx="2407206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Fluctuation</a:t>
            </a:r>
            <a:endParaRPr lang="en-US" sz="2850" dirty="0"/>
          </a:p>
        </p:txBody>
      </p:sp>
      <p:sp>
        <p:nvSpPr>
          <p:cNvPr id="15" name="Text 9"/>
          <p:cNvSpPr/>
          <p:nvPr/>
        </p:nvSpPr>
        <p:spPr>
          <a:xfrm>
            <a:off x="1628775" y="6363221"/>
            <a:ext cx="1024699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fluctuated </a:t>
            </a:r>
            <a:pPr algn="l" indent="0" marL="0">
              <a:lnSpc>
                <a:spcPct val="140000"/>
              </a:lnSpc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varied · rose and fell</a:t>
            </a:r>
            <a:endParaRPr lang="en-US" sz="2250" dirty="0"/>
          </a:p>
        </p:txBody>
      </p:sp>
      <p:sp>
        <p:nvSpPr>
          <p:cNvPr id="16" name="Text 10"/>
          <p:cNvSpPr/>
          <p:nvPr/>
        </p:nvSpPr>
        <p:spPr>
          <a:xfrm>
            <a:off x="1628775" y="6896621"/>
            <a:ext cx="10246995" cy="399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475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"Prices fluctuated throughout the period."</a:t>
            </a:r>
            <a:endParaRPr lang="en-US" sz="2475" dirty="0"/>
          </a:p>
        </p:txBody>
      </p:sp>
      <p:sp>
        <p:nvSpPr>
          <p:cNvPr id="17" name="Shape 11"/>
          <p:cNvSpPr/>
          <p:nvPr/>
        </p:nvSpPr>
        <p:spPr>
          <a:xfrm>
            <a:off x="12096750" y="2682701"/>
            <a:ext cx="4953000" cy="4921523"/>
          </a:xfrm>
          <a:prstGeom prst="roundRect">
            <a:avLst>
              <a:gd name="adj" fmla="val 3871"/>
            </a:avLst>
          </a:prstGeom>
          <a:solidFill>
            <a:srgbClr val="FFFFFF">
              <a:alpha val="60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2"/>
          <p:cNvSpPr/>
          <p:nvPr/>
        </p:nvSpPr>
        <p:spPr>
          <a:xfrm>
            <a:off x="12278678" y="3111326"/>
            <a:ext cx="4589145" cy="4429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 fluctuating trend</a:t>
            </a:r>
            <a:endParaRPr lang="en-US" sz="25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487275" y="3725689"/>
            <a:ext cx="4171950" cy="290222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 rot="-60000">
            <a:off x="12278678" y="6835080"/>
            <a:ext cx="458914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up, down, up, down, no clear direction</a:t>
            </a:r>
            <a:endParaRPr lang="en-US" sz="2100" dirty="0"/>
          </a:p>
        </p:txBody>
      </p:sp>
      <p:sp>
        <p:nvSpPr>
          <p:cNvPr id="21" name="Text 14"/>
          <p:cNvSpPr/>
          <p:nvPr/>
        </p:nvSpPr>
        <p:spPr>
          <a:xfrm>
            <a:off x="1238250" y="96059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16914093" y="9605963"/>
            <a:ext cx="2118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· TIME EXPRESSIONS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Telling the examiner when it happened.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397621"/>
            <a:ext cx="3695700" cy="3471863"/>
          </a:xfrm>
          <a:prstGeom prst="roundRect">
            <a:avLst>
              <a:gd name="adj" fmla="val 548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590675" y="2769096"/>
            <a:ext cx="32899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3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457325" y="3269159"/>
            <a:ext cx="2341736" cy="4381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90675" y="3321546"/>
            <a:ext cx="228254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single point</a:t>
            </a:r>
            <a:endParaRPr lang="en-US" sz="2250" dirty="0"/>
          </a:p>
        </p:txBody>
      </p:sp>
      <p:sp>
        <p:nvSpPr>
          <p:cNvPr id="11" name="Text 6"/>
          <p:cNvSpPr/>
          <p:nvPr/>
        </p:nvSpPr>
        <p:spPr>
          <a:xfrm>
            <a:off x="1590675" y="3954959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2010</a:t>
            </a:r>
            <a:endParaRPr lang="en-US" sz="2025" dirty="0"/>
          </a:p>
        </p:txBody>
      </p:sp>
      <p:sp>
        <p:nvSpPr>
          <p:cNvPr id="12" name="Text 7"/>
          <p:cNvSpPr/>
          <p:nvPr/>
        </p:nvSpPr>
        <p:spPr>
          <a:xfrm>
            <a:off x="1590675" y="4416921"/>
            <a:ext cx="30805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the start of the period</a:t>
            </a:r>
            <a:endParaRPr lang="en-US" sz="2025" dirty="0"/>
          </a:p>
        </p:txBody>
      </p:sp>
      <p:sp>
        <p:nvSpPr>
          <p:cNvPr id="13" name="Text 8"/>
          <p:cNvSpPr/>
          <p:nvPr/>
        </p:nvSpPr>
        <p:spPr>
          <a:xfrm>
            <a:off x="1590675" y="5188446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2020, not since 2020</a:t>
            </a:r>
            <a:endParaRPr lang="en-US" sz="2025" dirty="0"/>
          </a:p>
        </p:txBody>
      </p:sp>
      <p:sp>
        <p:nvSpPr>
          <p:cNvPr id="14" name="Shape 9"/>
          <p:cNvSpPr/>
          <p:nvPr/>
        </p:nvSpPr>
        <p:spPr>
          <a:xfrm>
            <a:off x="5276850" y="2397621"/>
            <a:ext cx="3695700" cy="3471863"/>
          </a:xfrm>
          <a:prstGeom prst="roundRect">
            <a:avLst>
              <a:gd name="adj" fmla="val 548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5629275" y="2769096"/>
            <a:ext cx="32899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3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5495925" y="3269159"/>
            <a:ext cx="1537320" cy="4381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29275" y="3321546"/>
            <a:ext cx="1397682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period</a:t>
            </a:r>
            <a:endParaRPr lang="en-US" sz="2250" dirty="0"/>
          </a:p>
        </p:txBody>
      </p:sp>
      <p:sp>
        <p:nvSpPr>
          <p:cNvPr id="18" name="Text 12"/>
          <p:cNvSpPr/>
          <p:nvPr/>
        </p:nvSpPr>
        <p:spPr>
          <a:xfrm>
            <a:off x="5629275" y="3954959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2010 and 2015</a:t>
            </a:r>
            <a:endParaRPr lang="en-US" sz="2025" dirty="0"/>
          </a:p>
        </p:txBody>
      </p:sp>
      <p:sp>
        <p:nvSpPr>
          <p:cNvPr id="19" name="Text 13"/>
          <p:cNvSpPr/>
          <p:nvPr/>
        </p:nvSpPr>
        <p:spPr>
          <a:xfrm>
            <a:off x="5629275" y="4416921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2010 to 2015</a:t>
            </a:r>
            <a:endParaRPr lang="en-US" sz="2025" dirty="0"/>
          </a:p>
        </p:txBody>
      </p:sp>
      <p:sp>
        <p:nvSpPr>
          <p:cNvPr id="20" name="Text 14"/>
          <p:cNvSpPr/>
          <p:nvPr/>
        </p:nvSpPr>
        <p:spPr>
          <a:xfrm>
            <a:off x="5629275" y="4878884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the decade</a:t>
            </a:r>
            <a:endParaRPr lang="en-US" sz="2025" dirty="0"/>
          </a:p>
        </p:txBody>
      </p:sp>
      <p:sp>
        <p:nvSpPr>
          <p:cNvPr id="21" name="Shape 15"/>
          <p:cNvSpPr/>
          <p:nvPr/>
        </p:nvSpPr>
        <p:spPr>
          <a:xfrm>
            <a:off x="9315450" y="2397621"/>
            <a:ext cx="3695700" cy="3471863"/>
          </a:xfrm>
          <a:prstGeom prst="roundRect">
            <a:avLst>
              <a:gd name="adj" fmla="val 548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6"/>
          <p:cNvSpPr/>
          <p:nvPr/>
        </p:nvSpPr>
        <p:spPr>
          <a:xfrm>
            <a:off x="9667875" y="2769096"/>
            <a:ext cx="32899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36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9534525" y="3269159"/>
            <a:ext cx="2923580" cy="4381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667875" y="3321546"/>
            <a:ext cx="2922568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ongoing trend</a:t>
            </a:r>
            <a:endParaRPr lang="en-US" sz="2250" dirty="0"/>
          </a:p>
        </p:txBody>
      </p:sp>
      <p:sp>
        <p:nvSpPr>
          <p:cNvPr id="25" name="Text 18"/>
          <p:cNvSpPr/>
          <p:nvPr/>
        </p:nvSpPr>
        <p:spPr>
          <a:xfrm>
            <a:off x="9667875" y="3954959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throughout the period</a:t>
            </a:r>
            <a:endParaRPr lang="en-US" sz="2025" dirty="0"/>
          </a:p>
        </p:txBody>
      </p:sp>
      <p:sp>
        <p:nvSpPr>
          <p:cNvPr id="26" name="Text 19"/>
          <p:cNvSpPr/>
          <p:nvPr/>
        </p:nvSpPr>
        <p:spPr>
          <a:xfrm>
            <a:off x="9667875" y="4416921"/>
            <a:ext cx="3080576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the course of the year</a:t>
            </a:r>
            <a:endParaRPr lang="en-US" sz="2025" dirty="0"/>
          </a:p>
        </p:txBody>
      </p:sp>
      <p:sp>
        <p:nvSpPr>
          <p:cNvPr id="27" name="Text 20"/>
          <p:cNvSpPr/>
          <p:nvPr/>
        </p:nvSpPr>
        <p:spPr>
          <a:xfrm>
            <a:off x="9667875" y="5188446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2020 (up to now)</a:t>
            </a:r>
            <a:endParaRPr lang="en-US" sz="2025" dirty="0"/>
          </a:p>
        </p:txBody>
      </p:sp>
      <p:sp>
        <p:nvSpPr>
          <p:cNvPr id="28" name="Shape 21"/>
          <p:cNvSpPr/>
          <p:nvPr/>
        </p:nvSpPr>
        <p:spPr>
          <a:xfrm>
            <a:off x="13354050" y="2397621"/>
            <a:ext cx="3695700" cy="3471863"/>
          </a:xfrm>
          <a:prstGeom prst="roundRect">
            <a:avLst>
              <a:gd name="adj" fmla="val 548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2"/>
          <p:cNvSpPr/>
          <p:nvPr/>
        </p:nvSpPr>
        <p:spPr>
          <a:xfrm>
            <a:off x="13706475" y="2769096"/>
            <a:ext cx="32899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04</a:t>
            </a:r>
            <a:endParaRPr lang="en-US" sz="36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>
            <a:alphaModFix amt="95000"/>
          </a:blip>
          <a:stretch>
            <a:fillRect/>
          </a:stretch>
        </p:blipFill>
        <p:spPr>
          <a:xfrm>
            <a:off x="13573125" y="3269159"/>
            <a:ext cx="1646858" cy="43815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06475" y="3321546"/>
            <a:ext cx="1518173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Endpoint</a:t>
            </a:r>
            <a:endParaRPr lang="en-US" sz="2250" dirty="0"/>
          </a:p>
        </p:txBody>
      </p:sp>
      <p:sp>
        <p:nvSpPr>
          <p:cNvPr id="32" name="Text 24"/>
          <p:cNvSpPr/>
          <p:nvPr/>
        </p:nvSpPr>
        <p:spPr>
          <a:xfrm>
            <a:off x="13706475" y="3954959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2015</a:t>
            </a:r>
            <a:endParaRPr lang="en-US" sz="2025" dirty="0"/>
          </a:p>
        </p:txBody>
      </p:sp>
      <p:sp>
        <p:nvSpPr>
          <p:cNvPr id="33" name="Text 25"/>
          <p:cNvSpPr/>
          <p:nvPr/>
        </p:nvSpPr>
        <p:spPr>
          <a:xfrm>
            <a:off x="13706475" y="4416921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end of the period</a:t>
            </a:r>
            <a:endParaRPr lang="en-US" sz="2025" dirty="0"/>
          </a:p>
        </p:txBody>
      </p:sp>
      <p:sp>
        <p:nvSpPr>
          <p:cNvPr id="34" name="Text 26"/>
          <p:cNvSpPr/>
          <p:nvPr/>
        </p:nvSpPr>
        <p:spPr>
          <a:xfrm>
            <a:off x="13706475" y="4878884"/>
            <a:ext cx="328993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the final year</a:t>
            </a:r>
            <a:endParaRPr lang="en-US" sz="2025" dirty="0"/>
          </a:p>
        </p:txBody>
      </p:sp>
      <p:sp>
        <p:nvSpPr>
          <p:cNvPr id="35" name="Text 27"/>
          <p:cNvSpPr/>
          <p:nvPr/>
        </p:nvSpPr>
        <p:spPr>
          <a:xfrm>
            <a:off x="1238250" y="94916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914400"/>
            <a:ext cx="1628584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examiner mode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1238250" y="15144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vague to precise, one sentence.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645271"/>
            <a:ext cx="14859000" cy="2237408"/>
          </a:xfrm>
          <a:prstGeom prst="roundRect">
            <a:avLst>
              <a:gd name="adj" fmla="val 7663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666875" y="3016746"/>
            <a:ext cx="23931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001441" y="3052465"/>
            <a:ext cx="9016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66875" y="3535859"/>
            <a:ext cx="15401925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700" dirty="0">
                <a:solidFill>
                  <a:srgbClr val="9A8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number of users went up a lot between 2010 and 2020."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1666875" y="4149254"/>
            <a:ext cx="154019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vague verb, no precision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238250" y="5263679"/>
            <a:ext cx="14859000" cy="2751683"/>
          </a:xfrm>
          <a:prstGeom prst="roundRect">
            <a:avLst>
              <a:gd name="adj" fmla="val 6231"/>
            </a:avLst>
          </a:prstGeom>
          <a:solidFill>
            <a:srgbClr val="5FB27B">
              <a:alpha val="10000"/>
            </a:srgbClr>
          </a:solidFill>
          <a:ln w="9525">
            <a:solidFill>
              <a:srgbClr val="5FB27B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1666875" y="5635154"/>
            <a:ext cx="29460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2056730" y="5670872"/>
            <a:ext cx="16204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3F8A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STRONGER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666875" y="6192366"/>
            <a:ext cx="14277860" cy="949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7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number of users </a:t>
            </a:r>
            <a:endParaRPr lang="en-US" sz="2700" dirty="0"/>
            <a:r>
              <a:rPr lang="en-US" sz="2700" dirty="0" b="1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rose dramatically</a:t>
            </a:r>
            <a:r>
              <a:rPr lang="en-US" sz="27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climbing from </a:t>
            </a:r>
            <a:r>
              <a:rPr lang="en-US" sz="2700" dirty="0" b="1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million to 9 million</a:t>
            </a:r>
            <a:r>
              <a:rPr lang="en-US" sz="2700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2010 and 2020."</a:t>
            </a:r>
          </a:p>
        </p:txBody>
      </p:sp>
      <p:sp>
        <p:nvSpPr>
          <p:cNvPr id="21" name="Text 16"/>
          <p:cNvSpPr/>
          <p:nvPr/>
        </p:nvSpPr>
        <p:spPr>
          <a:xfrm>
            <a:off x="1666875" y="7281937"/>
            <a:ext cx="1540192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precise verb + exact figures + clear time period</a:t>
            </a:r>
            <a:endParaRPr lang="en-US" sz="2250" dirty="0"/>
          </a:p>
        </p:txBody>
      </p:sp>
      <p:sp>
        <p:nvSpPr>
          <p:cNvPr id="22" name="Text 17"/>
          <p:cNvSpPr/>
          <p:nvPr/>
        </p:nvSpPr>
        <p:spPr>
          <a:xfrm>
            <a:off x="1238250" y="94916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6920344" y="9491663"/>
            <a:ext cx="2056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1028700"/>
            <a:ext cx="1526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 rot="-120000">
            <a:off x="2854896" y="914400"/>
            <a:ext cx="14982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your turn!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1238250" y="1447800"/>
            <a:ext cx="173926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Sort the vocabulary.</a:t>
            </a:r>
            <a:endParaRPr lang="en-US" sz="3900" dirty="0"/>
          </a:p>
        </p:txBody>
      </p:sp>
      <p:sp>
        <p:nvSpPr>
          <p:cNvPr id="8" name="Text 4"/>
          <p:cNvSpPr/>
          <p:nvPr/>
        </p:nvSpPr>
        <p:spPr>
          <a:xfrm>
            <a:off x="1238250" y="2097732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which type of movement each word describes. One word fits none of the three boxes: it is a fourth type.</a:t>
            </a:r>
            <a:endParaRPr lang="en-US" sz="2250" dirty="0"/>
          </a:p>
        </p:txBody>
      </p:sp>
      <p:sp>
        <p:nvSpPr>
          <p:cNvPr id="9" name="Shape 5"/>
          <p:cNvSpPr/>
          <p:nvPr/>
        </p:nvSpPr>
        <p:spPr>
          <a:xfrm>
            <a:off x="1238250" y="2764482"/>
            <a:ext cx="1351211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466850" y="2888307"/>
            <a:ext cx="97021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surged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2722811" y="2764482"/>
            <a:ext cx="1968178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2951411" y="2888307"/>
            <a:ext cx="158717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plummeted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4824338" y="2764482"/>
            <a:ext cx="1743075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5052938" y="2888307"/>
            <a:ext cx="136207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plateaued</a:t>
            </a:r>
            <a:endParaRPr lang="en-US" sz="1950" dirty="0"/>
          </a:p>
        </p:txBody>
      </p:sp>
      <p:sp>
        <p:nvSpPr>
          <p:cNvPr id="15" name="Shape 11"/>
          <p:cNvSpPr/>
          <p:nvPr/>
        </p:nvSpPr>
        <p:spPr>
          <a:xfrm>
            <a:off x="6700763" y="2764482"/>
            <a:ext cx="1497881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6929363" y="2888307"/>
            <a:ext cx="11168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climbed</a:t>
            </a:r>
            <a:endParaRPr lang="en-US" sz="1950" dirty="0"/>
          </a:p>
        </p:txBody>
      </p:sp>
      <p:sp>
        <p:nvSpPr>
          <p:cNvPr id="17" name="Shape 13"/>
          <p:cNvSpPr/>
          <p:nvPr/>
        </p:nvSpPr>
        <p:spPr>
          <a:xfrm>
            <a:off x="8331994" y="2764482"/>
            <a:ext cx="844153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8560594" y="2888307"/>
            <a:ext cx="46315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fell</a:t>
            </a:r>
            <a:endParaRPr lang="en-US" sz="1950" dirty="0"/>
          </a:p>
        </p:txBody>
      </p:sp>
      <p:sp>
        <p:nvSpPr>
          <p:cNvPr id="19" name="Shape 15"/>
          <p:cNvSpPr/>
          <p:nvPr/>
        </p:nvSpPr>
        <p:spPr>
          <a:xfrm>
            <a:off x="9309497" y="2764482"/>
            <a:ext cx="1783705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9538097" y="2888307"/>
            <a:ext cx="14027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fluctuated</a:t>
            </a:r>
            <a:endParaRPr lang="en-US" sz="1950" dirty="0"/>
          </a:p>
        </p:txBody>
      </p:sp>
      <p:sp>
        <p:nvSpPr>
          <p:cNvPr id="21" name="Shape 17"/>
          <p:cNvSpPr/>
          <p:nvPr/>
        </p:nvSpPr>
        <p:spPr>
          <a:xfrm>
            <a:off x="11226552" y="2764482"/>
            <a:ext cx="1318692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11455152" y="2888307"/>
            <a:ext cx="937692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soared</a:t>
            </a:r>
            <a:endParaRPr lang="en-US" sz="1950" dirty="0"/>
          </a:p>
        </p:txBody>
      </p:sp>
      <p:sp>
        <p:nvSpPr>
          <p:cNvPr id="23" name="Shape 19"/>
          <p:cNvSpPr/>
          <p:nvPr/>
        </p:nvSpPr>
        <p:spPr>
          <a:xfrm>
            <a:off x="12678594" y="2764482"/>
            <a:ext cx="1561281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12907194" y="2888307"/>
            <a:ext cx="1180281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declined</a:t>
            </a:r>
            <a:endParaRPr lang="en-US" sz="1950" dirty="0"/>
          </a:p>
        </p:txBody>
      </p:sp>
      <p:sp>
        <p:nvSpPr>
          <p:cNvPr id="25" name="Shape 21"/>
          <p:cNvSpPr/>
          <p:nvPr/>
        </p:nvSpPr>
        <p:spPr>
          <a:xfrm>
            <a:off x="14373225" y="2764482"/>
            <a:ext cx="2531566" cy="547688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14601825" y="2888307"/>
            <a:ext cx="215056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remained stable</a:t>
            </a:r>
            <a:endParaRPr lang="en-US" sz="1950" dirty="0"/>
          </a:p>
        </p:txBody>
      </p:sp>
      <p:sp>
        <p:nvSpPr>
          <p:cNvPr id="27" name="Text 23"/>
          <p:cNvSpPr/>
          <p:nvPr/>
        </p:nvSpPr>
        <p:spPr>
          <a:xfrm>
            <a:off x="2762101" y="3769370"/>
            <a:ext cx="3853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F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en-US" sz="2550" dirty="0"/>
          </a:p>
        </p:txBody>
      </p:sp>
      <p:sp>
        <p:nvSpPr>
          <p:cNvPr id="28" name="Text 24"/>
          <p:cNvSpPr/>
          <p:nvPr/>
        </p:nvSpPr>
        <p:spPr>
          <a:xfrm>
            <a:off x="3204642" y="3814614"/>
            <a:ext cx="16228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INCREASE</a:t>
            </a:r>
            <a:endParaRPr lang="en-US" sz="1950" dirty="0"/>
          </a:p>
        </p:txBody>
      </p:sp>
      <p:sp>
        <p:nvSpPr>
          <p:cNvPr id="29" name="Shape 25"/>
          <p:cNvSpPr/>
          <p:nvPr/>
        </p:nvSpPr>
        <p:spPr>
          <a:xfrm>
            <a:off x="1238250" y="4350395"/>
            <a:ext cx="4965650" cy="3619500"/>
          </a:xfrm>
          <a:prstGeom prst="roundRect">
            <a:avLst>
              <a:gd name="adj" fmla="val 4737"/>
            </a:avLst>
          </a:prstGeom>
          <a:solidFill>
            <a:srgbClr val="FFFFFF">
              <a:alpha val="5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8140378" y="3769370"/>
            <a:ext cx="3853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88B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↘</a:t>
            </a:r>
            <a:endParaRPr lang="en-US" sz="2550" dirty="0"/>
          </a:p>
        </p:txBody>
      </p:sp>
      <p:sp>
        <p:nvSpPr>
          <p:cNvPr id="31" name="Text 27"/>
          <p:cNvSpPr/>
          <p:nvPr/>
        </p:nvSpPr>
        <p:spPr>
          <a:xfrm>
            <a:off x="8582918" y="3814614"/>
            <a:ext cx="17210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DECREASE</a:t>
            </a:r>
            <a:endParaRPr lang="en-US" sz="1950" dirty="0"/>
          </a:p>
        </p:txBody>
      </p:sp>
      <p:sp>
        <p:nvSpPr>
          <p:cNvPr id="32" name="Shape 28"/>
          <p:cNvSpPr/>
          <p:nvPr/>
        </p:nvSpPr>
        <p:spPr>
          <a:xfrm>
            <a:off x="6661100" y="4350395"/>
            <a:ext cx="4965725" cy="3619500"/>
          </a:xfrm>
          <a:prstGeom prst="roundRect">
            <a:avLst>
              <a:gd name="adj" fmla="val 4737"/>
            </a:avLst>
          </a:prstGeom>
          <a:solidFill>
            <a:srgbClr val="FFFFFF">
              <a:alpha val="5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13605718" y="3769370"/>
            <a:ext cx="3853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34" name="Text 30"/>
          <p:cNvSpPr/>
          <p:nvPr/>
        </p:nvSpPr>
        <p:spPr>
          <a:xfrm>
            <a:off x="14048259" y="3814614"/>
            <a:ext cx="16276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STABILITY</a:t>
            </a:r>
            <a:endParaRPr lang="en-US" sz="1950" dirty="0"/>
          </a:p>
        </p:txBody>
      </p:sp>
      <p:sp>
        <p:nvSpPr>
          <p:cNvPr id="35" name="Shape 31"/>
          <p:cNvSpPr/>
          <p:nvPr/>
        </p:nvSpPr>
        <p:spPr>
          <a:xfrm>
            <a:off x="12084025" y="4350395"/>
            <a:ext cx="4965650" cy="3619500"/>
          </a:xfrm>
          <a:prstGeom prst="roundRect">
            <a:avLst>
              <a:gd name="adj" fmla="val 4737"/>
            </a:avLst>
          </a:prstGeom>
          <a:solidFill>
            <a:srgbClr val="FFFFFF">
              <a:alpha val="50000"/>
            </a:srgbClr>
          </a:solidFill>
          <a:ln w="19050">
            <a:solidFill>
              <a:srgbClr val="5FB27B">
                <a:alpha val="60000"/>
              </a:srgbClr>
            </a:solidFill>
            <a:prstDash val="dash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1238250" y="94916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37" name="Text 33"/>
          <p:cNvSpPr/>
          <p:nvPr/>
        </p:nvSpPr>
        <p:spPr>
          <a:xfrm>
            <a:off x="16908289" y="9491663"/>
            <a:ext cx="21766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1028700"/>
            <a:ext cx="1526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 rot="-120000">
            <a:off x="2853854" y="914400"/>
            <a:ext cx="165544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answer key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1238250" y="1447800"/>
            <a:ext cx="17392650" cy="5927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9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words sort out.</a:t>
            </a:r>
            <a:endParaRPr lang="en-US" sz="3900" dirty="0"/>
          </a:p>
        </p:txBody>
      </p:sp>
      <p:sp>
        <p:nvSpPr>
          <p:cNvPr id="8" name="Text 4"/>
          <p:cNvSpPr/>
          <p:nvPr/>
        </p:nvSpPr>
        <p:spPr>
          <a:xfrm>
            <a:off x="1238250" y="2097732"/>
            <a:ext cx="173926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are four types of movement: increase, decrease, stability and fluctuation.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762101" y="2821632"/>
            <a:ext cx="3853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5FB2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en-US" sz="2550" dirty="0"/>
          </a:p>
        </p:txBody>
      </p:sp>
      <p:sp>
        <p:nvSpPr>
          <p:cNvPr id="10" name="Text 6"/>
          <p:cNvSpPr/>
          <p:nvPr/>
        </p:nvSpPr>
        <p:spPr>
          <a:xfrm>
            <a:off x="3204642" y="2866876"/>
            <a:ext cx="1622867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INCREASE</a:t>
            </a:r>
            <a:endParaRPr lang="en-US" sz="1950" dirty="0"/>
          </a:p>
        </p:txBody>
      </p:sp>
      <p:sp>
        <p:nvSpPr>
          <p:cNvPr id="11" name="Shape 7"/>
          <p:cNvSpPr/>
          <p:nvPr/>
        </p:nvSpPr>
        <p:spPr>
          <a:xfrm>
            <a:off x="1238250" y="3402657"/>
            <a:ext cx="4965650" cy="3238500"/>
          </a:xfrm>
          <a:prstGeom prst="roundRect">
            <a:avLst>
              <a:gd name="adj" fmla="val 5294"/>
            </a:avLst>
          </a:prstGeom>
          <a:solidFill>
            <a:srgbClr val="5FB27B">
              <a:alpha val="8000"/>
            </a:srgbClr>
          </a:solidFill>
          <a:ln w="19050">
            <a:solidFill>
              <a:srgbClr val="5FB27B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2953941" y="3964632"/>
            <a:ext cx="1534269" cy="590550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3239691" y="4097982"/>
            <a:ext cx="103896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surged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2874913" y="4726632"/>
            <a:ext cx="1692250" cy="590550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3160663" y="4859982"/>
            <a:ext cx="11969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climbed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2971428" y="5488632"/>
            <a:ext cx="1499220" cy="590550"/>
          </a:xfrm>
          <a:prstGeom prst="roundRect">
            <a:avLst>
              <a:gd name="adj" fmla="val 50000"/>
            </a:avLst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257178" y="5621982"/>
            <a:ext cx="100392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soared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8140378" y="2821632"/>
            <a:ext cx="3853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88B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↘</a:t>
            </a:r>
            <a:endParaRPr lang="en-US" sz="2550" dirty="0"/>
          </a:p>
        </p:txBody>
      </p:sp>
      <p:sp>
        <p:nvSpPr>
          <p:cNvPr id="19" name="Text 15"/>
          <p:cNvSpPr/>
          <p:nvPr/>
        </p:nvSpPr>
        <p:spPr>
          <a:xfrm>
            <a:off x="8582918" y="2866876"/>
            <a:ext cx="172109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DECREASE</a:t>
            </a:r>
            <a:endParaRPr lang="en-US" sz="1950" dirty="0"/>
          </a:p>
        </p:txBody>
      </p:sp>
      <p:sp>
        <p:nvSpPr>
          <p:cNvPr id="20" name="Shape 16"/>
          <p:cNvSpPr/>
          <p:nvPr/>
        </p:nvSpPr>
        <p:spPr>
          <a:xfrm>
            <a:off x="6661100" y="3402657"/>
            <a:ext cx="4965725" cy="3238500"/>
          </a:xfrm>
          <a:prstGeom prst="roundRect">
            <a:avLst>
              <a:gd name="adj" fmla="val 5294"/>
            </a:avLst>
          </a:prstGeom>
          <a:solidFill>
            <a:srgbClr val="F88B48">
              <a:alpha val="8000"/>
            </a:srgbClr>
          </a:solidFill>
          <a:ln w="19050">
            <a:solidFill>
              <a:srgbClr val="F88B48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8044607" y="3964632"/>
            <a:ext cx="2198712" cy="590550"/>
          </a:xfrm>
          <a:prstGeom prst="roundRect">
            <a:avLst>
              <a:gd name="adj" fmla="val 50000"/>
            </a:avLst>
          </a:prstGeom>
          <a:solidFill>
            <a:srgbClr val="F88B48"/>
          </a:solidFill>
          <a:ln/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8330357" y="4097982"/>
            <a:ext cx="170341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plummeted</a:t>
            </a:r>
            <a:endParaRPr lang="en-US" sz="2100" dirty="0"/>
          </a:p>
        </p:txBody>
      </p:sp>
      <p:sp>
        <p:nvSpPr>
          <p:cNvPr id="23" name="Shape 19"/>
          <p:cNvSpPr/>
          <p:nvPr/>
        </p:nvSpPr>
        <p:spPr>
          <a:xfrm>
            <a:off x="8649816" y="4726632"/>
            <a:ext cx="988219" cy="590550"/>
          </a:xfrm>
          <a:prstGeom prst="roundRect">
            <a:avLst>
              <a:gd name="adj" fmla="val 50000"/>
            </a:avLst>
          </a:prstGeom>
          <a:solidFill>
            <a:srgbClr val="F88B48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8935566" y="4859982"/>
            <a:ext cx="49291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fell</a:t>
            </a:r>
            <a:endParaRPr lang="en-US" sz="2100" dirty="0"/>
          </a:p>
        </p:txBody>
      </p:sp>
      <p:sp>
        <p:nvSpPr>
          <p:cNvPr id="25" name="Shape 21"/>
          <p:cNvSpPr/>
          <p:nvPr/>
        </p:nvSpPr>
        <p:spPr>
          <a:xfrm>
            <a:off x="8263682" y="5488632"/>
            <a:ext cx="1760562" cy="590550"/>
          </a:xfrm>
          <a:prstGeom prst="roundRect">
            <a:avLst>
              <a:gd name="adj" fmla="val 50000"/>
            </a:avLst>
          </a:prstGeom>
          <a:solidFill>
            <a:srgbClr val="F88B48"/>
          </a:solidFill>
          <a:ln/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8549432" y="5621982"/>
            <a:ext cx="126526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declined</a:t>
            </a:r>
            <a:endParaRPr lang="en-US" sz="2100" dirty="0"/>
          </a:p>
        </p:txBody>
      </p:sp>
      <p:sp>
        <p:nvSpPr>
          <p:cNvPr id="27" name="Text 23"/>
          <p:cNvSpPr/>
          <p:nvPr/>
        </p:nvSpPr>
        <p:spPr>
          <a:xfrm>
            <a:off x="13605718" y="2821632"/>
            <a:ext cx="38539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550" dirty="0"/>
          </a:p>
        </p:txBody>
      </p:sp>
      <p:sp>
        <p:nvSpPr>
          <p:cNvPr id="28" name="Text 24"/>
          <p:cNvSpPr/>
          <p:nvPr/>
        </p:nvSpPr>
        <p:spPr>
          <a:xfrm>
            <a:off x="14048259" y="2866876"/>
            <a:ext cx="1627696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STABILITY</a:t>
            </a:r>
            <a:endParaRPr lang="en-US" sz="1950" dirty="0"/>
          </a:p>
        </p:txBody>
      </p:sp>
      <p:sp>
        <p:nvSpPr>
          <p:cNvPr id="29" name="Shape 25"/>
          <p:cNvSpPr/>
          <p:nvPr/>
        </p:nvSpPr>
        <p:spPr>
          <a:xfrm>
            <a:off x="12084025" y="3402657"/>
            <a:ext cx="4965650" cy="3238500"/>
          </a:xfrm>
          <a:prstGeom prst="roundRect">
            <a:avLst>
              <a:gd name="adj" fmla="val 5294"/>
            </a:avLst>
          </a:prstGeom>
          <a:solidFill>
            <a:srgbClr val="292929">
              <a:alpha val="4000"/>
            </a:srgbClr>
          </a:solidFill>
          <a:ln w="19050">
            <a:solidFill>
              <a:srgbClr val="292929">
                <a:alpha val="1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Shape 26"/>
          <p:cNvSpPr/>
          <p:nvPr/>
        </p:nvSpPr>
        <p:spPr>
          <a:xfrm>
            <a:off x="13588678" y="4345632"/>
            <a:ext cx="1956271" cy="590550"/>
          </a:xfrm>
          <a:prstGeom prst="roundRect">
            <a:avLst>
              <a:gd name="adj" fmla="val 50000"/>
            </a:avLst>
          </a:prstGeom>
          <a:solidFill>
            <a:srgbClr val="6B625B"/>
          </a:solidFill>
          <a:ln/>
        </p:spPr>
        <p:txBody>
          <a:bodyPr/>
          <a:p/>
        </p:txBody>
      </p:sp>
      <p:sp>
        <p:nvSpPr>
          <p:cNvPr id="31" name="Text 27"/>
          <p:cNvSpPr/>
          <p:nvPr/>
        </p:nvSpPr>
        <p:spPr>
          <a:xfrm>
            <a:off x="13874428" y="4478982"/>
            <a:ext cx="146097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plateaued</a:t>
            </a:r>
            <a:endParaRPr lang="en-US" sz="2100" dirty="0"/>
          </a:p>
        </p:txBody>
      </p:sp>
      <p:sp>
        <p:nvSpPr>
          <p:cNvPr id="32" name="Shape 28"/>
          <p:cNvSpPr/>
          <p:nvPr/>
        </p:nvSpPr>
        <p:spPr>
          <a:xfrm>
            <a:off x="13164145" y="5107632"/>
            <a:ext cx="2805410" cy="590550"/>
          </a:xfrm>
          <a:prstGeom prst="roundRect">
            <a:avLst>
              <a:gd name="adj" fmla="val 50000"/>
            </a:avLst>
          </a:prstGeom>
          <a:solidFill>
            <a:srgbClr val="6B625B"/>
          </a:solidFill>
          <a:ln/>
        </p:spPr>
        <p:txBody>
          <a:bodyPr/>
          <a:p/>
        </p:txBody>
      </p:sp>
      <p:sp>
        <p:nvSpPr>
          <p:cNvPr id="33" name="Text 29"/>
          <p:cNvSpPr/>
          <p:nvPr/>
        </p:nvSpPr>
        <p:spPr>
          <a:xfrm>
            <a:off x="13449895" y="5240982"/>
            <a:ext cx="231807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remained stable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>
            <a:off x="1238250" y="6926907"/>
            <a:ext cx="12382500" cy="928688"/>
          </a:xfrm>
          <a:prstGeom prst="roundRect">
            <a:avLst>
              <a:gd name="adj" fmla="val 14359"/>
            </a:avLst>
          </a:prstGeom>
          <a:solidFill>
            <a:srgbClr val="F88B48">
              <a:alpha val="12000"/>
            </a:srgbClr>
          </a:solidFill>
          <a:ln/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1504950" y="7117407"/>
            <a:ext cx="1859905" cy="5476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88B48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1771650" y="7241232"/>
            <a:ext cx="140270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fluctuated</a:t>
            </a:r>
            <a:endParaRPr lang="en-US" sz="1950" dirty="0"/>
          </a:p>
        </p:txBody>
      </p:sp>
      <p:sp>
        <p:nvSpPr>
          <p:cNvPr id="37" name="Text 33"/>
          <p:cNvSpPr/>
          <p:nvPr/>
        </p:nvSpPr>
        <p:spPr>
          <a:xfrm>
            <a:off x="3536305" y="7217643"/>
            <a:ext cx="9637254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fourth type: </a:t>
            </a:r>
            <a:pPr algn="l" indent="0" marL="0">
              <a:lnSpc>
                <a:spcPct val="135000"/>
              </a:lnSpc>
              <a:buNone/>
            </a:pPr>
            <a:r>
              <a:rPr lang="en-US" sz="20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fluctuation</a:t>
            </a:r>
            <a:pPr algn="l" indent="0" marL="0">
              <a:lnSpc>
                <a:spcPct val="135000"/>
              </a:lnSpc>
              <a:buNone/>
            </a:pPr>
            <a:r>
              <a:rPr lang="en-US" sz="202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line goes up and down repeatedly, with no single direction.</a:t>
            </a:r>
            <a:endParaRPr lang="en-US" sz="2025" dirty="0"/>
          </a:p>
        </p:txBody>
      </p:sp>
      <p:sp>
        <p:nvSpPr>
          <p:cNvPr id="38" name="Text 34"/>
          <p:cNvSpPr/>
          <p:nvPr/>
        </p:nvSpPr>
        <p:spPr>
          <a:xfrm>
            <a:off x="1238250" y="94916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39" name="Text 35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14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carry into your writing.</a:t>
            </a:r>
            <a:endParaRPr lang="en-US" sz="4050" dirty="0"/>
          </a:p>
        </p:txBody>
      </p:sp>
      <p:sp>
        <p:nvSpPr>
          <p:cNvPr id="7" name="Shape 3"/>
          <p:cNvSpPr/>
          <p:nvPr/>
        </p:nvSpPr>
        <p:spPr>
          <a:xfrm>
            <a:off x="1238250" y="250961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1657350" y="2376264"/>
            <a:ext cx="11049424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Vary your verbs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don't repeat "went up / went down" for every graph.</a:t>
            </a:r>
            <a:endParaRPr lang="en-US" sz="2400" dirty="0"/>
          </a:p>
        </p:txBody>
      </p:sp>
      <p:sp>
        <p:nvSpPr>
          <p:cNvPr id="9" name="Shape 5"/>
          <p:cNvSpPr/>
          <p:nvPr/>
        </p:nvSpPr>
        <p:spPr>
          <a:xfrm>
            <a:off x="1238250" y="3218259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657350" y="3084909"/>
            <a:ext cx="1023774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the adverb to the trend: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slightly, steadily,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dramatically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11" name="Shape 7"/>
          <p:cNvSpPr/>
          <p:nvPr/>
        </p:nvSpPr>
        <p:spPr>
          <a:xfrm>
            <a:off x="1238250" y="3926904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657350" y="3793554"/>
            <a:ext cx="10339246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the data in time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using accurate time expressions.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238250" y="4635550"/>
            <a:ext cx="171450" cy="171450"/>
          </a:xfrm>
          <a:prstGeom prst="ellipse">
            <a:avLst/>
          </a:prstGeom>
          <a:solidFill>
            <a:srgbClr val="5FB27B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657350" y="4502200"/>
            <a:ext cx="12715756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beats decoration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one well-chosen verb outperforms a long sentence.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 rot="-120000">
            <a:off x="11858673" y="8015288"/>
            <a:ext cx="518988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next up →</a:t>
            </a:r>
            <a:endParaRPr lang="en-US" sz="2550" dirty="0"/>
          </a:p>
        </p:txBody>
      </p:sp>
      <p:sp>
        <p:nvSpPr>
          <p:cNvPr id="16" name="Text 12"/>
          <p:cNvSpPr/>
          <p:nvPr/>
        </p:nvSpPr>
        <p:spPr>
          <a:xfrm>
            <a:off x="11504533" y="8482013"/>
            <a:ext cx="5545217" cy="433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25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Grammar for Data Description</a:t>
            </a:r>
            <a:endParaRPr lang="en-US" sz="2550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9102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2 of 6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812518" y="9491663"/>
            <a:ext cx="31343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2026-06-20T13:27:40Z</dcterms:created>
  <dcterms:modified xsi:type="dcterms:W3CDTF">2026-06-20T13:27:40Z</dcterms:modified>
</cp:coreProperties>
</file>