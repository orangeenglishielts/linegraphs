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to Lesson 2. This lesson is all about the vocabulary examiners reward when describing trends, the precise verbs and adverbs for up, down, and stable.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the stakes clear: lexical resource is a quarter of the Task 1 score. Repeating 'went up / went down' caps it. Preview the four parts of the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1. Three tiers of intensity for going up. The highlighted verbs are the ones to memorise; match the adverb to how steep the line is. Each tier has its own chart.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1 continued. The mirror image for going down. Same three tiers, slight, steady, dramatic, with the matching verbs. Each tier has its own chart.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2. Not every line moves in one direction. Stability verbs for flat lines, fluctuation verbs for jagged ones. Use the side chart to illustrate fluctuation.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3. A verb describes the change; a time expression anchors it. Four kinds: a single point, a period, an ongoing trend, and an endpoint.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Examiner Mode. Put it all together: one weak sentence rewritten with a varied verb, an adverb, and exact figures. This is the band 5 to band 7 jump.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Activity. Students sort the word bank into three columns, increase, decrease, stability. Do the first one together, then let them finish. The answer key is on the next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key. Walk through the sort: surged, climbed and soared describe an increase; plummeted, fell and declined a decrease; plateaued and remained stable describe stability. The trick word is fluctuated, which describes fluctuation and belongs to none of the three.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 the four takeaways. Vary verbs, match the adverb, anchor in time, precision over decoration. Preview Lesson 3: Grammar for Data Description.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sv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sv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image" Target="../media/image-3-11.sv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sv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svg"/><Relationship Id="rId9" Type="http://schemas.openxmlformats.org/officeDocument/2006/relationships/image" Target="../media/image-4-9.png"/><Relationship Id="rId10" Type="http://schemas.openxmlformats.org/officeDocument/2006/relationships/image" Target="../media/image-4-10.png"/><Relationship Id="rId11" Type="http://schemas.openxmlformats.org/officeDocument/2006/relationships/image" Target="../media/image-4-11.sv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AF8F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21000" y="857250"/>
            <a:ext cx="1428750" cy="1721421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 rot="-120000">
            <a:off x="1238250" y="1143000"/>
            <a:ext cx="16285845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50" b="1" dirty="0">
                <a:solidFill>
                  <a:srgbClr val="F88B48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Lesson 2 · Writing</a:t>
            </a:r>
            <a:endParaRPr lang="en-US" sz="3450" dirty="0"/>
          </a:p>
        </p:txBody>
      </p:sp>
      <p:sp>
        <p:nvSpPr>
          <p:cNvPr id="6" name="Text 2"/>
          <p:cNvSpPr/>
          <p:nvPr/>
        </p:nvSpPr>
        <p:spPr>
          <a:xfrm>
            <a:off x="1238250" y="1852612"/>
            <a:ext cx="7782454" cy="12430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780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Vocabulary for</a:t>
            </a:r>
            <a:endParaRPr lang="en-US" sz="7800" dirty="0"/>
          </a:p>
        </p:txBody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3">
            <a:alphaModFix amt="95000"/>
          </a:blip>
          <a:stretch>
            <a:fillRect/>
          </a:stretch>
        </p:blipFill>
        <p:spPr>
          <a:xfrm>
            <a:off x="8922023" y="1943100"/>
            <a:ext cx="3679403" cy="1031677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9074423" y="1852612"/>
            <a:ext cx="3712064" cy="1243013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780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trends</a:t>
            </a:r>
            <a:endParaRPr lang="en-US" sz="7800" dirty="0"/>
          </a:p>
        </p:txBody>
      </p:sp>
      <p:sp>
        <p:nvSpPr>
          <p:cNvPr id="9" name="Text 4"/>
          <p:cNvSpPr/>
          <p:nvPr/>
        </p:nvSpPr>
        <p:spPr>
          <a:xfrm>
            <a:off x="12449026" y="1852612"/>
            <a:ext cx="336128" cy="12430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780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.</a:t>
            </a:r>
            <a:endParaRPr lang="en-US" sz="7800" dirty="0"/>
          </a:p>
        </p:txBody>
      </p:sp>
      <p:sp>
        <p:nvSpPr>
          <p:cNvPr id="10" name="Text 5"/>
          <p:cNvSpPr/>
          <p:nvPr/>
        </p:nvSpPr>
        <p:spPr>
          <a:xfrm>
            <a:off x="1238250" y="3793927"/>
            <a:ext cx="10595610" cy="1066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27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exact words examiners look for when data goes up, down, or nowhere at all.</a:t>
            </a:r>
            <a:endParaRPr lang="en-US" sz="2700" dirty="0"/>
          </a:p>
        </p:txBody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>
            <a:alphaModFix amt="96000"/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515600" y="6705600"/>
            <a:ext cx="6858000" cy="27051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AF8F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49650" y="609600"/>
            <a:ext cx="1123950" cy="1354187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238250" y="914400"/>
            <a:ext cx="1739265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5FB2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WHY THIS MATTERS</a:t>
            </a:r>
            <a:endParaRPr lang="en-US" sz="1800" dirty="0"/>
          </a:p>
        </p:txBody>
      </p:sp>
      <p:sp>
        <p:nvSpPr>
          <p:cNvPr id="6" name="Text 2"/>
          <p:cNvSpPr/>
          <p:nvPr/>
        </p:nvSpPr>
        <p:spPr>
          <a:xfrm>
            <a:off x="1238250" y="1323975"/>
            <a:ext cx="14458950" cy="6514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420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One verb can be worth a whole band score.</a:t>
            </a:r>
            <a:endParaRPr lang="en-US" sz="4200" dirty="0"/>
          </a:p>
        </p:txBody>
      </p:sp>
      <p:sp>
        <p:nvSpPr>
          <p:cNvPr id="7" name="Text 3"/>
          <p:cNvSpPr/>
          <p:nvPr/>
        </p:nvSpPr>
        <p:spPr>
          <a:xfrm>
            <a:off x="1238250" y="2356470"/>
            <a:ext cx="14519910" cy="1009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255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Examiners reward </a:t>
            </a:r>
            <a:pPr algn="l" indent="0" marL="0">
              <a:lnSpc>
                <a:spcPct val="150000"/>
              </a:lnSpc>
              <a:buNone/>
            </a:pPr>
            <a:r>
              <a:rPr lang="en-US" sz="2550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precise, varied language </a:t>
            </a:r>
            <a:pPr algn="l" indent="0" marL="0">
              <a:lnSpc>
                <a:spcPct val="150000"/>
              </a:lnSpc>
              <a:buNone/>
            </a:pPr>
            <a:r>
              <a:rPr lang="en-US" sz="255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 If every sentence says "went up" or "went down", your lexical resource score has a ceiling, no matter how accurate your data is.</a:t>
            </a:r>
            <a:endParaRPr lang="en-US" sz="2550" dirty="0"/>
          </a:p>
        </p:txBody>
      </p:sp>
      <p:sp>
        <p:nvSpPr>
          <p:cNvPr id="8" name="Text 4"/>
          <p:cNvSpPr/>
          <p:nvPr/>
        </p:nvSpPr>
        <p:spPr>
          <a:xfrm rot="-90000">
            <a:off x="1238250" y="3935239"/>
            <a:ext cx="16285845" cy="523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88B48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in this lesson →</a:t>
            </a:r>
            <a:endParaRPr lang="en-US" sz="3000" dirty="0"/>
          </a:p>
        </p:txBody>
      </p:sp>
      <p:sp>
        <p:nvSpPr>
          <p:cNvPr id="9" name="Text 5"/>
          <p:cNvSpPr/>
          <p:nvPr/>
        </p:nvSpPr>
        <p:spPr>
          <a:xfrm>
            <a:off x="1238250" y="4666283"/>
            <a:ext cx="556320" cy="5181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200" b="1" dirty="0">
                <a:solidFill>
                  <a:srgbClr val="5FB27B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01</a:t>
            </a:r>
            <a:endParaRPr lang="en-US" sz="4200" dirty="0"/>
          </a:p>
        </p:txBody>
      </p:sp>
      <p:sp>
        <p:nvSpPr>
          <p:cNvPr id="10" name="Text 6"/>
          <p:cNvSpPr/>
          <p:nvPr/>
        </p:nvSpPr>
        <p:spPr>
          <a:xfrm>
            <a:off x="1985070" y="4666283"/>
            <a:ext cx="3746279" cy="4938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75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Describing an increase</a:t>
            </a:r>
            <a:endParaRPr lang="en-US" sz="2475" dirty="0"/>
          </a:p>
        </p:txBody>
      </p:sp>
      <p:sp>
        <p:nvSpPr>
          <p:cNvPr id="11" name="Text 7"/>
          <p:cNvSpPr/>
          <p:nvPr/>
        </p:nvSpPr>
        <p:spPr>
          <a:xfrm>
            <a:off x="8763000" y="4666283"/>
            <a:ext cx="556320" cy="5181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200" b="1" dirty="0">
                <a:solidFill>
                  <a:srgbClr val="5FB27B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02</a:t>
            </a:r>
            <a:endParaRPr lang="en-US" sz="4200" dirty="0"/>
          </a:p>
        </p:txBody>
      </p:sp>
      <p:sp>
        <p:nvSpPr>
          <p:cNvPr id="12" name="Text 8"/>
          <p:cNvSpPr/>
          <p:nvPr/>
        </p:nvSpPr>
        <p:spPr>
          <a:xfrm>
            <a:off x="9509820" y="4666283"/>
            <a:ext cx="3667289" cy="4938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75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Describing a decrease</a:t>
            </a:r>
            <a:endParaRPr lang="en-US" sz="2475" dirty="0"/>
          </a:p>
        </p:txBody>
      </p:sp>
      <p:sp>
        <p:nvSpPr>
          <p:cNvPr id="13" name="Text 9"/>
          <p:cNvSpPr/>
          <p:nvPr/>
        </p:nvSpPr>
        <p:spPr>
          <a:xfrm>
            <a:off x="1238250" y="5470178"/>
            <a:ext cx="556320" cy="5181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200" b="1" dirty="0">
                <a:solidFill>
                  <a:srgbClr val="5FB27B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03</a:t>
            </a:r>
            <a:endParaRPr lang="en-US" sz="4200" dirty="0"/>
          </a:p>
        </p:txBody>
      </p:sp>
      <p:sp>
        <p:nvSpPr>
          <p:cNvPr id="14" name="Text 10"/>
          <p:cNvSpPr/>
          <p:nvPr/>
        </p:nvSpPr>
        <p:spPr>
          <a:xfrm>
            <a:off x="1985070" y="5470178"/>
            <a:ext cx="3458967" cy="4938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75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Stability &amp; fluctuation</a:t>
            </a:r>
            <a:endParaRPr lang="en-US" sz="2475" dirty="0"/>
          </a:p>
        </p:txBody>
      </p:sp>
      <p:sp>
        <p:nvSpPr>
          <p:cNvPr id="15" name="Text 11"/>
          <p:cNvSpPr/>
          <p:nvPr/>
        </p:nvSpPr>
        <p:spPr>
          <a:xfrm>
            <a:off x="8763000" y="5470178"/>
            <a:ext cx="556320" cy="5181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200" b="1" dirty="0">
                <a:solidFill>
                  <a:srgbClr val="5FB27B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04</a:t>
            </a:r>
            <a:endParaRPr lang="en-US" sz="4200" dirty="0"/>
          </a:p>
        </p:txBody>
      </p:sp>
      <p:sp>
        <p:nvSpPr>
          <p:cNvPr id="16" name="Text 12"/>
          <p:cNvSpPr/>
          <p:nvPr/>
        </p:nvSpPr>
        <p:spPr>
          <a:xfrm>
            <a:off x="9509820" y="5470178"/>
            <a:ext cx="4180850" cy="4938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75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Anchoring change in time</a:t>
            </a:r>
            <a:endParaRPr lang="en-US" sz="2475" dirty="0"/>
          </a:p>
        </p:txBody>
      </p:sp>
      <p:sp>
        <p:nvSpPr>
          <p:cNvPr id="17" name="Text 13"/>
          <p:cNvSpPr/>
          <p:nvPr/>
        </p:nvSpPr>
        <p:spPr>
          <a:xfrm>
            <a:off x="1238250" y="9491663"/>
            <a:ext cx="6391029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Lesson 2 of 6 · IELTS Writing Task 1 · orangeenglish.nl</a:t>
            </a:r>
            <a:endParaRPr lang="en-US" sz="1800" dirty="0"/>
          </a:p>
        </p:txBody>
      </p:sp>
      <p:sp>
        <p:nvSpPr>
          <p:cNvPr id="18" name="Text 14"/>
          <p:cNvSpPr/>
          <p:nvPr/>
        </p:nvSpPr>
        <p:spPr>
          <a:xfrm>
            <a:off x="16910298" y="9491663"/>
            <a:ext cx="215652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AF8F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44900" y="571500"/>
            <a:ext cx="1028700" cy="1239366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238250" y="857250"/>
            <a:ext cx="1739265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5FB2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PART 1 · VERBS FOR CHANGE</a:t>
            </a:r>
            <a:endParaRPr lang="en-US" sz="1800" dirty="0"/>
          </a:p>
        </p:txBody>
      </p:sp>
      <p:sp>
        <p:nvSpPr>
          <p:cNvPr id="6" name="Text 2"/>
          <p:cNvSpPr/>
          <p:nvPr/>
        </p:nvSpPr>
        <p:spPr>
          <a:xfrm>
            <a:off x="1238250" y="1266825"/>
            <a:ext cx="7433704" cy="65677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435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Describing an increase.</a:t>
            </a:r>
            <a:endParaRPr lang="en-US" sz="4350" dirty="0"/>
          </a:p>
        </p:txBody>
      </p:sp>
      <p:sp>
        <p:nvSpPr>
          <p:cNvPr id="7" name="Text 3"/>
          <p:cNvSpPr/>
          <p:nvPr/>
        </p:nvSpPr>
        <p:spPr>
          <a:xfrm rot="-120000">
            <a:off x="8244669" y="1385888"/>
            <a:ext cx="1438275" cy="552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5FB27B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going up ↗</a:t>
            </a:r>
            <a:endParaRPr lang="en-US" sz="2700" dirty="0"/>
          </a:p>
        </p:txBody>
      </p:sp>
      <p:sp>
        <p:nvSpPr>
          <p:cNvPr id="8" name="Shape 4"/>
          <p:cNvSpPr/>
          <p:nvPr/>
        </p:nvSpPr>
        <p:spPr>
          <a:xfrm>
            <a:off x="1238250" y="2281238"/>
            <a:ext cx="13106400" cy="1379190"/>
          </a:xfrm>
          <a:prstGeom prst="roundRect">
            <a:avLst>
              <a:gd name="adj" fmla="val 12431"/>
            </a:avLst>
          </a:prstGeom>
          <a:solidFill>
            <a:srgbClr val="FFFFFF">
              <a:alpha val="55000"/>
            </a:srgbClr>
          </a:solidFill>
          <a:ln w="9525">
            <a:solidFill>
              <a:srgbClr val="292929">
                <a:alpha val="8000"/>
              </a:srgbClr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1609725" y="2590800"/>
            <a:ext cx="157162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150" kern="0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SLIGHT</a:t>
            </a:r>
            <a:endParaRPr lang="en-US" sz="180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>
            <a:alphaModFix amt="95000"/>
          </a:blip>
          <a:stretch>
            <a:fillRect/>
          </a:stretch>
        </p:blipFill>
        <p:spPr>
          <a:xfrm>
            <a:off x="3171825" y="2547938"/>
            <a:ext cx="1838399" cy="371475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3248025" y="2557463"/>
            <a:ext cx="1854599" cy="38100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rose slightly</a:t>
            </a:r>
            <a:endParaRPr lang="en-US" sz="2250" dirty="0"/>
          </a:p>
        </p:txBody>
      </p:sp>
      <p:sp>
        <p:nvSpPr>
          <p:cNvPr id="12" name="Text 7"/>
          <p:cNvSpPr/>
          <p:nvPr/>
        </p:nvSpPr>
        <p:spPr>
          <a:xfrm>
            <a:off x="5014392" y="2557463"/>
            <a:ext cx="289831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· edged up · crept up</a:t>
            </a:r>
            <a:endParaRPr lang="en-US" sz="2250" dirty="0"/>
          </a:p>
        </p:txBody>
      </p:sp>
      <p:sp>
        <p:nvSpPr>
          <p:cNvPr id="13" name="Text 8"/>
          <p:cNvSpPr/>
          <p:nvPr/>
        </p:nvSpPr>
        <p:spPr>
          <a:xfrm>
            <a:off x="1609725" y="3033713"/>
            <a:ext cx="13599795" cy="3885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F88B48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"Sales rose slightly in March."</a:t>
            </a:r>
            <a:endParaRPr lang="en-US" sz="2400" dirty="0"/>
          </a:p>
        </p:txBody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4763750" y="2304083"/>
            <a:ext cx="2286000" cy="1333500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1238250" y="3908078"/>
            <a:ext cx="13106400" cy="1379190"/>
          </a:xfrm>
          <a:prstGeom prst="roundRect">
            <a:avLst>
              <a:gd name="adj" fmla="val 12431"/>
            </a:avLst>
          </a:prstGeom>
          <a:solidFill>
            <a:srgbClr val="FFFFFF">
              <a:alpha val="55000"/>
            </a:srgbClr>
          </a:solidFill>
          <a:ln w="9525">
            <a:solidFill>
              <a:srgbClr val="292929">
                <a:alpha val="8000"/>
              </a:srgbClr>
            </a:solidFill>
            <a:prstDash val="solid"/>
          </a:ln>
        </p:spPr>
      </p:sp>
      <p:sp>
        <p:nvSpPr>
          <p:cNvPr id="16" name="Text 10"/>
          <p:cNvSpPr/>
          <p:nvPr/>
        </p:nvSpPr>
        <p:spPr>
          <a:xfrm>
            <a:off x="1609725" y="4217640"/>
            <a:ext cx="157162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150" kern="0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STEADY</a:t>
            </a:r>
            <a:endParaRPr lang="en-US" sz="1800" dirty="0"/>
          </a:p>
        </p:txBody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6">
            <a:alphaModFix amt="95000"/>
          </a:blip>
          <a:stretch>
            <a:fillRect/>
          </a:stretch>
        </p:blipFill>
        <p:spPr>
          <a:xfrm>
            <a:off x="3171825" y="4174778"/>
            <a:ext cx="2677344" cy="371475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3248025" y="4184303"/>
            <a:ext cx="2777438" cy="38100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increased steadily</a:t>
            </a:r>
            <a:endParaRPr lang="en-US" sz="2250" dirty="0"/>
          </a:p>
        </p:txBody>
      </p:sp>
      <p:sp>
        <p:nvSpPr>
          <p:cNvPr id="19" name="Text 12"/>
          <p:cNvSpPr/>
          <p:nvPr/>
        </p:nvSpPr>
        <p:spPr>
          <a:xfrm>
            <a:off x="5853336" y="4184303"/>
            <a:ext cx="222379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· grew · climbed</a:t>
            </a:r>
            <a:endParaRPr lang="en-US" sz="2250" dirty="0"/>
          </a:p>
        </p:txBody>
      </p:sp>
      <p:sp>
        <p:nvSpPr>
          <p:cNvPr id="20" name="Text 13"/>
          <p:cNvSpPr/>
          <p:nvPr/>
        </p:nvSpPr>
        <p:spPr>
          <a:xfrm>
            <a:off x="1609725" y="4660553"/>
            <a:ext cx="13599795" cy="3885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F88B48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"Profits grew steadily over the decade."</a:t>
            </a:r>
            <a:endParaRPr lang="en-US" sz="2400" dirty="0"/>
          </a:p>
        </p:txBody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763750" y="3930923"/>
            <a:ext cx="2286000" cy="133350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1238250" y="5534918"/>
            <a:ext cx="13106400" cy="1379190"/>
          </a:xfrm>
          <a:prstGeom prst="roundRect">
            <a:avLst>
              <a:gd name="adj" fmla="val 12431"/>
            </a:avLst>
          </a:prstGeom>
          <a:solidFill>
            <a:srgbClr val="FFFFFF">
              <a:alpha val="55000"/>
            </a:srgbClr>
          </a:solidFill>
          <a:ln w="9525">
            <a:solidFill>
              <a:srgbClr val="292929">
                <a:alpha val="8000"/>
              </a:srgbClr>
            </a:solidFill>
            <a:prstDash val="solid"/>
          </a:ln>
        </p:spPr>
      </p:sp>
      <p:sp>
        <p:nvSpPr>
          <p:cNvPr id="23" name="Text 15"/>
          <p:cNvSpPr/>
          <p:nvPr/>
        </p:nvSpPr>
        <p:spPr>
          <a:xfrm>
            <a:off x="1609725" y="5844480"/>
            <a:ext cx="157162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150" kern="0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DRAMATIC</a:t>
            </a:r>
            <a:endParaRPr lang="en-US" sz="1800" dirty="0"/>
          </a:p>
        </p:txBody>
      </p:sp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9">
            <a:alphaModFix amt="95000"/>
          </a:blip>
          <a:stretch>
            <a:fillRect/>
          </a:stretch>
        </p:blipFill>
        <p:spPr>
          <a:xfrm>
            <a:off x="3171825" y="5801618"/>
            <a:ext cx="1117699" cy="371475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3248025" y="5811143"/>
            <a:ext cx="1041499" cy="38100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surged</a:t>
            </a:r>
            <a:endParaRPr lang="en-US" sz="2250" dirty="0"/>
          </a:p>
        </p:txBody>
      </p:sp>
      <p:sp>
        <p:nvSpPr>
          <p:cNvPr id="26" name="Text 17"/>
          <p:cNvSpPr/>
          <p:nvPr/>
        </p:nvSpPr>
        <p:spPr>
          <a:xfrm>
            <a:off x="4293691" y="5811143"/>
            <a:ext cx="259846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· soared · rocketed</a:t>
            </a:r>
            <a:endParaRPr lang="en-US" sz="2250" dirty="0"/>
          </a:p>
        </p:txBody>
      </p:sp>
      <p:sp>
        <p:nvSpPr>
          <p:cNvPr id="27" name="Text 18"/>
          <p:cNvSpPr/>
          <p:nvPr/>
        </p:nvSpPr>
        <p:spPr>
          <a:xfrm>
            <a:off x="1609725" y="6287393"/>
            <a:ext cx="13599795" cy="3885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F88B48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"Demand surged after 2018."</a:t>
            </a:r>
            <a:endParaRPr lang="en-US" sz="2400" dirty="0"/>
          </a:p>
        </p:txBody>
      </p:sp>
      <p:pic>
        <p:nvPicPr>
          <p:cNvPr id="28" name="Image 7" descr="preencoded.png">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4763750" y="5557763"/>
            <a:ext cx="2286000" cy="1333500"/>
          </a:xfrm>
          <a:prstGeom prst="rect">
            <a:avLst/>
          </a:prstGeom>
        </p:spPr>
      </p:pic>
      <p:sp>
        <p:nvSpPr>
          <p:cNvPr id="29" name="Text 19"/>
          <p:cNvSpPr/>
          <p:nvPr/>
        </p:nvSpPr>
        <p:spPr>
          <a:xfrm>
            <a:off x="1238250" y="9605963"/>
            <a:ext cx="6391029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Lesson 2 of 6 · IELTS Writing Task 1 · orangeenglish.nl</a:t>
            </a:r>
            <a:endParaRPr lang="en-US" sz="1800" dirty="0"/>
          </a:p>
        </p:txBody>
      </p:sp>
      <p:sp>
        <p:nvSpPr>
          <p:cNvPr id="30" name="Text 20"/>
          <p:cNvSpPr/>
          <p:nvPr/>
        </p:nvSpPr>
        <p:spPr>
          <a:xfrm>
            <a:off x="16908512" y="9605963"/>
            <a:ext cx="217438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AF8F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44900" y="571500"/>
            <a:ext cx="1028700" cy="1239366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238250" y="857250"/>
            <a:ext cx="1739265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5FB2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PART 1 · VERBS FOR CHANGE</a:t>
            </a:r>
            <a:endParaRPr lang="en-US" sz="1800" dirty="0"/>
          </a:p>
        </p:txBody>
      </p:sp>
      <p:sp>
        <p:nvSpPr>
          <p:cNvPr id="6" name="Text 2"/>
          <p:cNvSpPr/>
          <p:nvPr/>
        </p:nvSpPr>
        <p:spPr>
          <a:xfrm>
            <a:off x="1238250" y="1266825"/>
            <a:ext cx="7213677" cy="65677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435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Describing a decrease.</a:t>
            </a:r>
            <a:endParaRPr lang="en-US" sz="4350" dirty="0"/>
          </a:p>
        </p:txBody>
      </p:sp>
      <p:sp>
        <p:nvSpPr>
          <p:cNvPr id="7" name="Text 3"/>
          <p:cNvSpPr/>
          <p:nvPr/>
        </p:nvSpPr>
        <p:spPr>
          <a:xfrm rot="-120000">
            <a:off x="8043044" y="1438275"/>
            <a:ext cx="1844040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88B48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going down ↘</a:t>
            </a:r>
            <a:endParaRPr lang="en-US" sz="2700" dirty="0"/>
          </a:p>
        </p:txBody>
      </p:sp>
      <p:sp>
        <p:nvSpPr>
          <p:cNvPr id="8" name="Shape 4"/>
          <p:cNvSpPr/>
          <p:nvPr/>
        </p:nvSpPr>
        <p:spPr>
          <a:xfrm>
            <a:off x="1238250" y="2266504"/>
            <a:ext cx="13106400" cy="1379190"/>
          </a:xfrm>
          <a:prstGeom prst="roundRect">
            <a:avLst>
              <a:gd name="adj" fmla="val 12431"/>
            </a:avLst>
          </a:prstGeom>
          <a:solidFill>
            <a:srgbClr val="FFFFFF">
              <a:alpha val="55000"/>
            </a:srgbClr>
          </a:solidFill>
          <a:ln w="9525">
            <a:solidFill>
              <a:srgbClr val="292929">
                <a:alpha val="8000"/>
              </a:srgbClr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1609725" y="2576066"/>
            <a:ext cx="157162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150" kern="0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SLIGHT</a:t>
            </a:r>
            <a:endParaRPr lang="en-US" sz="180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>
            <a:alphaModFix amt="95000"/>
          </a:blip>
          <a:stretch>
            <a:fillRect/>
          </a:stretch>
        </p:blipFill>
        <p:spPr>
          <a:xfrm>
            <a:off x="3171825" y="2533204"/>
            <a:ext cx="2188518" cy="371475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3248025" y="2542729"/>
            <a:ext cx="2239729" cy="38100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dipped slightly</a:t>
            </a:r>
            <a:endParaRPr lang="en-US" sz="2250" dirty="0"/>
          </a:p>
        </p:txBody>
      </p:sp>
      <p:sp>
        <p:nvSpPr>
          <p:cNvPr id="12" name="Text 7"/>
          <p:cNvSpPr/>
          <p:nvPr/>
        </p:nvSpPr>
        <p:spPr>
          <a:xfrm>
            <a:off x="5364510" y="2542729"/>
            <a:ext cx="3758667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· eased back · edged down</a:t>
            </a:r>
            <a:endParaRPr lang="en-US" sz="2250" dirty="0"/>
          </a:p>
        </p:txBody>
      </p:sp>
      <p:sp>
        <p:nvSpPr>
          <p:cNvPr id="13" name="Text 8"/>
          <p:cNvSpPr/>
          <p:nvPr/>
        </p:nvSpPr>
        <p:spPr>
          <a:xfrm>
            <a:off x="1609725" y="3018979"/>
            <a:ext cx="13599795" cy="3885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F88B48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"Prices eased slightly in Q2."</a:t>
            </a:r>
            <a:endParaRPr lang="en-US" sz="2400" dirty="0"/>
          </a:p>
        </p:txBody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4763750" y="2289349"/>
            <a:ext cx="2286000" cy="1333500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1238250" y="3893344"/>
            <a:ext cx="13106400" cy="1379190"/>
          </a:xfrm>
          <a:prstGeom prst="roundRect">
            <a:avLst>
              <a:gd name="adj" fmla="val 12431"/>
            </a:avLst>
          </a:prstGeom>
          <a:solidFill>
            <a:srgbClr val="FFFFFF">
              <a:alpha val="55000"/>
            </a:srgbClr>
          </a:solidFill>
          <a:ln w="9525">
            <a:solidFill>
              <a:srgbClr val="292929">
                <a:alpha val="8000"/>
              </a:srgbClr>
            </a:solidFill>
            <a:prstDash val="solid"/>
          </a:ln>
        </p:spPr>
      </p:sp>
      <p:sp>
        <p:nvSpPr>
          <p:cNvPr id="16" name="Text 10"/>
          <p:cNvSpPr/>
          <p:nvPr/>
        </p:nvSpPr>
        <p:spPr>
          <a:xfrm>
            <a:off x="1609725" y="4202906"/>
            <a:ext cx="157162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150" kern="0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STEADY</a:t>
            </a:r>
            <a:endParaRPr lang="en-US" sz="1800" dirty="0"/>
          </a:p>
        </p:txBody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6">
            <a:alphaModFix amt="95000"/>
          </a:blip>
          <a:stretch>
            <a:fillRect/>
          </a:stretch>
        </p:blipFill>
        <p:spPr>
          <a:xfrm>
            <a:off x="3171825" y="4160044"/>
            <a:ext cx="2499420" cy="371475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3248025" y="4169569"/>
            <a:ext cx="2581721" cy="38100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declined steadily</a:t>
            </a:r>
            <a:endParaRPr lang="en-US" sz="2250" dirty="0"/>
          </a:p>
        </p:txBody>
      </p:sp>
      <p:sp>
        <p:nvSpPr>
          <p:cNvPr id="19" name="Text 12"/>
          <p:cNvSpPr/>
          <p:nvPr/>
        </p:nvSpPr>
        <p:spPr>
          <a:xfrm>
            <a:off x="5675412" y="4169569"/>
            <a:ext cx="202503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· fell · dropped</a:t>
            </a:r>
            <a:endParaRPr lang="en-US" sz="2250" dirty="0"/>
          </a:p>
        </p:txBody>
      </p:sp>
      <p:sp>
        <p:nvSpPr>
          <p:cNvPr id="20" name="Text 13"/>
          <p:cNvSpPr/>
          <p:nvPr/>
        </p:nvSpPr>
        <p:spPr>
          <a:xfrm>
            <a:off x="1609725" y="4645819"/>
            <a:ext cx="13599795" cy="3885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F88B48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"Membership fell steadily each year."</a:t>
            </a:r>
            <a:endParaRPr lang="en-US" sz="2400" dirty="0"/>
          </a:p>
        </p:txBody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763750" y="3916189"/>
            <a:ext cx="2286000" cy="133350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1238250" y="5520184"/>
            <a:ext cx="13106400" cy="1379190"/>
          </a:xfrm>
          <a:prstGeom prst="roundRect">
            <a:avLst>
              <a:gd name="adj" fmla="val 12431"/>
            </a:avLst>
          </a:prstGeom>
          <a:solidFill>
            <a:srgbClr val="FFFFFF">
              <a:alpha val="55000"/>
            </a:srgbClr>
          </a:solidFill>
          <a:ln w="9525">
            <a:solidFill>
              <a:srgbClr val="292929">
                <a:alpha val="8000"/>
              </a:srgbClr>
            </a:solidFill>
            <a:prstDash val="solid"/>
          </a:ln>
        </p:spPr>
      </p:sp>
      <p:sp>
        <p:nvSpPr>
          <p:cNvPr id="23" name="Text 15"/>
          <p:cNvSpPr/>
          <p:nvPr/>
        </p:nvSpPr>
        <p:spPr>
          <a:xfrm>
            <a:off x="1609725" y="5829746"/>
            <a:ext cx="157162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150" kern="0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DRAMATIC</a:t>
            </a:r>
            <a:endParaRPr lang="en-US" sz="1800" dirty="0"/>
          </a:p>
        </p:txBody>
      </p:sp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9">
            <a:alphaModFix amt="95000"/>
          </a:blip>
          <a:stretch>
            <a:fillRect/>
          </a:stretch>
        </p:blipFill>
        <p:spPr>
          <a:xfrm>
            <a:off x="3171825" y="5786884"/>
            <a:ext cx="1709514" cy="371475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3248025" y="5796409"/>
            <a:ext cx="1712826" cy="38100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plummeted</a:t>
            </a:r>
            <a:endParaRPr lang="en-US" sz="2250" dirty="0"/>
          </a:p>
        </p:txBody>
      </p:sp>
      <p:sp>
        <p:nvSpPr>
          <p:cNvPr id="26" name="Text 17"/>
          <p:cNvSpPr/>
          <p:nvPr/>
        </p:nvSpPr>
        <p:spPr>
          <a:xfrm>
            <a:off x="4885506" y="5796409"/>
            <a:ext cx="319807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· collapsed · nosedived</a:t>
            </a:r>
            <a:endParaRPr lang="en-US" sz="2250" dirty="0"/>
          </a:p>
        </p:txBody>
      </p:sp>
      <p:sp>
        <p:nvSpPr>
          <p:cNvPr id="27" name="Text 18"/>
          <p:cNvSpPr/>
          <p:nvPr/>
        </p:nvSpPr>
        <p:spPr>
          <a:xfrm>
            <a:off x="1609725" y="6272659"/>
            <a:ext cx="13599795" cy="3885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F88B48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"Exports collapsed in 2020."</a:t>
            </a:r>
            <a:endParaRPr lang="en-US" sz="2400" dirty="0"/>
          </a:p>
        </p:txBody>
      </p:sp>
      <p:pic>
        <p:nvPicPr>
          <p:cNvPr id="28" name="Image 7" descr="preencoded.png">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4763750" y="5543029"/>
            <a:ext cx="2286000" cy="1333500"/>
          </a:xfrm>
          <a:prstGeom prst="rect">
            <a:avLst/>
          </a:prstGeom>
        </p:spPr>
      </p:pic>
      <p:sp>
        <p:nvSpPr>
          <p:cNvPr id="29" name="Text 19"/>
          <p:cNvSpPr/>
          <p:nvPr/>
        </p:nvSpPr>
        <p:spPr>
          <a:xfrm>
            <a:off x="1238250" y="9605963"/>
            <a:ext cx="6391029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Lesson 2 of 6 · IELTS Writing Task 1 · orangeenglish.nl</a:t>
            </a:r>
            <a:endParaRPr lang="en-US" sz="1800" dirty="0"/>
          </a:p>
        </p:txBody>
      </p:sp>
      <p:sp>
        <p:nvSpPr>
          <p:cNvPr id="30" name="Text 20"/>
          <p:cNvSpPr/>
          <p:nvPr/>
        </p:nvSpPr>
        <p:spPr>
          <a:xfrm>
            <a:off x="16902038" y="9605963"/>
            <a:ext cx="223912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AF8F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44900" y="571500"/>
            <a:ext cx="1028700" cy="1239366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238250" y="857250"/>
            <a:ext cx="1110615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5FB2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PART 2 · DESCRIBING CHANGE</a:t>
            </a:r>
            <a:endParaRPr lang="en-US" sz="1800" dirty="0"/>
          </a:p>
        </p:txBody>
      </p:sp>
      <p:sp>
        <p:nvSpPr>
          <p:cNvPr id="6" name="Text 2"/>
          <p:cNvSpPr/>
          <p:nvPr/>
        </p:nvSpPr>
        <p:spPr>
          <a:xfrm>
            <a:off x="1238250" y="1266825"/>
            <a:ext cx="8829675" cy="12107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405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When the line doesn't go in one direction.</a:t>
            </a:r>
            <a:endParaRPr lang="en-US" sz="4050" dirty="0"/>
          </a:p>
        </p:txBody>
      </p:sp>
      <p:sp>
        <p:nvSpPr>
          <p:cNvPr id="7" name="Shape 3"/>
          <p:cNvSpPr/>
          <p:nvPr/>
        </p:nvSpPr>
        <p:spPr>
          <a:xfrm>
            <a:off x="1238250" y="2915692"/>
            <a:ext cx="10096500" cy="2175942"/>
          </a:xfrm>
          <a:prstGeom prst="roundRect">
            <a:avLst>
              <a:gd name="adj" fmla="val 7879"/>
            </a:avLst>
          </a:prstGeom>
          <a:solidFill>
            <a:srgbClr val="FFFFFF">
              <a:alpha val="55000"/>
            </a:srgbClr>
          </a:solidFill>
          <a:ln w="9525">
            <a:solidFill>
              <a:srgbClr val="292929">
                <a:alpha val="8000"/>
              </a:srgbClr>
            </a:solidFill>
            <a:prstDash val="solid"/>
          </a:ln>
        </p:spPr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>
            <a:alphaModFix amt="95000"/>
          </a:blip>
          <a:stretch>
            <a:fillRect/>
          </a:stretch>
        </p:blipFill>
        <p:spPr>
          <a:xfrm>
            <a:off x="1476375" y="3253829"/>
            <a:ext cx="1851496" cy="45720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1628775" y="3249067"/>
            <a:ext cx="1701366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Stability</a:t>
            </a:r>
            <a:endParaRPr lang="en-US" sz="2850" dirty="0"/>
          </a:p>
        </p:txBody>
      </p:sp>
      <p:sp>
        <p:nvSpPr>
          <p:cNvPr id="10" name="Text 5"/>
          <p:cNvSpPr/>
          <p:nvPr/>
        </p:nvSpPr>
        <p:spPr>
          <a:xfrm>
            <a:off x="1628775" y="3863429"/>
            <a:ext cx="10246995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250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remained stable </a:t>
            </a:r>
            <a:pPr algn="l" indent="0" marL="0">
              <a:lnSpc>
                <a:spcPct val="140000"/>
              </a:lnSpc>
              <a:buNone/>
            </a:pPr>
            <a:r>
              <a:rPr lang="en-US" sz="225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· levelled off · plateaued · stayed constant</a:t>
            </a:r>
            <a:endParaRPr lang="en-US" sz="2250" dirty="0"/>
          </a:p>
        </p:txBody>
      </p:sp>
      <p:sp>
        <p:nvSpPr>
          <p:cNvPr id="11" name="Text 6"/>
          <p:cNvSpPr/>
          <p:nvPr/>
        </p:nvSpPr>
        <p:spPr>
          <a:xfrm>
            <a:off x="1628775" y="4396829"/>
            <a:ext cx="10246995" cy="3995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75" b="1" dirty="0">
                <a:solidFill>
                  <a:srgbClr val="F88B48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"Numbers remained stable between 2015 and 2018."</a:t>
            </a:r>
            <a:endParaRPr lang="en-US" sz="2475" dirty="0"/>
          </a:p>
        </p:txBody>
      </p:sp>
      <p:sp>
        <p:nvSpPr>
          <p:cNvPr id="12" name="Shape 7"/>
          <p:cNvSpPr/>
          <p:nvPr/>
        </p:nvSpPr>
        <p:spPr>
          <a:xfrm>
            <a:off x="1238250" y="5415483"/>
            <a:ext cx="10096500" cy="2175942"/>
          </a:xfrm>
          <a:prstGeom prst="roundRect">
            <a:avLst>
              <a:gd name="adj" fmla="val 7879"/>
            </a:avLst>
          </a:prstGeom>
          <a:solidFill>
            <a:srgbClr val="FFFFFF">
              <a:alpha val="55000"/>
            </a:srgbClr>
          </a:solidFill>
          <a:ln w="9525">
            <a:solidFill>
              <a:srgbClr val="292929">
                <a:alpha val="8000"/>
              </a:srgbClr>
            </a:solidFill>
            <a:prstDash val="solid"/>
          </a:ln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>
            <a:alphaModFix amt="95000"/>
          </a:blip>
          <a:stretch>
            <a:fillRect/>
          </a:stretch>
        </p:blipFill>
        <p:spPr>
          <a:xfrm>
            <a:off x="1476375" y="5753621"/>
            <a:ext cx="2493169" cy="4572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628775" y="5748858"/>
            <a:ext cx="2407206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Fluctuation</a:t>
            </a:r>
            <a:endParaRPr lang="en-US" sz="2850" dirty="0"/>
          </a:p>
        </p:txBody>
      </p:sp>
      <p:sp>
        <p:nvSpPr>
          <p:cNvPr id="15" name="Text 9"/>
          <p:cNvSpPr/>
          <p:nvPr/>
        </p:nvSpPr>
        <p:spPr>
          <a:xfrm>
            <a:off x="1628775" y="6363221"/>
            <a:ext cx="10246995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250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fluctuated </a:t>
            </a:r>
            <a:pPr algn="l" indent="0" marL="0">
              <a:lnSpc>
                <a:spcPct val="140000"/>
              </a:lnSpc>
              <a:buNone/>
            </a:pPr>
            <a:r>
              <a:rPr lang="en-US" sz="225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· varied · rose and fell</a:t>
            </a:r>
            <a:endParaRPr lang="en-US" sz="2250" dirty="0"/>
          </a:p>
        </p:txBody>
      </p:sp>
      <p:sp>
        <p:nvSpPr>
          <p:cNvPr id="16" name="Text 10"/>
          <p:cNvSpPr/>
          <p:nvPr/>
        </p:nvSpPr>
        <p:spPr>
          <a:xfrm>
            <a:off x="1628775" y="6896621"/>
            <a:ext cx="10246995" cy="3995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75" b="1" dirty="0">
                <a:solidFill>
                  <a:srgbClr val="F88B48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"Prices fluctuated throughout the period."</a:t>
            </a:r>
            <a:endParaRPr lang="en-US" sz="2475" dirty="0"/>
          </a:p>
        </p:txBody>
      </p:sp>
      <p:sp>
        <p:nvSpPr>
          <p:cNvPr id="17" name="Shape 11"/>
          <p:cNvSpPr/>
          <p:nvPr/>
        </p:nvSpPr>
        <p:spPr>
          <a:xfrm>
            <a:off x="12096750" y="2682701"/>
            <a:ext cx="4953000" cy="4921523"/>
          </a:xfrm>
          <a:prstGeom prst="roundRect">
            <a:avLst>
              <a:gd name="adj" fmla="val 3871"/>
            </a:avLst>
          </a:prstGeom>
          <a:solidFill>
            <a:srgbClr val="FFFFFF">
              <a:alpha val="60000"/>
            </a:srgbClr>
          </a:solidFill>
          <a:ln w="9525">
            <a:solidFill>
              <a:srgbClr val="292929">
                <a:alpha val="8000"/>
              </a:srgbClr>
            </a:solidFill>
            <a:prstDash val="solid"/>
          </a:ln>
        </p:spPr>
      </p:sp>
      <p:sp>
        <p:nvSpPr>
          <p:cNvPr id="18" name="Text 12"/>
          <p:cNvSpPr/>
          <p:nvPr/>
        </p:nvSpPr>
        <p:spPr>
          <a:xfrm>
            <a:off x="12278678" y="3111326"/>
            <a:ext cx="4589145" cy="4429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2550" b="1" dirty="0">
                <a:solidFill>
                  <a:srgbClr val="292929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a fluctuating trend</a:t>
            </a:r>
            <a:endParaRPr lang="en-US" sz="2550" dirty="0"/>
          </a:p>
        </p:txBody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2487275" y="3725689"/>
            <a:ext cx="4171950" cy="2902223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 rot="-60000">
            <a:off x="12278678" y="6835080"/>
            <a:ext cx="4589145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88B48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up, down, up, down, no clear direction</a:t>
            </a:r>
            <a:endParaRPr lang="en-US" sz="2100" dirty="0"/>
          </a:p>
        </p:txBody>
      </p:sp>
      <p:sp>
        <p:nvSpPr>
          <p:cNvPr id="21" name="Text 14"/>
          <p:cNvSpPr/>
          <p:nvPr/>
        </p:nvSpPr>
        <p:spPr>
          <a:xfrm>
            <a:off x="1238250" y="9605963"/>
            <a:ext cx="6391029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Lesson 2 of 6 · IELTS Writing Task 1 · orangeenglish.nl</a:t>
            </a:r>
            <a:endParaRPr lang="en-US" sz="1800" dirty="0"/>
          </a:p>
        </p:txBody>
      </p:sp>
      <p:sp>
        <p:nvSpPr>
          <p:cNvPr id="22" name="Text 15"/>
          <p:cNvSpPr/>
          <p:nvPr/>
        </p:nvSpPr>
        <p:spPr>
          <a:xfrm>
            <a:off x="16914093" y="9605963"/>
            <a:ext cx="211857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AF8F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49650" y="609600"/>
            <a:ext cx="1123950" cy="1354187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238250" y="914400"/>
            <a:ext cx="1739265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5FB2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PART 3 · TIME EXPRESSIONS</a:t>
            </a:r>
            <a:endParaRPr lang="en-US" sz="1800" dirty="0"/>
          </a:p>
        </p:txBody>
      </p:sp>
      <p:sp>
        <p:nvSpPr>
          <p:cNvPr id="6" name="Text 2"/>
          <p:cNvSpPr/>
          <p:nvPr/>
        </p:nvSpPr>
        <p:spPr>
          <a:xfrm>
            <a:off x="1238250" y="1323975"/>
            <a:ext cx="17392650" cy="6354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420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Telling the examiner when it happened.</a:t>
            </a:r>
            <a:endParaRPr lang="en-US" sz="4200" dirty="0"/>
          </a:p>
        </p:txBody>
      </p:sp>
      <p:sp>
        <p:nvSpPr>
          <p:cNvPr id="7" name="Shape 3"/>
          <p:cNvSpPr/>
          <p:nvPr/>
        </p:nvSpPr>
        <p:spPr>
          <a:xfrm>
            <a:off x="1238250" y="2397621"/>
            <a:ext cx="3695700" cy="3471863"/>
          </a:xfrm>
          <a:prstGeom prst="roundRect">
            <a:avLst>
              <a:gd name="adj" fmla="val 5487"/>
            </a:avLst>
          </a:prstGeom>
          <a:solidFill>
            <a:srgbClr val="FFFFFF">
              <a:alpha val="55000"/>
            </a:srgbClr>
          </a:solidFill>
          <a:ln w="9525">
            <a:solidFill>
              <a:srgbClr val="292929">
                <a:alpha val="8000"/>
              </a:srgbClr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590675" y="2769096"/>
            <a:ext cx="3289935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5FB27B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01</a:t>
            </a:r>
            <a:endParaRPr lang="en-US" sz="360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>
            <a:alphaModFix amt="95000"/>
          </a:blip>
          <a:stretch>
            <a:fillRect/>
          </a:stretch>
        </p:blipFill>
        <p:spPr>
          <a:xfrm>
            <a:off x="1457325" y="3269159"/>
            <a:ext cx="2341736" cy="43815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590675" y="3321546"/>
            <a:ext cx="2282540" cy="3857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single point</a:t>
            </a:r>
            <a:endParaRPr lang="en-US" sz="2250" dirty="0"/>
          </a:p>
        </p:txBody>
      </p:sp>
      <p:sp>
        <p:nvSpPr>
          <p:cNvPr id="11" name="Text 6"/>
          <p:cNvSpPr/>
          <p:nvPr/>
        </p:nvSpPr>
        <p:spPr>
          <a:xfrm>
            <a:off x="1590675" y="3954959"/>
            <a:ext cx="3289935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 2010</a:t>
            </a:r>
            <a:endParaRPr lang="en-US" sz="2025" dirty="0"/>
          </a:p>
        </p:txBody>
      </p:sp>
      <p:sp>
        <p:nvSpPr>
          <p:cNvPr id="12" name="Text 7"/>
          <p:cNvSpPr/>
          <p:nvPr/>
        </p:nvSpPr>
        <p:spPr>
          <a:xfrm>
            <a:off x="1590675" y="4416921"/>
            <a:ext cx="3080576" cy="657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 the start of the period</a:t>
            </a:r>
            <a:endParaRPr lang="en-US" sz="2025" dirty="0"/>
          </a:p>
        </p:txBody>
      </p:sp>
      <p:sp>
        <p:nvSpPr>
          <p:cNvPr id="13" name="Text 8"/>
          <p:cNvSpPr/>
          <p:nvPr/>
        </p:nvSpPr>
        <p:spPr>
          <a:xfrm>
            <a:off x="1590675" y="5188446"/>
            <a:ext cx="3289935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since 2020</a:t>
            </a:r>
            <a:endParaRPr lang="en-US" sz="2025" dirty="0"/>
          </a:p>
        </p:txBody>
      </p:sp>
      <p:sp>
        <p:nvSpPr>
          <p:cNvPr id="14" name="Shape 9"/>
          <p:cNvSpPr/>
          <p:nvPr/>
        </p:nvSpPr>
        <p:spPr>
          <a:xfrm>
            <a:off x="5276850" y="2397621"/>
            <a:ext cx="3695700" cy="3471863"/>
          </a:xfrm>
          <a:prstGeom prst="roundRect">
            <a:avLst>
              <a:gd name="adj" fmla="val 5487"/>
            </a:avLst>
          </a:prstGeom>
          <a:solidFill>
            <a:srgbClr val="FFFFFF">
              <a:alpha val="55000"/>
            </a:srgbClr>
          </a:solidFill>
          <a:ln w="9525">
            <a:solidFill>
              <a:srgbClr val="292929">
                <a:alpha val="8000"/>
              </a:srgbClr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5629275" y="2769096"/>
            <a:ext cx="3289935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5FB27B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02</a:t>
            </a:r>
            <a:endParaRPr lang="en-US" sz="36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>
            <a:alphaModFix amt="95000"/>
          </a:blip>
          <a:stretch>
            <a:fillRect/>
          </a:stretch>
        </p:blipFill>
        <p:spPr>
          <a:xfrm>
            <a:off x="5495925" y="3269159"/>
            <a:ext cx="1537320" cy="43815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5629275" y="3321546"/>
            <a:ext cx="1397682" cy="3857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period</a:t>
            </a:r>
            <a:endParaRPr lang="en-US" sz="2250" dirty="0"/>
          </a:p>
        </p:txBody>
      </p:sp>
      <p:sp>
        <p:nvSpPr>
          <p:cNvPr id="18" name="Text 12"/>
          <p:cNvSpPr/>
          <p:nvPr/>
        </p:nvSpPr>
        <p:spPr>
          <a:xfrm>
            <a:off x="5629275" y="3954959"/>
            <a:ext cx="3289935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between 2010 and 2015</a:t>
            </a:r>
            <a:endParaRPr lang="en-US" sz="2025" dirty="0"/>
          </a:p>
        </p:txBody>
      </p:sp>
      <p:sp>
        <p:nvSpPr>
          <p:cNvPr id="19" name="Text 13"/>
          <p:cNvSpPr/>
          <p:nvPr/>
        </p:nvSpPr>
        <p:spPr>
          <a:xfrm>
            <a:off x="5629275" y="4416921"/>
            <a:ext cx="3289935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2010 to 2015</a:t>
            </a:r>
            <a:endParaRPr lang="en-US" sz="2025" dirty="0"/>
          </a:p>
        </p:txBody>
      </p:sp>
      <p:sp>
        <p:nvSpPr>
          <p:cNvPr id="20" name="Text 14"/>
          <p:cNvSpPr/>
          <p:nvPr/>
        </p:nvSpPr>
        <p:spPr>
          <a:xfrm>
            <a:off x="5629275" y="4878884"/>
            <a:ext cx="3289935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over the decade</a:t>
            </a:r>
            <a:endParaRPr lang="en-US" sz="2025" dirty="0"/>
          </a:p>
        </p:txBody>
      </p:sp>
      <p:sp>
        <p:nvSpPr>
          <p:cNvPr id="21" name="Shape 15"/>
          <p:cNvSpPr/>
          <p:nvPr/>
        </p:nvSpPr>
        <p:spPr>
          <a:xfrm>
            <a:off x="9315450" y="2397621"/>
            <a:ext cx="3695700" cy="3471863"/>
          </a:xfrm>
          <a:prstGeom prst="roundRect">
            <a:avLst>
              <a:gd name="adj" fmla="val 5487"/>
            </a:avLst>
          </a:prstGeom>
          <a:solidFill>
            <a:srgbClr val="FFFFFF">
              <a:alpha val="55000"/>
            </a:srgbClr>
          </a:solidFill>
          <a:ln w="9525">
            <a:solidFill>
              <a:srgbClr val="292929">
                <a:alpha val="8000"/>
              </a:srgbClr>
            </a:solidFill>
            <a:prstDash val="solid"/>
          </a:ln>
        </p:spPr>
      </p:sp>
      <p:sp>
        <p:nvSpPr>
          <p:cNvPr id="22" name="Text 16"/>
          <p:cNvSpPr/>
          <p:nvPr/>
        </p:nvSpPr>
        <p:spPr>
          <a:xfrm>
            <a:off x="9667875" y="2769096"/>
            <a:ext cx="3289935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5FB27B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03</a:t>
            </a:r>
            <a:endParaRPr lang="en-US" sz="3600" dirty="0"/>
          </a:p>
        </p:txBody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>
            <a:alphaModFix amt="95000"/>
          </a:blip>
          <a:stretch>
            <a:fillRect/>
          </a:stretch>
        </p:blipFill>
        <p:spPr>
          <a:xfrm>
            <a:off x="9534525" y="3269159"/>
            <a:ext cx="2923580" cy="438150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9667875" y="3321546"/>
            <a:ext cx="2922568" cy="3857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 ongoing trend</a:t>
            </a:r>
            <a:endParaRPr lang="en-US" sz="2250" dirty="0"/>
          </a:p>
        </p:txBody>
      </p:sp>
      <p:sp>
        <p:nvSpPr>
          <p:cNvPr id="25" name="Text 18"/>
          <p:cNvSpPr/>
          <p:nvPr/>
        </p:nvSpPr>
        <p:spPr>
          <a:xfrm>
            <a:off x="9667875" y="3954959"/>
            <a:ext cx="3289935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throughout the period</a:t>
            </a:r>
            <a:endParaRPr lang="en-US" sz="2025" dirty="0"/>
          </a:p>
        </p:txBody>
      </p:sp>
      <p:sp>
        <p:nvSpPr>
          <p:cNvPr id="26" name="Text 19"/>
          <p:cNvSpPr/>
          <p:nvPr/>
        </p:nvSpPr>
        <p:spPr>
          <a:xfrm>
            <a:off x="9667875" y="4416921"/>
            <a:ext cx="3080576" cy="657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over the course of the year</a:t>
            </a:r>
            <a:endParaRPr lang="en-US" sz="2025" dirty="0"/>
          </a:p>
        </p:txBody>
      </p:sp>
      <p:sp>
        <p:nvSpPr>
          <p:cNvPr id="27" name="Text 20"/>
          <p:cNvSpPr/>
          <p:nvPr/>
        </p:nvSpPr>
        <p:spPr>
          <a:xfrm>
            <a:off x="9667875" y="5188446"/>
            <a:ext cx="3289935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across the decade</a:t>
            </a:r>
            <a:endParaRPr lang="en-US" sz="2025" dirty="0"/>
          </a:p>
        </p:txBody>
      </p:sp>
      <p:sp>
        <p:nvSpPr>
          <p:cNvPr id="28" name="Shape 21"/>
          <p:cNvSpPr/>
          <p:nvPr/>
        </p:nvSpPr>
        <p:spPr>
          <a:xfrm>
            <a:off x="13354050" y="2397621"/>
            <a:ext cx="3695700" cy="3471863"/>
          </a:xfrm>
          <a:prstGeom prst="roundRect">
            <a:avLst>
              <a:gd name="adj" fmla="val 5487"/>
            </a:avLst>
          </a:prstGeom>
          <a:solidFill>
            <a:srgbClr val="FFFFFF">
              <a:alpha val="55000"/>
            </a:srgbClr>
          </a:solidFill>
          <a:ln w="9525">
            <a:solidFill>
              <a:srgbClr val="292929">
                <a:alpha val="8000"/>
              </a:srgbClr>
            </a:solidFill>
            <a:prstDash val="solid"/>
          </a:ln>
        </p:spPr>
      </p:sp>
      <p:sp>
        <p:nvSpPr>
          <p:cNvPr id="29" name="Text 22"/>
          <p:cNvSpPr/>
          <p:nvPr/>
        </p:nvSpPr>
        <p:spPr>
          <a:xfrm>
            <a:off x="13706475" y="2769096"/>
            <a:ext cx="3289935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5FB27B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04</a:t>
            </a:r>
            <a:endParaRPr lang="en-US" sz="3600" dirty="0"/>
          </a:p>
        </p:txBody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>
            <a:alphaModFix amt="95000"/>
          </a:blip>
          <a:stretch>
            <a:fillRect/>
          </a:stretch>
        </p:blipFill>
        <p:spPr>
          <a:xfrm>
            <a:off x="13573125" y="3269159"/>
            <a:ext cx="1646858" cy="438150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13706475" y="3321546"/>
            <a:ext cx="1518173" cy="3857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Endpoint</a:t>
            </a:r>
            <a:endParaRPr lang="en-US" sz="2250" dirty="0"/>
          </a:p>
        </p:txBody>
      </p:sp>
      <p:sp>
        <p:nvSpPr>
          <p:cNvPr id="32" name="Text 24"/>
          <p:cNvSpPr/>
          <p:nvPr/>
        </p:nvSpPr>
        <p:spPr>
          <a:xfrm>
            <a:off x="13706475" y="3954959"/>
            <a:ext cx="3289935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by 2015</a:t>
            </a:r>
            <a:endParaRPr lang="en-US" sz="2025" dirty="0"/>
          </a:p>
        </p:txBody>
      </p:sp>
      <p:sp>
        <p:nvSpPr>
          <p:cNvPr id="33" name="Text 25"/>
          <p:cNvSpPr/>
          <p:nvPr/>
        </p:nvSpPr>
        <p:spPr>
          <a:xfrm>
            <a:off x="13706475" y="4416921"/>
            <a:ext cx="3289935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by the end of the period</a:t>
            </a:r>
            <a:endParaRPr lang="en-US" sz="2025" dirty="0"/>
          </a:p>
        </p:txBody>
      </p:sp>
      <p:sp>
        <p:nvSpPr>
          <p:cNvPr id="34" name="Text 26"/>
          <p:cNvSpPr/>
          <p:nvPr/>
        </p:nvSpPr>
        <p:spPr>
          <a:xfrm>
            <a:off x="13706475" y="4878884"/>
            <a:ext cx="3289935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by the final year</a:t>
            </a:r>
            <a:endParaRPr lang="en-US" sz="2025" dirty="0"/>
          </a:p>
        </p:txBody>
      </p:sp>
      <p:sp>
        <p:nvSpPr>
          <p:cNvPr id="35" name="Text 27"/>
          <p:cNvSpPr/>
          <p:nvPr/>
        </p:nvSpPr>
        <p:spPr>
          <a:xfrm>
            <a:off x="1238250" y="9491663"/>
            <a:ext cx="6391029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Lesson 2 of 6 · IELTS Writing Task 1 · orangeenglish.nl</a:t>
            </a:r>
            <a:endParaRPr lang="en-US" sz="1800" dirty="0"/>
          </a:p>
        </p:txBody>
      </p:sp>
      <p:sp>
        <p:nvSpPr>
          <p:cNvPr id="36" name="Text 28"/>
          <p:cNvSpPr/>
          <p:nvPr/>
        </p:nvSpPr>
        <p:spPr>
          <a:xfrm>
            <a:off x="16907991" y="9491663"/>
            <a:ext cx="217959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AF8F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49650" y="609600"/>
            <a:ext cx="1123950" cy="1354187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 rot="-120000">
            <a:off x="1238250" y="914400"/>
            <a:ext cx="16285845" cy="5429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F88B48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examiner mode</a:t>
            </a:r>
            <a:endParaRPr lang="en-US" sz="3150" dirty="0"/>
          </a:p>
        </p:txBody>
      </p:sp>
      <p:sp>
        <p:nvSpPr>
          <p:cNvPr id="6" name="Text 2"/>
          <p:cNvSpPr/>
          <p:nvPr/>
        </p:nvSpPr>
        <p:spPr>
          <a:xfrm>
            <a:off x="1238250" y="1514475"/>
            <a:ext cx="17392650" cy="6354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420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From band 5 to band 7, one sentence.</a:t>
            </a:r>
            <a:endParaRPr lang="en-US" sz="4200" dirty="0"/>
          </a:p>
        </p:txBody>
      </p:sp>
      <p:sp>
        <p:nvSpPr>
          <p:cNvPr id="7" name="Shape 3"/>
          <p:cNvSpPr/>
          <p:nvPr/>
        </p:nvSpPr>
        <p:spPr>
          <a:xfrm>
            <a:off x="1238250" y="2645271"/>
            <a:ext cx="14859000" cy="2237408"/>
          </a:xfrm>
          <a:prstGeom prst="roundRect">
            <a:avLst>
              <a:gd name="adj" fmla="val 7663"/>
            </a:avLst>
          </a:prstGeom>
          <a:solidFill>
            <a:srgbClr val="FFFFFF">
              <a:alpha val="50000"/>
            </a:srgbClr>
          </a:solidFill>
          <a:ln w="9525">
            <a:solidFill>
              <a:srgbClr val="292929">
                <a:alpha val="8000"/>
              </a:srgbClr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666875" y="3016746"/>
            <a:ext cx="239316" cy="3857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B042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✗</a:t>
            </a:r>
            <a:endParaRPr lang="en-US" sz="2250" dirty="0"/>
          </a:p>
        </p:txBody>
      </p:sp>
      <p:sp>
        <p:nvSpPr>
          <p:cNvPr id="9" name="Text 5"/>
          <p:cNvSpPr/>
          <p:nvPr/>
        </p:nvSpPr>
        <p:spPr>
          <a:xfrm>
            <a:off x="2001441" y="3052465"/>
            <a:ext cx="90167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150" kern="0" dirty="0">
                <a:solidFill>
                  <a:srgbClr val="B042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WEAK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1666875" y="3535859"/>
            <a:ext cx="15401925" cy="5181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700" dirty="0">
                <a:solidFill>
                  <a:srgbClr val="9A8F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"The number of users went up a lot between 2010 and 2020."</a:t>
            </a:r>
            <a:endParaRPr lang="en-US" sz="2700" dirty="0"/>
          </a:p>
        </p:txBody>
      </p:sp>
      <p:sp>
        <p:nvSpPr>
          <p:cNvPr id="11" name="Text 7"/>
          <p:cNvSpPr/>
          <p:nvPr/>
        </p:nvSpPr>
        <p:spPr>
          <a:xfrm>
            <a:off x="1666875" y="4149254"/>
            <a:ext cx="15401925" cy="400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B0421F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vague verb, no precision</a:t>
            </a:r>
            <a:endParaRPr lang="en-US" sz="2250" dirty="0"/>
          </a:p>
        </p:txBody>
      </p:sp>
      <p:sp>
        <p:nvSpPr>
          <p:cNvPr id="12" name="Shape 8"/>
          <p:cNvSpPr/>
          <p:nvPr/>
        </p:nvSpPr>
        <p:spPr>
          <a:xfrm>
            <a:off x="1238250" y="5263679"/>
            <a:ext cx="14859000" cy="2751683"/>
          </a:xfrm>
          <a:prstGeom prst="roundRect">
            <a:avLst>
              <a:gd name="adj" fmla="val 6231"/>
            </a:avLst>
          </a:prstGeom>
          <a:solidFill>
            <a:srgbClr val="5FB27B">
              <a:alpha val="10000"/>
            </a:srgbClr>
          </a:solidFill>
          <a:ln w="9525">
            <a:solidFill>
              <a:srgbClr val="5FB27B">
                <a:alpha val="35000"/>
              </a:srgbClr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1666875" y="5635154"/>
            <a:ext cx="294605" cy="3857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5FB2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2250" dirty="0"/>
          </a:p>
        </p:txBody>
      </p:sp>
      <p:sp>
        <p:nvSpPr>
          <p:cNvPr id="14" name="Text 10"/>
          <p:cNvSpPr/>
          <p:nvPr/>
        </p:nvSpPr>
        <p:spPr>
          <a:xfrm>
            <a:off x="2056730" y="5670872"/>
            <a:ext cx="1620411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150" kern="0" dirty="0">
                <a:solidFill>
                  <a:srgbClr val="3F8A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STRONGER</a:t>
            </a:r>
            <a:endParaRPr lang="en-US" sz="1800" dirty="0"/>
          </a:p>
        </p:txBody>
      </p:sp>
      <p:sp>
        <p:nvSpPr>
          <p:cNvPr id="15" name="Text 11"/>
          <p:cNvSpPr/>
          <p:nvPr/>
        </p:nvSpPr>
        <p:spPr>
          <a:xfrm>
            <a:off x="1666875" y="6192366"/>
            <a:ext cx="3692904" cy="4524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700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"The number of users</a:t>
            </a:r>
            <a:endParaRPr lang="en-US" sz="270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>
            <a:alphaModFix amt="95000"/>
          </a:blip>
          <a:stretch>
            <a:fillRect/>
          </a:stretch>
        </p:blipFill>
        <p:spPr>
          <a:xfrm>
            <a:off x="5267399" y="6154266"/>
            <a:ext cx="3011760" cy="51621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5343599" y="6192366"/>
            <a:ext cx="3145296" cy="452438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700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rose dramatically</a:t>
            </a:r>
            <a:endParaRPr lang="en-US" sz="2700" dirty="0"/>
          </a:p>
        </p:txBody>
      </p:sp>
      <p:sp>
        <p:nvSpPr>
          <p:cNvPr id="18" name="Text 13"/>
          <p:cNvSpPr/>
          <p:nvPr/>
        </p:nvSpPr>
        <p:spPr>
          <a:xfrm>
            <a:off x="8202960" y="6192366"/>
            <a:ext cx="2519437" cy="4524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700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climbing from</a:t>
            </a:r>
            <a:endParaRPr lang="en-US" sz="2700" dirty="0"/>
          </a:p>
        </p:txBody>
      </p:sp>
      <p:sp>
        <p:nvSpPr>
          <p:cNvPr id="19" name="Text 14"/>
          <p:cNvSpPr/>
          <p:nvPr/>
        </p:nvSpPr>
        <p:spPr>
          <a:xfrm>
            <a:off x="10737577" y="6192366"/>
            <a:ext cx="3604424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700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million to 9 million</a:t>
            </a:r>
            <a:endParaRPr lang="en-US" sz="2700" dirty="0"/>
          </a:p>
        </p:txBody>
      </p:sp>
      <p:sp>
        <p:nvSpPr>
          <p:cNvPr id="20" name="Text 15"/>
          <p:cNvSpPr/>
          <p:nvPr/>
        </p:nvSpPr>
        <p:spPr>
          <a:xfrm>
            <a:off x="1666875" y="6192366"/>
            <a:ext cx="14277860" cy="9495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700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between 2010 and 2020."</a:t>
            </a:r>
            <a:endParaRPr lang="en-US" sz="2700" dirty="0"/>
          </a:p>
        </p:txBody>
      </p:sp>
      <p:sp>
        <p:nvSpPr>
          <p:cNvPr id="21" name="Text 16"/>
          <p:cNvSpPr/>
          <p:nvPr/>
        </p:nvSpPr>
        <p:spPr>
          <a:xfrm>
            <a:off x="1666875" y="7281937"/>
            <a:ext cx="15401925" cy="400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3F8A5B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varied verb + exact figures included</a:t>
            </a:r>
            <a:endParaRPr lang="en-US" sz="2250" dirty="0"/>
          </a:p>
        </p:txBody>
      </p:sp>
      <p:sp>
        <p:nvSpPr>
          <p:cNvPr id="22" name="Text 17"/>
          <p:cNvSpPr/>
          <p:nvPr/>
        </p:nvSpPr>
        <p:spPr>
          <a:xfrm>
            <a:off x="1238250" y="9491663"/>
            <a:ext cx="6391029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Lesson 2 of 6 · IELTS Writing Task 1 · orangeenglish.nl</a:t>
            </a:r>
            <a:endParaRPr lang="en-US" sz="1800" dirty="0"/>
          </a:p>
        </p:txBody>
      </p:sp>
      <p:sp>
        <p:nvSpPr>
          <p:cNvPr id="23" name="Text 18"/>
          <p:cNvSpPr/>
          <p:nvPr/>
        </p:nvSpPr>
        <p:spPr>
          <a:xfrm>
            <a:off x="16920344" y="9491663"/>
            <a:ext cx="205606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AF8F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49650" y="609600"/>
            <a:ext cx="1123950" cy="1354187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238250" y="1028700"/>
            <a:ext cx="1526768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5FB2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ACTIVITY</a:t>
            </a:r>
            <a:endParaRPr lang="en-US" sz="1800" dirty="0"/>
          </a:p>
        </p:txBody>
      </p:sp>
      <p:sp>
        <p:nvSpPr>
          <p:cNvPr id="6" name="Text 2"/>
          <p:cNvSpPr/>
          <p:nvPr/>
        </p:nvSpPr>
        <p:spPr>
          <a:xfrm rot="-120000">
            <a:off x="2854896" y="914400"/>
            <a:ext cx="1498283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150" b="1" dirty="0">
                <a:solidFill>
                  <a:srgbClr val="F88B48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your turn!</a:t>
            </a:r>
            <a:endParaRPr lang="en-US" sz="3150" dirty="0"/>
          </a:p>
        </p:txBody>
      </p:sp>
      <p:sp>
        <p:nvSpPr>
          <p:cNvPr id="7" name="Text 3"/>
          <p:cNvSpPr/>
          <p:nvPr/>
        </p:nvSpPr>
        <p:spPr>
          <a:xfrm>
            <a:off x="1238250" y="1447800"/>
            <a:ext cx="17392650" cy="59278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390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Sort the vocabulary.</a:t>
            </a:r>
            <a:endParaRPr lang="en-US" sz="3900" dirty="0"/>
          </a:p>
        </p:txBody>
      </p:sp>
      <p:sp>
        <p:nvSpPr>
          <p:cNvPr id="8" name="Text 4"/>
          <p:cNvSpPr/>
          <p:nvPr/>
        </p:nvSpPr>
        <p:spPr>
          <a:xfrm>
            <a:off x="1238250" y="2097732"/>
            <a:ext cx="1739265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Decide whether each word describes an increase, a decrease, or stability.</a:t>
            </a:r>
            <a:endParaRPr lang="en-US" sz="2250" dirty="0"/>
          </a:p>
        </p:txBody>
      </p:sp>
      <p:sp>
        <p:nvSpPr>
          <p:cNvPr id="9" name="Shape 5"/>
          <p:cNvSpPr/>
          <p:nvPr/>
        </p:nvSpPr>
        <p:spPr>
          <a:xfrm>
            <a:off x="1238250" y="2764482"/>
            <a:ext cx="1351211" cy="547688"/>
          </a:xfrm>
          <a:prstGeom prst="roundRect">
            <a:avLst>
              <a:gd name="adj" fmla="val 50000"/>
            </a:avLst>
          </a:prstGeom>
          <a:solidFill>
            <a:srgbClr val="5FB27B"/>
          </a:solidFill>
          <a:ln/>
        </p:spPr>
      </p:sp>
      <p:sp>
        <p:nvSpPr>
          <p:cNvPr id="10" name="Text 6"/>
          <p:cNvSpPr/>
          <p:nvPr/>
        </p:nvSpPr>
        <p:spPr>
          <a:xfrm>
            <a:off x="1466850" y="2888307"/>
            <a:ext cx="970211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surged</a:t>
            </a:r>
            <a:endParaRPr lang="en-US" sz="1950" dirty="0"/>
          </a:p>
        </p:txBody>
      </p:sp>
      <p:sp>
        <p:nvSpPr>
          <p:cNvPr id="11" name="Shape 7"/>
          <p:cNvSpPr/>
          <p:nvPr/>
        </p:nvSpPr>
        <p:spPr>
          <a:xfrm>
            <a:off x="2722811" y="2764482"/>
            <a:ext cx="1968178" cy="547688"/>
          </a:xfrm>
          <a:prstGeom prst="roundRect">
            <a:avLst>
              <a:gd name="adj" fmla="val 50000"/>
            </a:avLst>
          </a:prstGeom>
          <a:solidFill>
            <a:srgbClr val="5FB27B"/>
          </a:solidFill>
          <a:ln/>
        </p:spPr>
      </p:sp>
      <p:sp>
        <p:nvSpPr>
          <p:cNvPr id="12" name="Text 8"/>
          <p:cNvSpPr/>
          <p:nvPr/>
        </p:nvSpPr>
        <p:spPr>
          <a:xfrm>
            <a:off x="2951411" y="2888307"/>
            <a:ext cx="1587178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plummeted</a:t>
            </a:r>
            <a:endParaRPr lang="en-US" sz="1950" dirty="0"/>
          </a:p>
        </p:txBody>
      </p:sp>
      <p:sp>
        <p:nvSpPr>
          <p:cNvPr id="13" name="Shape 9"/>
          <p:cNvSpPr/>
          <p:nvPr/>
        </p:nvSpPr>
        <p:spPr>
          <a:xfrm>
            <a:off x="4824338" y="2764482"/>
            <a:ext cx="1743075" cy="547688"/>
          </a:xfrm>
          <a:prstGeom prst="roundRect">
            <a:avLst>
              <a:gd name="adj" fmla="val 50000"/>
            </a:avLst>
          </a:prstGeom>
          <a:solidFill>
            <a:srgbClr val="5FB27B"/>
          </a:solidFill>
          <a:ln/>
        </p:spPr>
      </p:sp>
      <p:sp>
        <p:nvSpPr>
          <p:cNvPr id="14" name="Text 10"/>
          <p:cNvSpPr/>
          <p:nvPr/>
        </p:nvSpPr>
        <p:spPr>
          <a:xfrm>
            <a:off x="5052938" y="2888307"/>
            <a:ext cx="1362075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plateaued</a:t>
            </a:r>
            <a:endParaRPr lang="en-US" sz="1950" dirty="0"/>
          </a:p>
        </p:txBody>
      </p:sp>
      <p:sp>
        <p:nvSpPr>
          <p:cNvPr id="15" name="Shape 11"/>
          <p:cNvSpPr/>
          <p:nvPr/>
        </p:nvSpPr>
        <p:spPr>
          <a:xfrm>
            <a:off x="6700763" y="2764482"/>
            <a:ext cx="1497881" cy="547688"/>
          </a:xfrm>
          <a:prstGeom prst="roundRect">
            <a:avLst>
              <a:gd name="adj" fmla="val 50000"/>
            </a:avLst>
          </a:prstGeom>
          <a:solidFill>
            <a:srgbClr val="5FB27B"/>
          </a:solidFill>
          <a:ln/>
        </p:spPr>
      </p:sp>
      <p:sp>
        <p:nvSpPr>
          <p:cNvPr id="16" name="Text 12"/>
          <p:cNvSpPr/>
          <p:nvPr/>
        </p:nvSpPr>
        <p:spPr>
          <a:xfrm>
            <a:off x="6929363" y="2888307"/>
            <a:ext cx="1116881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climbed</a:t>
            </a:r>
            <a:endParaRPr lang="en-US" sz="1950" dirty="0"/>
          </a:p>
        </p:txBody>
      </p:sp>
      <p:sp>
        <p:nvSpPr>
          <p:cNvPr id="17" name="Shape 13"/>
          <p:cNvSpPr/>
          <p:nvPr/>
        </p:nvSpPr>
        <p:spPr>
          <a:xfrm>
            <a:off x="8331994" y="2764482"/>
            <a:ext cx="844153" cy="547688"/>
          </a:xfrm>
          <a:prstGeom prst="roundRect">
            <a:avLst>
              <a:gd name="adj" fmla="val 50000"/>
            </a:avLst>
          </a:prstGeom>
          <a:solidFill>
            <a:srgbClr val="5FB27B"/>
          </a:solidFill>
          <a:ln/>
        </p:spPr>
      </p:sp>
      <p:sp>
        <p:nvSpPr>
          <p:cNvPr id="18" name="Text 14"/>
          <p:cNvSpPr/>
          <p:nvPr/>
        </p:nvSpPr>
        <p:spPr>
          <a:xfrm>
            <a:off x="8560594" y="2888307"/>
            <a:ext cx="463153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fell</a:t>
            </a:r>
            <a:endParaRPr lang="en-US" sz="1950" dirty="0"/>
          </a:p>
        </p:txBody>
      </p:sp>
      <p:sp>
        <p:nvSpPr>
          <p:cNvPr id="19" name="Shape 15"/>
          <p:cNvSpPr/>
          <p:nvPr/>
        </p:nvSpPr>
        <p:spPr>
          <a:xfrm>
            <a:off x="9309497" y="2764482"/>
            <a:ext cx="1783705" cy="547688"/>
          </a:xfrm>
          <a:prstGeom prst="roundRect">
            <a:avLst>
              <a:gd name="adj" fmla="val 50000"/>
            </a:avLst>
          </a:prstGeom>
          <a:solidFill>
            <a:srgbClr val="5FB27B"/>
          </a:solidFill>
          <a:ln/>
        </p:spPr>
      </p:sp>
      <p:sp>
        <p:nvSpPr>
          <p:cNvPr id="20" name="Text 16"/>
          <p:cNvSpPr/>
          <p:nvPr/>
        </p:nvSpPr>
        <p:spPr>
          <a:xfrm>
            <a:off x="9538097" y="2888307"/>
            <a:ext cx="1402705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fluctuated</a:t>
            </a:r>
            <a:endParaRPr lang="en-US" sz="1950" dirty="0"/>
          </a:p>
        </p:txBody>
      </p:sp>
      <p:sp>
        <p:nvSpPr>
          <p:cNvPr id="21" name="Shape 17"/>
          <p:cNvSpPr/>
          <p:nvPr/>
        </p:nvSpPr>
        <p:spPr>
          <a:xfrm>
            <a:off x="11226552" y="2764482"/>
            <a:ext cx="1318692" cy="547688"/>
          </a:xfrm>
          <a:prstGeom prst="roundRect">
            <a:avLst>
              <a:gd name="adj" fmla="val 50000"/>
            </a:avLst>
          </a:prstGeom>
          <a:solidFill>
            <a:srgbClr val="5FB27B"/>
          </a:solidFill>
          <a:ln/>
        </p:spPr>
      </p:sp>
      <p:sp>
        <p:nvSpPr>
          <p:cNvPr id="22" name="Text 18"/>
          <p:cNvSpPr/>
          <p:nvPr/>
        </p:nvSpPr>
        <p:spPr>
          <a:xfrm>
            <a:off x="11455152" y="2888307"/>
            <a:ext cx="937692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soared</a:t>
            </a:r>
            <a:endParaRPr lang="en-US" sz="1950" dirty="0"/>
          </a:p>
        </p:txBody>
      </p:sp>
      <p:sp>
        <p:nvSpPr>
          <p:cNvPr id="23" name="Shape 19"/>
          <p:cNvSpPr/>
          <p:nvPr/>
        </p:nvSpPr>
        <p:spPr>
          <a:xfrm>
            <a:off x="12678594" y="2764482"/>
            <a:ext cx="1561281" cy="547688"/>
          </a:xfrm>
          <a:prstGeom prst="roundRect">
            <a:avLst>
              <a:gd name="adj" fmla="val 50000"/>
            </a:avLst>
          </a:prstGeom>
          <a:solidFill>
            <a:srgbClr val="5FB27B"/>
          </a:solidFill>
          <a:ln/>
        </p:spPr>
      </p:sp>
      <p:sp>
        <p:nvSpPr>
          <p:cNvPr id="24" name="Text 20"/>
          <p:cNvSpPr/>
          <p:nvPr/>
        </p:nvSpPr>
        <p:spPr>
          <a:xfrm>
            <a:off x="12907194" y="2888307"/>
            <a:ext cx="1180281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declined</a:t>
            </a:r>
            <a:endParaRPr lang="en-US" sz="1950" dirty="0"/>
          </a:p>
        </p:txBody>
      </p:sp>
      <p:sp>
        <p:nvSpPr>
          <p:cNvPr id="25" name="Shape 21"/>
          <p:cNvSpPr/>
          <p:nvPr/>
        </p:nvSpPr>
        <p:spPr>
          <a:xfrm>
            <a:off x="14373225" y="2764482"/>
            <a:ext cx="2531566" cy="547688"/>
          </a:xfrm>
          <a:prstGeom prst="roundRect">
            <a:avLst>
              <a:gd name="adj" fmla="val 50000"/>
            </a:avLst>
          </a:prstGeom>
          <a:solidFill>
            <a:srgbClr val="5FB27B"/>
          </a:solidFill>
          <a:ln/>
        </p:spPr>
      </p:sp>
      <p:sp>
        <p:nvSpPr>
          <p:cNvPr id="26" name="Text 22"/>
          <p:cNvSpPr/>
          <p:nvPr/>
        </p:nvSpPr>
        <p:spPr>
          <a:xfrm>
            <a:off x="14601825" y="2888307"/>
            <a:ext cx="2150566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remained stable</a:t>
            </a:r>
            <a:endParaRPr lang="en-US" sz="1950" dirty="0"/>
          </a:p>
        </p:txBody>
      </p:sp>
      <p:sp>
        <p:nvSpPr>
          <p:cNvPr id="27" name="Text 23"/>
          <p:cNvSpPr/>
          <p:nvPr/>
        </p:nvSpPr>
        <p:spPr>
          <a:xfrm>
            <a:off x="2762101" y="3769370"/>
            <a:ext cx="385390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550" dirty="0">
                <a:solidFill>
                  <a:srgbClr val="5FB2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↗</a:t>
            </a:r>
            <a:endParaRPr lang="en-US" sz="2550" dirty="0"/>
          </a:p>
        </p:txBody>
      </p:sp>
      <p:sp>
        <p:nvSpPr>
          <p:cNvPr id="28" name="Text 24"/>
          <p:cNvSpPr/>
          <p:nvPr/>
        </p:nvSpPr>
        <p:spPr>
          <a:xfrm>
            <a:off x="3204642" y="3814614"/>
            <a:ext cx="1622867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spc="150" kern="0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INCREASE</a:t>
            </a:r>
            <a:endParaRPr lang="en-US" sz="1950" dirty="0"/>
          </a:p>
        </p:txBody>
      </p:sp>
      <p:sp>
        <p:nvSpPr>
          <p:cNvPr id="29" name="Shape 25"/>
          <p:cNvSpPr/>
          <p:nvPr/>
        </p:nvSpPr>
        <p:spPr>
          <a:xfrm>
            <a:off x="1238250" y="4350395"/>
            <a:ext cx="4965650" cy="3619500"/>
          </a:xfrm>
          <a:prstGeom prst="roundRect">
            <a:avLst>
              <a:gd name="adj" fmla="val 4737"/>
            </a:avLst>
          </a:prstGeom>
          <a:solidFill>
            <a:srgbClr val="FFFFFF">
              <a:alpha val="50000"/>
            </a:srgbClr>
          </a:solidFill>
          <a:ln w="19050">
            <a:solidFill>
              <a:srgbClr val="5FB27B">
                <a:alpha val="60000"/>
              </a:srgbClr>
            </a:solidFill>
            <a:prstDash val="dash"/>
          </a:ln>
        </p:spPr>
      </p:sp>
      <p:sp>
        <p:nvSpPr>
          <p:cNvPr id="30" name="Text 26"/>
          <p:cNvSpPr/>
          <p:nvPr/>
        </p:nvSpPr>
        <p:spPr>
          <a:xfrm>
            <a:off x="8140378" y="3769370"/>
            <a:ext cx="385390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550" dirty="0">
                <a:solidFill>
                  <a:srgbClr val="F88B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↘</a:t>
            </a:r>
            <a:endParaRPr lang="en-US" sz="2550" dirty="0"/>
          </a:p>
        </p:txBody>
      </p:sp>
      <p:sp>
        <p:nvSpPr>
          <p:cNvPr id="31" name="Text 27"/>
          <p:cNvSpPr/>
          <p:nvPr/>
        </p:nvSpPr>
        <p:spPr>
          <a:xfrm>
            <a:off x="8582918" y="3814614"/>
            <a:ext cx="1721093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spc="150" kern="0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DECREASE</a:t>
            </a:r>
            <a:endParaRPr lang="en-US" sz="1950" dirty="0"/>
          </a:p>
        </p:txBody>
      </p:sp>
      <p:sp>
        <p:nvSpPr>
          <p:cNvPr id="32" name="Shape 28"/>
          <p:cNvSpPr/>
          <p:nvPr/>
        </p:nvSpPr>
        <p:spPr>
          <a:xfrm>
            <a:off x="6661100" y="4350395"/>
            <a:ext cx="4965725" cy="3619500"/>
          </a:xfrm>
          <a:prstGeom prst="roundRect">
            <a:avLst>
              <a:gd name="adj" fmla="val 4737"/>
            </a:avLst>
          </a:prstGeom>
          <a:solidFill>
            <a:srgbClr val="FFFFFF">
              <a:alpha val="50000"/>
            </a:srgbClr>
          </a:solidFill>
          <a:ln w="19050">
            <a:solidFill>
              <a:srgbClr val="5FB27B">
                <a:alpha val="60000"/>
              </a:srgbClr>
            </a:solidFill>
            <a:prstDash val="dash"/>
          </a:ln>
        </p:spPr>
      </p:sp>
      <p:sp>
        <p:nvSpPr>
          <p:cNvPr id="33" name="Text 29"/>
          <p:cNvSpPr/>
          <p:nvPr/>
        </p:nvSpPr>
        <p:spPr>
          <a:xfrm>
            <a:off x="13605718" y="3769370"/>
            <a:ext cx="385390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55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2550" dirty="0"/>
          </a:p>
        </p:txBody>
      </p:sp>
      <p:sp>
        <p:nvSpPr>
          <p:cNvPr id="34" name="Text 30"/>
          <p:cNvSpPr/>
          <p:nvPr/>
        </p:nvSpPr>
        <p:spPr>
          <a:xfrm>
            <a:off x="14048259" y="3814614"/>
            <a:ext cx="1627696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spc="150" kern="0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STABILITY</a:t>
            </a:r>
            <a:endParaRPr lang="en-US" sz="1950" dirty="0"/>
          </a:p>
        </p:txBody>
      </p:sp>
      <p:sp>
        <p:nvSpPr>
          <p:cNvPr id="35" name="Shape 31"/>
          <p:cNvSpPr/>
          <p:nvPr/>
        </p:nvSpPr>
        <p:spPr>
          <a:xfrm>
            <a:off x="12084025" y="4350395"/>
            <a:ext cx="4965650" cy="3619500"/>
          </a:xfrm>
          <a:prstGeom prst="roundRect">
            <a:avLst>
              <a:gd name="adj" fmla="val 4737"/>
            </a:avLst>
          </a:prstGeom>
          <a:solidFill>
            <a:srgbClr val="FFFFFF">
              <a:alpha val="50000"/>
            </a:srgbClr>
          </a:solidFill>
          <a:ln w="19050">
            <a:solidFill>
              <a:srgbClr val="5FB27B">
                <a:alpha val="60000"/>
              </a:srgbClr>
            </a:solidFill>
            <a:prstDash val="dash"/>
          </a:ln>
        </p:spPr>
      </p:sp>
      <p:sp>
        <p:nvSpPr>
          <p:cNvPr id="36" name="Text 32"/>
          <p:cNvSpPr/>
          <p:nvPr/>
        </p:nvSpPr>
        <p:spPr>
          <a:xfrm>
            <a:off x="1238250" y="9491663"/>
            <a:ext cx="6391029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Lesson 2 of 6 · IELTS Writing Task 1 · orangeenglish.nl</a:t>
            </a:r>
            <a:endParaRPr lang="en-US" sz="1800" dirty="0"/>
          </a:p>
        </p:txBody>
      </p:sp>
      <p:sp>
        <p:nvSpPr>
          <p:cNvPr id="37" name="Text 33"/>
          <p:cNvSpPr/>
          <p:nvPr/>
        </p:nvSpPr>
        <p:spPr>
          <a:xfrm>
            <a:off x="16908289" y="9491663"/>
            <a:ext cx="217661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AF8F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49650" y="609600"/>
            <a:ext cx="1123950" cy="1354187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238250" y="1028700"/>
            <a:ext cx="1526768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5FB2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ACTIVITY</a:t>
            </a:r>
            <a:endParaRPr lang="en-US" sz="1800" dirty="0"/>
          </a:p>
        </p:txBody>
      </p:sp>
      <p:sp>
        <p:nvSpPr>
          <p:cNvPr id="6" name="Text 2"/>
          <p:cNvSpPr/>
          <p:nvPr/>
        </p:nvSpPr>
        <p:spPr>
          <a:xfrm rot="-120000">
            <a:off x="2853854" y="914400"/>
            <a:ext cx="1655445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150" b="1" dirty="0">
                <a:solidFill>
                  <a:srgbClr val="F88B48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answer key</a:t>
            </a:r>
            <a:endParaRPr lang="en-US" sz="3150" dirty="0"/>
          </a:p>
        </p:txBody>
      </p:sp>
      <p:sp>
        <p:nvSpPr>
          <p:cNvPr id="7" name="Text 3"/>
          <p:cNvSpPr/>
          <p:nvPr/>
        </p:nvSpPr>
        <p:spPr>
          <a:xfrm>
            <a:off x="1238250" y="1447800"/>
            <a:ext cx="17392650" cy="59278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390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How the words sort out.</a:t>
            </a:r>
            <a:endParaRPr lang="en-US" sz="3900" dirty="0"/>
          </a:p>
        </p:txBody>
      </p:sp>
      <p:sp>
        <p:nvSpPr>
          <p:cNvPr id="8" name="Text 4"/>
          <p:cNvSpPr/>
          <p:nvPr/>
        </p:nvSpPr>
        <p:spPr>
          <a:xfrm>
            <a:off x="1238250" y="2097732"/>
            <a:ext cx="1739265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describe direction, two describe stability, and one fits none of them.</a:t>
            </a:r>
            <a:endParaRPr lang="en-US" sz="2250" dirty="0"/>
          </a:p>
        </p:txBody>
      </p:sp>
      <p:sp>
        <p:nvSpPr>
          <p:cNvPr id="9" name="Text 5"/>
          <p:cNvSpPr/>
          <p:nvPr/>
        </p:nvSpPr>
        <p:spPr>
          <a:xfrm>
            <a:off x="2762101" y="2821632"/>
            <a:ext cx="385390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550" dirty="0">
                <a:solidFill>
                  <a:srgbClr val="5FB2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↗</a:t>
            </a:r>
            <a:endParaRPr lang="en-US" sz="2550" dirty="0"/>
          </a:p>
        </p:txBody>
      </p:sp>
      <p:sp>
        <p:nvSpPr>
          <p:cNvPr id="10" name="Text 6"/>
          <p:cNvSpPr/>
          <p:nvPr/>
        </p:nvSpPr>
        <p:spPr>
          <a:xfrm>
            <a:off x="3204642" y="2866876"/>
            <a:ext cx="1622867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spc="150" kern="0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INCREASE</a:t>
            </a:r>
            <a:endParaRPr lang="en-US" sz="1950" dirty="0"/>
          </a:p>
        </p:txBody>
      </p:sp>
      <p:sp>
        <p:nvSpPr>
          <p:cNvPr id="11" name="Shape 7"/>
          <p:cNvSpPr/>
          <p:nvPr/>
        </p:nvSpPr>
        <p:spPr>
          <a:xfrm>
            <a:off x="1238250" y="3402657"/>
            <a:ext cx="4965650" cy="3238500"/>
          </a:xfrm>
          <a:prstGeom prst="roundRect">
            <a:avLst>
              <a:gd name="adj" fmla="val 5294"/>
            </a:avLst>
          </a:prstGeom>
          <a:solidFill>
            <a:srgbClr val="5FB27B">
              <a:alpha val="8000"/>
            </a:srgbClr>
          </a:solidFill>
          <a:ln w="19050">
            <a:solidFill>
              <a:srgbClr val="5FB27B">
                <a:alpha val="45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953941" y="3964632"/>
            <a:ext cx="1534269" cy="590550"/>
          </a:xfrm>
          <a:prstGeom prst="roundRect">
            <a:avLst>
              <a:gd name="adj" fmla="val 50000"/>
            </a:avLst>
          </a:prstGeom>
          <a:solidFill>
            <a:srgbClr val="5FB27B"/>
          </a:solidFill>
          <a:ln/>
        </p:spPr>
      </p:sp>
      <p:sp>
        <p:nvSpPr>
          <p:cNvPr id="13" name="Text 9"/>
          <p:cNvSpPr/>
          <p:nvPr/>
        </p:nvSpPr>
        <p:spPr>
          <a:xfrm>
            <a:off x="3239691" y="4097982"/>
            <a:ext cx="1038969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surged</a:t>
            </a:r>
            <a:endParaRPr lang="en-US" sz="2100" dirty="0"/>
          </a:p>
        </p:txBody>
      </p:sp>
      <p:sp>
        <p:nvSpPr>
          <p:cNvPr id="14" name="Shape 10"/>
          <p:cNvSpPr/>
          <p:nvPr/>
        </p:nvSpPr>
        <p:spPr>
          <a:xfrm>
            <a:off x="2874913" y="4726632"/>
            <a:ext cx="1692250" cy="590550"/>
          </a:xfrm>
          <a:prstGeom prst="roundRect">
            <a:avLst>
              <a:gd name="adj" fmla="val 50000"/>
            </a:avLst>
          </a:prstGeom>
          <a:solidFill>
            <a:srgbClr val="5FB27B"/>
          </a:solidFill>
          <a:ln/>
        </p:spPr>
      </p:sp>
      <p:sp>
        <p:nvSpPr>
          <p:cNvPr id="15" name="Text 11"/>
          <p:cNvSpPr/>
          <p:nvPr/>
        </p:nvSpPr>
        <p:spPr>
          <a:xfrm>
            <a:off x="3160663" y="4859982"/>
            <a:ext cx="1196950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climbed</a:t>
            </a:r>
            <a:endParaRPr lang="en-US" sz="2100" dirty="0"/>
          </a:p>
        </p:txBody>
      </p:sp>
      <p:sp>
        <p:nvSpPr>
          <p:cNvPr id="16" name="Shape 12"/>
          <p:cNvSpPr/>
          <p:nvPr/>
        </p:nvSpPr>
        <p:spPr>
          <a:xfrm>
            <a:off x="2971428" y="5488632"/>
            <a:ext cx="1499220" cy="590550"/>
          </a:xfrm>
          <a:prstGeom prst="roundRect">
            <a:avLst>
              <a:gd name="adj" fmla="val 50000"/>
            </a:avLst>
          </a:prstGeom>
          <a:solidFill>
            <a:srgbClr val="5FB27B"/>
          </a:solidFill>
          <a:ln/>
        </p:spPr>
      </p:sp>
      <p:sp>
        <p:nvSpPr>
          <p:cNvPr id="17" name="Text 13"/>
          <p:cNvSpPr/>
          <p:nvPr/>
        </p:nvSpPr>
        <p:spPr>
          <a:xfrm>
            <a:off x="3257178" y="5621982"/>
            <a:ext cx="1003920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soared</a:t>
            </a:r>
            <a:endParaRPr lang="en-US" sz="2100" dirty="0"/>
          </a:p>
        </p:txBody>
      </p:sp>
      <p:sp>
        <p:nvSpPr>
          <p:cNvPr id="18" name="Text 14"/>
          <p:cNvSpPr/>
          <p:nvPr/>
        </p:nvSpPr>
        <p:spPr>
          <a:xfrm>
            <a:off x="8140378" y="2821632"/>
            <a:ext cx="385390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550" dirty="0">
                <a:solidFill>
                  <a:srgbClr val="F88B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↘</a:t>
            </a:r>
            <a:endParaRPr lang="en-US" sz="2550" dirty="0"/>
          </a:p>
        </p:txBody>
      </p:sp>
      <p:sp>
        <p:nvSpPr>
          <p:cNvPr id="19" name="Text 15"/>
          <p:cNvSpPr/>
          <p:nvPr/>
        </p:nvSpPr>
        <p:spPr>
          <a:xfrm>
            <a:off x="8582918" y="2866876"/>
            <a:ext cx="1721093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spc="150" kern="0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DECREASE</a:t>
            </a:r>
            <a:endParaRPr lang="en-US" sz="1950" dirty="0"/>
          </a:p>
        </p:txBody>
      </p:sp>
      <p:sp>
        <p:nvSpPr>
          <p:cNvPr id="20" name="Shape 16"/>
          <p:cNvSpPr/>
          <p:nvPr/>
        </p:nvSpPr>
        <p:spPr>
          <a:xfrm>
            <a:off x="6661100" y="3402657"/>
            <a:ext cx="4965725" cy="3238500"/>
          </a:xfrm>
          <a:prstGeom prst="roundRect">
            <a:avLst>
              <a:gd name="adj" fmla="val 5294"/>
            </a:avLst>
          </a:prstGeom>
          <a:solidFill>
            <a:srgbClr val="F88B48">
              <a:alpha val="8000"/>
            </a:srgbClr>
          </a:solidFill>
          <a:ln w="19050">
            <a:solidFill>
              <a:srgbClr val="F88B48">
                <a:alpha val="45000"/>
              </a:srgbClr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8044607" y="3964632"/>
            <a:ext cx="2198712" cy="590550"/>
          </a:xfrm>
          <a:prstGeom prst="roundRect">
            <a:avLst>
              <a:gd name="adj" fmla="val 50000"/>
            </a:avLst>
          </a:prstGeom>
          <a:solidFill>
            <a:srgbClr val="F88B48"/>
          </a:solidFill>
          <a:ln/>
        </p:spPr>
      </p:sp>
      <p:sp>
        <p:nvSpPr>
          <p:cNvPr id="22" name="Text 18"/>
          <p:cNvSpPr/>
          <p:nvPr/>
        </p:nvSpPr>
        <p:spPr>
          <a:xfrm>
            <a:off x="8330357" y="4097982"/>
            <a:ext cx="1703412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plummeted</a:t>
            </a:r>
            <a:endParaRPr lang="en-US" sz="2100" dirty="0"/>
          </a:p>
        </p:txBody>
      </p:sp>
      <p:sp>
        <p:nvSpPr>
          <p:cNvPr id="23" name="Shape 19"/>
          <p:cNvSpPr/>
          <p:nvPr/>
        </p:nvSpPr>
        <p:spPr>
          <a:xfrm>
            <a:off x="8649816" y="4726632"/>
            <a:ext cx="988219" cy="590550"/>
          </a:xfrm>
          <a:prstGeom prst="roundRect">
            <a:avLst>
              <a:gd name="adj" fmla="val 50000"/>
            </a:avLst>
          </a:prstGeom>
          <a:solidFill>
            <a:srgbClr val="F88B48"/>
          </a:solidFill>
          <a:ln/>
        </p:spPr>
      </p:sp>
      <p:sp>
        <p:nvSpPr>
          <p:cNvPr id="24" name="Text 20"/>
          <p:cNvSpPr/>
          <p:nvPr/>
        </p:nvSpPr>
        <p:spPr>
          <a:xfrm>
            <a:off x="8935566" y="4859982"/>
            <a:ext cx="492919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fell</a:t>
            </a:r>
            <a:endParaRPr lang="en-US" sz="2100" dirty="0"/>
          </a:p>
        </p:txBody>
      </p:sp>
      <p:sp>
        <p:nvSpPr>
          <p:cNvPr id="25" name="Shape 21"/>
          <p:cNvSpPr/>
          <p:nvPr/>
        </p:nvSpPr>
        <p:spPr>
          <a:xfrm>
            <a:off x="8263682" y="5488632"/>
            <a:ext cx="1760562" cy="590550"/>
          </a:xfrm>
          <a:prstGeom prst="roundRect">
            <a:avLst>
              <a:gd name="adj" fmla="val 50000"/>
            </a:avLst>
          </a:prstGeom>
          <a:solidFill>
            <a:srgbClr val="F88B48"/>
          </a:solidFill>
          <a:ln/>
        </p:spPr>
      </p:sp>
      <p:sp>
        <p:nvSpPr>
          <p:cNvPr id="26" name="Text 22"/>
          <p:cNvSpPr/>
          <p:nvPr/>
        </p:nvSpPr>
        <p:spPr>
          <a:xfrm>
            <a:off x="8549432" y="5621982"/>
            <a:ext cx="1265262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declined</a:t>
            </a:r>
            <a:endParaRPr lang="en-US" sz="2100" dirty="0"/>
          </a:p>
        </p:txBody>
      </p:sp>
      <p:sp>
        <p:nvSpPr>
          <p:cNvPr id="27" name="Text 23"/>
          <p:cNvSpPr/>
          <p:nvPr/>
        </p:nvSpPr>
        <p:spPr>
          <a:xfrm>
            <a:off x="13605718" y="2821632"/>
            <a:ext cx="385390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55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2550" dirty="0"/>
          </a:p>
        </p:txBody>
      </p:sp>
      <p:sp>
        <p:nvSpPr>
          <p:cNvPr id="28" name="Text 24"/>
          <p:cNvSpPr/>
          <p:nvPr/>
        </p:nvSpPr>
        <p:spPr>
          <a:xfrm>
            <a:off x="14048259" y="2866876"/>
            <a:ext cx="1627696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spc="150" kern="0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STABILITY</a:t>
            </a:r>
            <a:endParaRPr lang="en-US" sz="1950" dirty="0"/>
          </a:p>
        </p:txBody>
      </p:sp>
      <p:sp>
        <p:nvSpPr>
          <p:cNvPr id="29" name="Shape 25"/>
          <p:cNvSpPr/>
          <p:nvPr/>
        </p:nvSpPr>
        <p:spPr>
          <a:xfrm>
            <a:off x="12084025" y="3402657"/>
            <a:ext cx="4965650" cy="3238500"/>
          </a:xfrm>
          <a:prstGeom prst="roundRect">
            <a:avLst>
              <a:gd name="adj" fmla="val 5294"/>
            </a:avLst>
          </a:prstGeom>
          <a:solidFill>
            <a:srgbClr val="292929">
              <a:alpha val="4000"/>
            </a:srgbClr>
          </a:solidFill>
          <a:ln w="19050">
            <a:solidFill>
              <a:srgbClr val="292929">
                <a:alpha val="16000"/>
              </a:srgbClr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13588678" y="4345632"/>
            <a:ext cx="1956271" cy="590550"/>
          </a:xfrm>
          <a:prstGeom prst="roundRect">
            <a:avLst>
              <a:gd name="adj" fmla="val 50000"/>
            </a:avLst>
          </a:prstGeom>
          <a:solidFill>
            <a:srgbClr val="6B625B"/>
          </a:solidFill>
          <a:ln/>
        </p:spPr>
      </p:sp>
      <p:sp>
        <p:nvSpPr>
          <p:cNvPr id="31" name="Text 27"/>
          <p:cNvSpPr/>
          <p:nvPr/>
        </p:nvSpPr>
        <p:spPr>
          <a:xfrm>
            <a:off x="13874428" y="4478982"/>
            <a:ext cx="1460971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plateaued</a:t>
            </a:r>
            <a:endParaRPr lang="en-US" sz="2100" dirty="0"/>
          </a:p>
        </p:txBody>
      </p:sp>
      <p:sp>
        <p:nvSpPr>
          <p:cNvPr id="32" name="Shape 28"/>
          <p:cNvSpPr/>
          <p:nvPr/>
        </p:nvSpPr>
        <p:spPr>
          <a:xfrm>
            <a:off x="13164145" y="5107632"/>
            <a:ext cx="2805410" cy="590550"/>
          </a:xfrm>
          <a:prstGeom prst="roundRect">
            <a:avLst>
              <a:gd name="adj" fmla="val 50000"/>
            </a:avLst>
          </a:prstGeom>
          <a:solidFill>
            <a:srgbClr val="6B625B"/>
          </a:solidFill>
          <a:ln/>
        </p:spPr>
      </p:sp>
      <p:sp>
        <p:nvSpPr>
          <p:cNvPr id="33" name="Text 29"/>
          <p:cNvSpPr/>
          <p:nvPr/>
        </p:nvSpPr>
        <p:spPr>
          <a:xfrm>
            <a:off x="13449895" y="5240982"/>
            <a:ext cx="2318072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remained stable</a:t>
            </a:r>
            <a:endParaRPr lang="en-US" sz="2100" dirty="0"/>
          </a:p>
        </p:txBody>
      </p:sp>
      <p:sp>
        <p:nvSpPr>
          <p:cNvPr id="34" name="Shape 30"/>
          <p:cNvSpPr/>
          <p:nvPr/>
        </p:nvSpPr>
        <p:spPr>
          <a:xfrm>
            <a:off x="1238250" y="6926907"/>
            <a:ext cx="12382500" cy="928688"/>
          </a:xfrm>
          <a:prstGeom prst="roundRect">
            <a:avLst>
              <a:gd name="adj" fmla="val 14359"/>
            </a:avLst>
          </a:prstGeom>
          <a:solidFill>
            <a:srgbClr val="F88B48">
              <a:alpha val="12000"/>
            </a:srgbClr>
          </a:solidFill>
          <a:ln/>
        </p:spPr>
      </p:sp>
      <p:sp>
        <p:nvSpPr>
          <p:cNvPr id="35" name="Shape 31"/>
          <p:cNvSpPr/>
          <p:nvPr/>
        </p:nvSpPr>
        <p:spPr>
          <a:xfrm>
            <a:off x="1504950" y="7117407"/>
            <a:ext cx="1859905" cy="5476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F88B48"/>
            </a:solidFill>
            <a:prstDash val="solid"/>
          </a:ln>
        </p:spPr>
      </p:sp>
      <p:sp>
        <p:nvSpPr>
          <p:cNvPr id="36" name="Text 32"/>
          <p:cNvSpPr/>
          <p:nvPr/>
        </p:nvSpPr>
        <p:spPr>
          <a:xfrm>
            <a:off x="1771650" y="7241232"/>
            <a:ext cx="1402705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B042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fluctuated</a:t>
            </a:r>
            <a:endParaRPr lang="en-US" sz="1950" dirty="0"/>
          </a:p>
        </p:txBody>
      </p:sp>
      <p:sp>
        <p:nvSpPr>
          <p:cNvPr id="37" name="Text 33"/>
          <p:cNvSpPr/>
          <p:nvPr/>
        </p:nvSpPr>
        <p:spPr>
          <a:xfrm>
            <a:off x="3536305" y="7217643"/>
            <a:ext cx="9637254" cy="38524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2025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trick word, it describes </a:t>
            </a:r>
            <a:pPr algn="l" indent="0" marL="0">
              <a:lnSpc>
                <a:spcPct val="135000"/>
              </a:lnSpc>
              <a:buNone/>
            </a:pPr>
            <a:r>
              <a:rPr lang="en-US" sz="2025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fluctuation </a:t>
            </a:r>
            <a:pPr algn="l" indent="0" marL="0">
              <a:lnSpc>
                <a:spcPct val="135000"/>
              </a:lnSpc>
              <a:buNone/>
            </a:pPr>
            <a:r>
              <a:rPr lang="en-US" sz="2025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and belongs to none of the three.</a:t>
            </a:r>
            <a:endParaRPr lang="en-US" sz="2025" dirty="0"/>
          </a:p>
        </p:txBody>
      </p:sp>
      <p:sp>
        <p:nvSpPr>
          <p:cNvPr id="38" name="Text 34"/>
          <p:cNvSpPr/>
          <p:nvPr/>
        </p:nvSpPr>
        <p:spPr>
          <a:xfrm>
            <a:off x="1238250" y="9491663"/>
            <a:ext cx="6391029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Lesson 2 of 6 · IELTS Writing Task 1 · orangeenglish.nl</a:t>
            </a:r>
            <a:endParaRPr lang="en-US" sz="1800" dirty="0"/>
          </a:p>
        </p:txBody>
      </p:sp>
      <p:sp>
        <p:nvSpPr>
          <p:cNvPr id="39" name="Text 35"/>
          <p:cNvSpPr/>
          <p:nvPr/>
        </p:nvSpPr>
        <p:spPr>
          <a:xfrm>
            <a:off x="16907991" y="9491663"/>
            <a:ext cx="217959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AF8F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49650" y="609600"/>
            <a:ext cx="1123950" cy="1354187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238250" y="914400"/>
            <a:ext cx="1739265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5FB2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TAKEAWAYS</a:t>
            </a:r>
            <a:endParaRPr lang="en-US" sz="1800" dirty="0"/>
          </a:p>
        </p:txBody>
      </p:sp>
      <p:sp>
        <p:nvSpPr>
          <p:cNvPr id="6" name="Text 2"/>
          <p:cNvSpPr/>
          <p:nvPr/>
        </p:nvSpPr>
        <p:spPr>
          <a:xfrm>
            <a:off x="1238250" y="1323975"/>
            <a:ext cx="17392650" cy="61413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405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to carry into your writing.</a:t>
            </a:r>
            <a:endParaRPr lang="en-US" sz="4050" dirty="0"/>
          </a:p>
        </p:txBody>
      </p:sp>
      <p:sp>
        <p:nvSpPr>
          <p:cNvPr id="7" name="Shape 3"/>
          <p:cNvSpPr/>
          <p:nvPr/>
        </p:nvSpPr>
        <p:spPr>
          <a:xfrm>
            <a:off x="1238250" y="2509614"/>
            <a:ext cx="171450" cy="171450"/>
          </a:xfrm>
          <a:prstGeom prst="ellipse">
            <a:avLst/>
          </a:prstGeom>
          <a:solidFill>
            <a:srgbClr val="5FB27B"/>
          </a:solidFill>
          <a:ln/>
        </p:spPr>
      </p:sp>
      <p:sp>
        <p:nvSpPr>
          <p:cNvPr id="8" name="Text 4"/>
          <p:cNvSpPr/>
          <p:nvPr/>
        </p:nvSpPr>
        <p:spPr>
          <a:xfrm>
            <a:off x="1657350" y="2376264"/>
            <a:ext cx="11049424" cy="4800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00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Vary your verbs</a:t>
            </a:r>
            <a:pPr algn="l" indent="0" marL="0">
              <a:lnSpc>
                <a:spcPct val="145000"/>
              </a:lnSpc>
              <a:buNone/>
            </a:pPr>
            <a:r>
              <a:rPr lang="en-US" sz="24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don't repeat "went up / went down" for every graph.</a:t>
            </a:r>
            <a:endParaRPr lang="en-US" sz="2400" dirty="0"/>
          </a:p>
        </p:txBody>
      </p:sp>
      <p:sp>
        <p:nvSpPr>
          <p:cNvPr id="9" name="Shape 5"/>
          <p:cNvSpPr/>
          <p:nvPr/>
        </p:nvSpPr>
        <p:spPr>
          <a:xfrm>
            <a:off x="1238250" y="3218259"/>
            <a:ext cx="171450" cy="171450"/>
          </a:xfrm>
          <a:prstGeom prst="ellipse">
            <a:avLst/>
          </a:prstGeom>
          <a:solidFill>
            <a:srgbClr val="5FB27B"/>
          </a:solidFill>
          <a:ln/>
        </p:spPr>
      </p:sp>
      <p:sp>
        <p:nvSpPr>
          <p:cNvPr id="10" name="Text 6"/>
          <p:cNvSpPr/>
          <p:nvPr/>
        </p:nvSpPr>
        <p:spPr>
          <a:xfrm>
            <a:off x="1657350" y="3084909"/>
            <a:ext cx="10237745" cy="4800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Match the adverb to the trend: </a:t>
            </a:r>
            <a:pPr algn="l" indent="0" marL="0">
              <a:lnSpc>
                <a:spcPct val="145000"/>
              </a:lnSpc>
              <a:buNone/>
            </a:pPr>
            <a:r>
              <a:rPr lang="en-US" sz="2400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slightly, steadily, </a:t>
            </a:r>
            <a:pPr algn="l" indent="0" marL="0">
              <a:lnSpc>
                <a:spcPct val="145000"/>
              </a:lnSpc>
              <a:buNone/>
            </a:pPr>
            <a:r>
              <a:rPr lang="en-US" sz="24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 </a:t>
            </a:r>
            <a:pPr algn="l" indent="0" marL="0">
              <a:lnSpc>
                <a:spcPct val="145000"/>
              </a:lnSpc>
              <a:buNone/>
            </a:pPr>
            <a:r>
              <a:rPr lang="en-US" sz="2400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dramatically</a:t>
            </a:r>
            <a:pPr algn="l" indent="0" marL="0">
              <a:lnSpc>
                <a:spcPct val="145000"/>
              </a:lnSpc>
              <a:buNone/>
            </a:pPr>
            <a:r>
              <a:rPr lang="en-US" sz="24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2400" dirty="0"/>
          </a:p>
        </p:txBody>
      </p:sp>
      <p:sp>
        <p:nvSpPr>
          <p:cNvPr id="11" name="Shape 7"/>
          <p:cNvSpPr/>
          <p:nvPr/>
        </p:nvSpPr>
        <p:spPr>
          <a:xfrm>
            <a:off x="1238250" y="3926904"/>
            <a:ext cx="171450" cy="171450"/>
          </a:xfrm>
          <a:prstGeom prst="ellipse">
            <a:avLst/>
          </a:prstGeom>
          <a:solidFill>
            <a:srgbClr val="5FB27B"/>
          </a:solidFill>
          <a:ln/>
        </p:spPr>
      </p:sp>
      <p:sp>
        <p:nvSpPr>
          <p:cNvPr id="12" name="Text 8"/>
          <p:cNvSpPr/>
          <p:nvPr/>
        </p:nvSpPr>
        <p:spPr>
          <a:xfrm>
            <a:off x="1657350" y="3793554"/>
            <a:ext cx="10339246" cy="4800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Always </a:t>
            </a:r>
            <a:pPr algn="l" indent="0" marL="0">
              <a:lnSpc>
                <a:spcPct val="145000"/>
              </a:lnSpc>
              <a:buNone/>
            </a:pPr>
            <a:r>
              <a:rPr lang="en-US" sz="2400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anchor the data in time</a:t>
            </a:r>
            <a:pPr algn="l" indent="0" marL="0">
              <a:lnSpc>
                <a:spcPct val="145000"/>
              </a:lnSpc>
              <a:buNone/>
            </a:pPr>
            <a:r>
              <a:rPr lang="en-US" sz="24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using accurate time expressions.</a:t>
            </a:r>
            <a:endParaRPr lang="en-US" sz="2400" dirty="0"/>
          </a:p>
        </p:txBody>
      </p:sp>
      <p:sp>
        <p:nvSpPr>
          <p:cNvPr id="13" name="Shape 9"/>
          <p:cNvSpPr/>
          <p:nvPr/>
        </p:nvSpPr>
        <p:spPr>
          <a:xfrm>
            <a:off x="1238250" y="4635550"/>
            <a:ext cx="171450" cy="171450"/>
          </a:xfrm>
          <a:prstGeom prst="ellipse">
            <a:avLst/>
          </a:prstGeom>
          <a:solidFill>
            <a:srgbClr val="5FB27B"/>
          </a:solidFill>
          <a:ln/>
        </p:spPr>
      </p:sp>
      <p:sp>
        <p:nvSpPr>
          <p:cNvPr id="14" name="Text 10"/>
          <p:cNvSpPr/>
          <p:nvPr/>
        </p:nvSpPr>
        <p:spPr>
          <a:xfrm>
            <a:off x="1657350" y="4502200"/>
            <a:ext cx="12715756" cy="4800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00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Precision beats decoration</a:t>
            </a:r>
            <a:pPr algn="l" indent="0" marL="0">
              <a:lnSpc>
                <a:spcPct val="145000"/>
              </a:lnSpc>
              <a:buNone/>
            </a:pPr>
            <a:r>
              <a:rPr lang="en-US" sz="24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one well-chosen verb outperforms a long sentence.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 rot="-120000">
            <a:off x="11858673" y="8015288"/>
            <a:ext cx="5189887" cy="4476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2550" b="1" dirty="0">
                <a:solidFill>
                  <a:srgbClr val="F88B48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next up →</a:t>
            </a:r>
            <a:endParaRPr lang="en-US" sz="2550" dirty="0"/>
          </a:p>
        </p:txBody>
      </p:sp>
      <p:sp>
        <p:nvSpPr>
          <p:cNvPr id="16" name="Text 12"/>
          <p:cNvSpPr/>
          <p:nvPr/>
        </p:nvSpPr>
        <p:spPr>
          <a:xfrm>
            <a:off x="11504533" y="8482013"/>
            <a:ext cx="5545217" cy="4333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255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Grammar for Data Description</a:t>
            </a:r>
            <a:endParaRPr lang="en-US" sz="2550" dirty="0"/>
          </a:p>
        </p:txBody>
      </p:sp>
      <p:sp>
        <p:nvSpPr>
          <p:cNvPr id="17" name="Text 13"/>
          <p:cNvSpPr/>
          <p:nvPr/>
        </p:nvSpPr>
        <p:spPr>
          <a:xfrm>
            <a:off x="1238250" y="9491663"/>
            <a:ext cx="6391029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Lesson 2 of 6 · IELTS Writing Task 1 · orangeenglish.nl</a:t>
            </a:r>
            <a:endParaRPr lang="en-US" sz="1800" dirty="0"/>
          </a:p>
        </p:txBody>
      </p:sp>
      <p:sp>
        <p:nvSpPr>
          <p:cNvPr id="18" name="Text 14"/>
          <p:cNvSpPr/>
          <p:nvPr/>
        </p:nvSpPr>
        <p:spPr>
          <a:xfrm>
            <a:off x="16812518" y="9491663"/>
            <a:ext cx="313432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2026-06-20T13:27:40Z</dcterms:created>
  <dcterms:modified xsi:type="dcterms:W3CDTF">2026-06-20T13:27:40Z</dcterms:modified>
</cp:coreProperties>
</file>