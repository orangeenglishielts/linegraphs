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92929"/>
                </a:solidFill>
                <a:latin typeface="Arial"/>
              </a:defRPr>
            </a:pPr>
            <a:r>
              <a:rPr sz="1100" b="0" i="0" u="none" strike="noStrike">
                <a:solidFill>
                  <a:srgbClr val="292929"/>
                </a:solidFill>
                <a:latin typeface="Arial"/>
              </a:rPr>
              <a:t>Internet users (% of population)</a:t>
            </a:r>
          </a:p>
        </c:rich>
      </c:tx>
      <c:layout/>
      <c:overlay val="0"/>
    </c:title>
    <c:autoTitleDeleted val="0"/>
    <c:plotArea>
      <c:layout/>
      <c:lineChart>
        <c:varyColors val="0"/>
        <c:ser>
          <c:idx val="0"/>
          <c:order val="0"/>
          <c:tx>
            <c:strRef>
              <c:f>Sheet1!$B$1</c:f>
              <c:strCache>
                <c:ptCount val="1"/>
                <c:pt idx="0">
                  <c:v>Country A</c:v>
                </c:pt>
              </c:strCache>
            </c:strRef>
          </c:tx>
          <c:spPr>
            <a:solidFill>
              <a:srgbClr val="F88B48"/>
            </a:solidFill>
            <a:ln w="38100" cap="flat">
              <a:solidFill>
                <a:srgbClr val="F88B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88B48"/>
              </a:solidFill>
              <a:ln w="9525" cap="flat">
                <a:solidFill>
                  <a:srgbClr val="F88B48"/>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Sheet1!$B$2:$B$6</c:f>
              <c:numCache>
                <c:formatCode>General</c:formatCode>
                <c:ptCount val="5"/>
                <c:pt idx="0">
                  <c:v>20</c:v>
                </c:pt>
                <c:pt idx="1">
                  <c:v>35</c:v>
                </c:pt>
                <c:pt idx="2">
                  <c:v>30</c:v>
                </c:pt>
                <c:pt idx="3">
                  <c:v>50</c:v>
                </c:pt>
                <c:pt idx="4">
                  <c:v>45</c:v>
                </c:pt>
              </c:numCache>
            </c:numRef>
          </c:val>
          <c:smooth val="0"/>
        </c:ser>
        <c:ser>
          <c:idx val="1"/>
          <c:order val="1"/>
          <c:tx>
            <c:strRef>
              <c:f>Sheet1!$C$1</c:f>
              <c:strCache>
                <c:ptCount val="1"/>
                <c:pt idx="0">
                  <c:v>Country B</c:v>
                </c:pt>
              </c:strCache>
            </c:strRef>
          </c:tx>
          <c:spPr>
            <a:solidFill>
              <a:srgbClr val="5FB27B"/>
            </a:solidFill>
            <a:ln w="38100" cap="flat">
              <a:solidFill>
                <a:srgbClr val="5FB2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FB27B"/>
              </a:solidFill>
              <a:ln w="9525" cap="flat">
                <a:solidFill>
                  <a:srgbClr val="5FB27B"/>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Sheet1!$C$2:$C$6</c:f>
              <c:numCache>
                <c:formatCode>General</c:formatCode>
                <c:ptCount val="5"/>
                <c:pt idx="0">
                  <c:v>40</c:v>
                </c:pt>
                <c:pt idx="1">
                  <c:v>38</c:v>
                </c:pt>
                <c:pt idx="2">
                  <c:v>42</c:v>
                </c:pt>
                <c:pt idx="3">
                  <c:v>35</c:v>
                </c:pt>
                <c:pt idx="4">
                  <c:v>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6B7280"/>
              </a:solidFill>
            </a:defRPr>
          </a:pPr>
          <a:endParaRPr lang="en-US"/>
        </a:p>
      </c:txPr>
    </c:legend>
    <c:plotVisOnly val="1"/>
    <c:dispBlanksAs val="span"/>
  </c:chart>
  <c:spPr>
    <a:solidFill>
      <a:srgbClr val="F9F9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6B7280"/>
                </a:solidFill>
                <a:latin typeface="Arial"/>
              </a:defRPr>
            </a:pPr>
            <a:r>
              <a:rPr sz="1000" b="0" i="0" u="none" strike="noStrike">
                <a:solidFill>
                  <a:srgbClr val="6B7280"/>
                </a:solidFill>
                <a:latin typeface="Arial"/>
              </a:rPr>
              <a:t>One category tracked over time</a:t>
            </a:r>
          </a:p>
        </c:rich>
      </c:tx>
      <c:layout/>
      <c:overlay val="0"/>
    </c:title>
    <c:autoTitleDeleted val="0"/>
    <c:plotArea>
      <c:layout/>
      <c:lineChart>
        <c:varyColors val="0"/>
        <c:ser>
          <c:idx val="0"/>
          <c:order val="0"/>
          <c:tx>
            <c:strRef>
              <c:f>Sheet1!$B$1</c:f>
              <c:strCache>
                <c:ptCount val="1"/>
                <c:pt idx="0">
                  <c:v>Sales</c:v>
                </c:pt>
              </c:strCache>
            </c:strRef>
          </c:tx>
          <c:spPr>
            <a:solidFill>
              <a:srgbClr val="F88B48"/>
            </a:solidFill>
            <a:ln w="38100" cap="flat">
              <a:solidFill>
                <a:srgbClr val="F88B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88B48"/>
              </a:solidFill>
              <a:ln w="9525" cap="flat">
                <a:solidFill>
                  <a:srgbClr val="F88B48"/>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Sheet1!$B$2:$B$6</c:f>
              <c:numCache>
                <c:formatCode>General</c:formatCode>
                <c:ptCount val="5"/>
                <c:pt idx="0">
                  <c:v>25</c:v>
                </c:pt>
                <c:pt idx="1">
                  <c:v>40</c:v>
                </c:pt>
                <c:pt idx="2">
                  <c:v>35</c:v>
                </c:pt>
                <c:pt idx="3">
                  <c:v>55</c:v>
                </c:pt>
                <c:pt idx="4">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9F9F9"/>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6B7280"/>
                </a:solidFill>
                <a:latin typeface="Arial"/>
              </a:defRPr>
            </a:pPr>
            <a:r>
              <a:rPr sz="1000" b="0" i="0" u="none" strike="noStrike">
                <a:solidFill>
                  <a:srgbClr val="6B7280"/>
                </a:solidFill>
                <a:latin typeface="Arial"/>
              </a:rPr>
              <a:t>Multiple categories compared</a:t>
            </a:r>
          </a:p>
        </c:rich>
      </c:tx>
      <c:layout/>
      <c:overlay val="0"/>
    </c:title>
    <c:autoTitleDeleted val="0"/>
    <c:plotArea>
      <c:layout/>
      <c:lineChart>
        <c:varyColors val="0"/>
        <c:ser>
          <c:idx val="0"/>
          <c:order val="0"/>
          <c:tx>
            <c:strRef>
              <c:f>Sheet1!$B$1</c:f>
              <c:strCache>
                <c:ptCount val="1"/>
                <c:pt idx="0">
                  <c:v>Group A</c:v>
                </c:pt>
              </c:strCache>
            </c:strRef>
          </c:tx>
          <c:spPr>
            <a:solidFill>
              <a:srgbClr val="5FB27B"/>
            </a:solidFill>
            <a:ln w="38100" cap="flat">
              <a:solidFill>
                <a:srgbClr val="5FB2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FB27B"/>
              </a:solidFill>
              <a:ln w="9525" cap="flat">
                <a:solidFill>
                  <a:srgbClr val="5FB27B"/>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Sheet1!$B$2:$B$6</c:f>
              <c:numCache>
                <c:formatCode>General</c:formatCode>
                <c:ptCount val="5"/>
                <c:pt idx="0">
                  <c:v>25</c:v>
                </c:pt>
                <c:pt idx="1">
                  <c:v>40</c:v>
                </c:pt>
                <c:pt idx="2">
                  <c:v>35</c:v>
                </c:pt>
                <c:pt idx="3">
                  <c:v>55</c:v>
                </c:pt>
                <c:pt idx="4">
                  <c:v>70</c:v>
                </c:pt>
              </c:numCache>
            </c:numRef>
          </c:val>
          <c:smooth val="0"/>
        </c:ser>
        <c:ser>
          <c:idx val="1"/>
          <c:order val="1"/>
          <c:tx>
            <c:strRef>
              <c:f>Sheet1!$C$1</c:f>
              <c:strCache>
                <c:ptCount val="1"/>
                <c:pt idx="0">
                  <c:v>Group B</c:v>
                </c:pt>
              </c:strCache>
            </c:strRef>
          </c:tx>
          <c:spPr>
            <a:solidFill>
              <a:srgbClr val="F88B48"/>
            </a:solidFill>
            <a:ln w="38100" cap="flat">
              <a:solidFill>
                <a:srgbClr val="F88B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88B48"/>
              </a:solidFill>
              <a:ln w="9525" cap="flat">
                <a:solidFill>
                  <a:srgbClr val="F88B48"/>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Sheet1!$C$2:$C$6</c:f>
              <c:numCache>
                <c:formatCode>General</c:formatCode>
                <c:ptCount val="5"/>
                <c:pt idx="0">
                  <c:v>60</c:v>
                </c:pt>
                <c:pt idx="1">
                  <c:v>50</c:v>
                </c:pt>
                <c:pt idx="2">
                  <c:v>45</c:v>
                </c:pt>
                <c:pt idx="3">
                  <c:v>38</c:v>
                </c:pt>
                <c:pt idx="4">
                  <c:v>30</c:v>
                </c:pt>
              </c:numCache>
            </c:numRef>
          </c:val>
          <c:smooth val="0"/>
        </c:ser>
        <c:ser>
          <c:idx val="2"/>
          <c:order val="2"/>
          <c:tx>
            <c:strRef>
              <c:f>Sheet1!$D$1</c:f>
              <c:strCache>
                <c:ptCount val="1"/>
                <c:pt idx="0">
                  <c:v>Group C</c:v>
                </c:pt>
              </c:strCache>
            </c:strRef>
          </c:tx>
          <c:spPr>
            <a:solidFill>
              <a:srgbClr val="5AA9E6"/>
            </a:solidFill>
            <a:ln w="38100" cap="flat">
              <a:solidFill>
                <a:srgbClr val="5AA9E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AA9E6"/>
              </a:solidFill>
              <a:ln w="9525" cap="flat">
                <a:solidFill>
                  <a:srgbClr val="5AA9E6"/>
                </a:solidFill>
                <a:prstDash val="solid"/>
                <a:round/>
              </a:ln>
              <a:effectLst/>
            </c:spPr>
          </c:marker>
          <c:cat>
            <c:multiLvlStrRef>
              <c:f>Sheet1!$A$2:$A$6</c:f>
              <c:multiLvlStrCache>
                <c:ptCount val="5"/>
                <c:lvl>
                  <c:pt idx="0">
                    <c:v>2000</c:v>
                  </c:pt>
                  <c:pt idx="1">
                    <c:v>2005</c:v>
                  </c:pt>
                  <c:pt idx="2">
                    <c:v>2010</c:v>
                  </c:pt>
                  <c:pt idx="3">
                    <c:v>2015</c:v>
                  </c:pt>
                  <c:pt idx="4">
                    <c:v>2020</c:v>
                  </c:pt>
                </c:lvl>
              </c:multiLvlStrCache>
            </c:multiLvlStrRef>
          </c:cat>
          <c:val>
            <c:numRef>
              <c:f>Sheet1!$D$2:$D$6</c:f>
              <c:numCache>
                <c:formatCode>General</c:formatCode>
                <c:ptCount val="5"/>
                <c:pt idx="0">
                  <c:v>10</c:v>
                </c:pt>
                <c:pt idx="1">
                  <c:v>18</c:v>
                </c:pt>
                <c:pt idx="2">
                  <c:v>28</c:v>
                </c:pt>
                <c:pt idx="3">
                  <c:v>35</c:v>
                </c:pt>
                <c:pt idx="4">
                  <c:v>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6B7280"/>
              </a:solidFill>
            </a:defRPr>
          </a:pPr>
          <a:endParaRPr lang="en-US"/>
        </a:p>
      </c:txPr>
    </c:legend>
    <c:plotVisOnly val="1"/>
    <c:dispBlanksAs val="span"/>
  </c:chart>
  <c:spPr>
    <a:solidFill>
      <a:srgbClr val="F9F9F9"/>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1. Today we're going to look at line graphs — what they show, how to read them, and crucially, what the IELTS exam actually asks you to do with them. By the end of this lesson you'll know exactly what to look for when you see a line graph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we're covering in this lesson. Four clear goals — by the end you should be able to tick all of these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x-axis is always time in Task 1 line graphs. The y-axis is whatever is being measured — could be percentages, millions of tonnes, number of people. Each line represents one thing being tracked. The title is crucial — it tells you the units and the subject, which you need for your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term clearly. Students often miss the units — this is a common mistake in writing. They say 'increased to 50' instead of 'increased to 50%'. The key/legend is also frequently ignored when there are multiple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line graphs are less common in IELTS but do appear. Multiple line graphs are more frequent because they allow for comparison, which is a key skill the exam tests. With multiple lines, students must decide which comparisons are most significant — not describe every single line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lesson. Students often make the mistake of trying to describe every data point. The examiner wants to see that you can SELECT — that you understand which features are significant. Describe means using correct numbers and units. Compare is especially important for multiple line graphs — spotting where lines cross, or which is highest, or which grew the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things students should scan for immediately when they see a line graph. Emphasise that they don't need to use all of them — this is a checklist for NOTICING, not a writing formula. The selection of what to include comes in Lesson 4. For now, just building the habit of looking for these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summary of the lesson. These four points are what students should be able to recall after watching. In the next lesson we move on to vocabulary for describing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Lesson 1. Direct students to the quiz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F88B48"/>
          </a:solidFill>
          <a:ln w="12700">
            <a:solidFill>
              <a:srgbClr val="F88B48"/>
            </a:solidFill>
            <a:prstDash val="solid"/>
          </a:ln>
        </p:spPr>
      </p:sp>
      <p:sp>
        <p:nvSpPr>
          <p:cNvPr id="3" name="Shape 1"/>
          <p:cNvSpPr/>
          <p:nvPr/>
        </p:nvSpPr>
        <p:spPr>
          <a:xfrm>
            <a:off x="0" y="4389120"/>
            <a:ext cx="9144000" cy="754380"/>
          </a:xfrm>
          <a:prstGeom prst="rect">
            <a:avLst/>
          </a:prstGeom>
          <a:solidFill>
            <a:srgbClr val="5FB27B"/>
          </a:solidFill>
          <a:ln w="12700">
            <a:solidFill>
              <a:srgbClr val="5FB27B"/>
            </a:solidFill>
            <a:prstDash val="solid"/>
          </a:ln>
        </p:spPr>
      </p:sp>
      <p:pic>
        <p:nvPicPr>
          <p:cNvPr id="4" name="Image 0" descr="preencoded.png">    </p:cNvPr>
          <p:cNvPicPr>
            <a:picLocks noChangeAspect="1"/>
          </p:cNvPicPr>
          <p:nvPr/>
        </p:nvPicPr>
        <p:blipFill>
          <a:blip r:embed="rId1"/>
          <a:stretch>
            <a:fillRect/>
          </a:stretch>
        </p:blipFill>
        <p:spPr>
          <a:xfrm>
            <a:off x="7406640" y="137160"/>
            <a:ext cx="1005840" cy="1005840"/>
          </a:xfrm>
          <a:prstGeom prst="rect">
            <a:avLst/>
          </a:prstGeom>
        </p:spPr>
      </p:pic>
      <p:sp>
        <p:nvSpPr>
          <p:cNvPr id="5" name="Text 2"/>
          <p:cNvSpPr/>
          <p:nvPr/>
        </p:nvSpPr>
        <p:spPr>
          <a:xfrm>
            <a:off x="365760" y="137160"/>
            <a:ext cx="6858000" cy="411480"/>
          </a:xfrm>
          <a:prstGeom prst="rect">
            <a:avLst/>
          </a:prstGeom>
          <a:noFill/>
          <a:ln/>
        </p:spPr>
        <p:txBody>
          <a:bodyPr wrap="square" lIns="0" tIns="0" rIns="0" bIns="0" rtlCol="0" anchor="ctr"/>
          <a:lstStyle/>
          <a:p>
            <a:pPr indent="0" marL="0">
              <a:buNone/>
            </a:pPr>
            <a:r>
              <a:rPr lang="en-US" sz="1300" b="1" spc="200" kern="0" dirty="0">
                <a:solidFill>
                  <a:srgbClr val="FFFFFF"/>
                </a:solidFill>
                <a:latin typeface="Montserrat" pitchFamily="34" charset="0"/>
                <a:ea typeface="Montserrat" pitchFamily="34" charset="-122"/>
                <a:cs typeface="Montserrat" pitchFamily="34" charset="-120"/>
              </a:rPr>
              <a:t>IELTS ACADEMIC WRITING TASK 1</a:t>
            </a:r>
            <a:endParaRPr lang="en-US" sz="1300" dirty="0"/>
          </a:p>
        </p:txBody>
      </p:sp>
      <p:sp>
        <p:nvSpPr>
          <p:cNvPr id="6" name="Text 3"/>
          <p:cNvSpPr/>
          <p:nvPr/>
        </p:nvSpPr>
        <p:spPr>
          <a:xfrm>
            <a:off x="365760" y="548640"/>
            <a:ext cx="6400800" cy="502920"/>
          </a:xfrm>
          <a:prstGeom prst="rect">
            <a:avLst/>
          </a:prstGeom>
          <a:noFill/>
          <a:ln/>
        </p:spPr>
        <p:txBody>
          <a:bodyPr wrap="square" lIns="0" tIns="0" rIns="0" bIns="0" rtlCol="0" anchor="ctr"/>
          <a:lstStyle/>
          <a:p>
            <a:pPr indent="0" marL="0">
              <a:buNone/>
            </a:pPr>
            <a:r>
              <a:rPr lang="en-US" sz="1800" dirty="0">
                <a:solidFill>
                  <a:srgbClr val="FFFFFF"/>
                </a:solidFill>
                <a:latin typeface="Montserrat" pitchFamily="34" charset="0"/>
                <a:ea typeface="Montserrat" pitchFamily="34" charset="-122"/>
                <a:cs typeface="Montserrat" pitchFamily="34" charset="-120"/>
              </a:rPr>
              <a:t>Line Graphs</a:t>
            </a:r>
            <a:endParaRPr lang="en-US" sz="1800" dirty="0"/>
          </a:p>
        </p:txBody>
      </p:sp>
      <p:sp>
        <p:nvSpPr>
          <p:cNvPr id="7" name="Text 4"/>
          <p:cNvSpPr/>
          <p:nvPr/>
        </p:nvSpPr>
        <p:spPr>
          <a:xfrm>
            <a:off x="365760" y="1463040"/>
            <a:ext cx="8412480" cy="1005840"/>
          </a:xfrm>
          <a:prstGeom prst="rect">
            <a:avLst/>
          </a:prstGeom>
          <a:noFill/>
          <a:ln/>
        </p:spPr>
        <p:txBody>
          <a:bodyPr wrap="square" lIns="0" tIns="0" rIns="0" bIns="0" rtlCol="0" anchor="ctr"/>
          <a:lstStyle/>
          <a:p>
            <a:pPr indent="0" marL="0">
              <a:buNone/>
            </a:pPr>
            <a:r>
              <a:rPr lang="en-US" sz="4000" b="1" dirty="0">
                <a:solidFill>
                  <a:srgbClr val="292929"/>
                </a:solidFill>
                <a:latin typeface="Montserrat" pitchFamily="34" charset="0"/>
                <a:ea typeface="Montserrat" pitchFamily="34" charset="-122"/>
                <a:cs typeface="Montserrat" pitchFamily="34" charset="-120"/>
              </a:rPr>
              <a:t>Understanding Line Graphs</a:t>
            </a:r>
            <a:endParaRPr lang="en-US" sz="4000" dirty="0"/>
          </a:p>
        </p:txBody>
      </p:sp>
      <p:sp>
        <p:nvSpPr>
          <p:cNvPr id="8" name="Shape 5"/>
          <p:cNvSpPr/>
          <p:nvPr/>
        </p:nvSpPr>
        <p:spPr>
          <a:xfrm>
            <a:off x="365760" y="2514600"/>
            <a:ext cx="1371600" cy="347472"/>
          </a:xfrm>
          <a:prstGeom prst="roundRect">
            <a:avLst>
              <a:gd name="adj" fmla="val 13158"/>
            </a:avLst>
          </a:prstGeom>
          <a:solidFill>
            <a:srgbClr val="EDF7F1"/>
          </a:solidFill>
          <a:ln w="12700">
            <a:solidFill>
              <a:srgbClr val="5FB27B"/>
            </a:solidFill>
            <a:prstDash val="solid"/>
          </a:ln>
        </p:spPr>
      </p:sp>
      <p:sp>
        <p:nvSpPr>
          <p:cNvPr id="9" name="Text 6"/>
          <p:cNvSpPr/>
          <p:nvPr/>
        </p:nvSpPr>
        <p:spPr>
          <a:xfrm>
            <a:off x="365760" y="2514600"/>
            <a:ext cx="1371600" cy="347472"/>
          </a:xfrm>
          <a:prstGeom prst="rect">
            <a:avLst/>
          </a:prstGeom>
          <a:noFill/>
          <a:ln/>
        </p:spPr>
        <p:txBody>
          <a:bodyPr wrap="square" lIns="0" tIns="0" rIns="0" bIns="0" rtlCol="0" anchor="ctr"/>
          <a:lstStyle/>
          <a:p>
            <a:pPr algn="ctr" indent="0" marL="0">
              <a:buNone/>
            </a:pPr>
            <a:r>
              <a:rPr lang="en-US" sz="1200" b="1" dirty="0">
                <a:solidFill>
                  <a:srgbClr val="5FB27B"/>
                </a:solidFill>
                <a:latin typeface="Montserrat" pitchFamily="34" charset="0"/>
                <a:ea typeface="Montserrat" pitchFamily="34" charset="-122"/>
                <a:cs typeface="Montserrat" pitchFamily="34" charset="-120"/>
              </a:rPr>
              <a:t>Lesson 1</a:t>
            </a:r>
            <a:endParaRPr lang="en-US" sz="1200" dirty="0"/>
          </a:p>
        </p:txBody>
      </p:sp>
      <p:sp>
        <p:nvSpPr>
          <p:cNvPr id="10" name="Text 7"/>
          <p:cNvSpPr/>
          <p:nvPr/>
        </p:nvSpPr>
        <p:spPr>
          <a:xfrm>
            <a:off x="365760" y="2971800"/>
            <a:ext cx="6400800" cy="822960"/>
          </a:xfrm>
          <a:prstGeom prst="rect">
            <a:avLst/>
          </a:prstGeom>
          <a:noFill/>
          <a:ln/>
        </p:spPr>
        <p:txBody>
          <a:bodyPr wrap="square" lIns="0" tIns="0" rIns="0" bIns="0" rtlCol="0" anchor="ctr"/>
          <a:lstStyle/>
          <a:p>
            <a:pPr indent="0" marL="0">
              <a:buNone/>
            </a:pPr>
            <a:r>
              <a:rPr lang="en-US" sz="1500" dirty="0">
                <a:solidFill>
                  <a:srgbClr val="6B7280"/>
                </a:solidFill>
                <a:latin typeface="Inter" pitchFamily="34" charset="0"/>
                <a:ea typeface="Inter" pitchFamily="34" charset="-122"/>
                <a:cs typeface="Inter" pitchFamily="34" charset="-120"/>
              </a:rPr>
              <a:t>What line graphs are, how to read them,</a:t>
            </a:r>
            <a:endParaRPr lang="en-US" sz="1500" dirty="0"/>
          </a:p>
          <a:p>
            <a:pPr indent="0" marL="0">
              <a:buNone/>
            </a:pPr>
            <a:r>
              <a:rPr lang="en-US" sz="1500" dirty="0">
                <a:solidFill>
                  <a:srgbClr val="6B7280"/>
                </a:solidFill>
                <a:latin typeface="Inter" pitchFamily="34" charset="0"/>
                <a:ea typeface="Inter" pitchFamily="34" charset="-122"/>
                <a:cs typeface="Inter" pitchFamily="34" charset="-120"/>
              </a:rPr>
              <a:t>and what IELTS asks you to do with them.</a:t>
            </a:r>
            <a:endParaRPr lang="en-US" sz="1500" dirty="0"/>
          </a:p>
        </p:txBody>
      </p:sp>
      <p:sp>
        <p:nvSpPr>
          <p:cNvPr id="11" name="Text 8"/>
          <p:cNvSpPr/>
          <p:nvPr/>
        </p:nvSpPr>
        <p:spPr>
          <a:xfrm>
            <a:off x="365760" y="4480560"/>
            <a:ext cx="3657600" cy="45720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orangeenglish.nl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5FB27B"/>
          </a:solidFill>
          <a:ln w="12700">
            <a:solidFill>
              <a:srgbClr val="5FB27B"/>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Lesson 1  ·  What you will learn</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229600" cy="411480"/>
          </a:xfrm>
          <a:prstGeom prst="rect">
            <a:avLst/>
          </a:prstGeom>
          <a:noFill/>
          <a:ln/>
        </p:spPr>
        <p:txBody>
          <a:bodyPr wrap="square" lIns="0" tIns="0" rIns="0" bIns="0" rtlCol="0" anchor="ctr"/>
          <a:lstStyle/>
          <a:p>
            <a:pPr indent="0" marL="0">
              <a:buNone/>
            </a:pPr>
            <a:r>
              <a:rPr lang="en-US" sz="1400" dirty="0">
                <a:solidFill>
                  <a:srgbClr val="6B7280"/>
                </a:solidFill>
                <a:latin typeface="Inter" pitchFamily="34" charset="0"/>
                <a:ea typeface="Inter" pitchFamily="34" charset="-122"/>
                <a:cs typeface="Inter" pitchFamily="34" charset="-120"/>
              </a:rPr>
              <a:t>By the end of this lesson, you will be able to:</a:t>
            </a:r>
            <a:endParaRPr lang="en-US" sz="1400" dirty="0"/>
          </a:p>
        </p:txBody>
      </p:sp>
      <p:sp>
        <p:nvSpPr>
          <p:cNvPr id="6" name="Shape 3"/>
          <p:cNvSpPr/>
          <p:nvPr/>
        </p:nvSpPr>
        <p:spPr>
          <a:xfrm>
            <a:off x="365760" y="1463040"/>
            <a:ext cx="8412480" cy="594360"/>
          </a:xfrm>
          <a:prstGeom prst="roundRect">
            <a:avLst>
              <a:gd name="adj" fmla="val 12308"/>
            </a:avLst>
          </a:prstGeom>
          <a:solidFill>
            <a:srgbClr val="FEF0E6"/>
          </a:solidFill>
          <a:ln w="12700">
            <a:solidFill>
              <a:srgbClr val="FEF0E6"/>
            </a:solidFill>
            <a:prstDash val="solid"/>
          </a:ln>
        </p:spPr>
      </p:sp>
      <p:pic>
        <p:nvPicPr>
          <p:cNvPr id="7" name="Image 1" descr="preencoded.png">    </p:cNvPr>
          <p:cNvPicPr>
            <a:picLocks noChangeAspect="1"/>
          </p:cNvPicPr>
          <p:nvPr/>
        </p:nvPicPr>
        <p:blipFill>
          <a:blip r:embed="rId2"/>
          <a:stretch>
            <a:fillRect/>
          </a:stretch>
        </p:blipFill>
        <p:spPr>
          <a:xfrm>
            <a:off x="548640" y="1554480"/>
            <a:ext cx="384048" cy="384048"/>
          </a:xfrm>
          <a:prstGeom prst="rect">
            <a:avLst/>
          </a:prstGeom>
        </p:spPr>
      </p:pic>
      <p:sp>
        <p:nvSpPr>
          <p:cNvPr id="8" name="Text 4"/>
          <p:cNvSpPr/>
          <p:nvPr/>
        </p:nvSpPr>
        <p:spPr>
          <a:xfrm>
            <a:off x="1097280" y="1499616"/>
            <a:ext cx="7498080" cy="502920"/>
          </a:xfrm>
          <a:prstGeom prst="rect">
            <a:avLst/>
          </a:prstGeom>
          <a:noFill/>
          <a:ln/>
        </p:spPr>
        <p:txBody>
          <a:bodyPr wrap="square" lIns="0" tIns="0" rIns="0" bIns="0" rtlCol="0" anchor="ctr"/>
          <a:lstStyle/>
          <a:p>
            <a:pPr indent="0" marL="0">
              <a:buNone/>
            </a:pPr>
            <a:r>
              <a:rPr lang="en-US" sz="1400" dirty="0">
                <a:solidFill>
                  <a:srgbClr val="292929"/>
                </a:solidFill>
                <a:latin typeface="Inter" pitchFamily="34" charset="0"/>
                <a:ea typeface="Inter" pitchFamily="34" charset="-122"/>
                <a:cs typeface="Inter" pitchFamily="34" charset="-120"/>
              </a:rPr>
              <a:t>Identify the key parts of a line graph</a:t>
            </a:r>
            <a:endParaRPr lang="en-US" sz="1400" dirty="0"/>
          </a:p>
        </p:txBody>
      </p:sp>
      <p:sp>
        <p:nvSpPr>
          <p:cNvPr id="9" name="Shape 5"/>
          <p:cNvSpPr/>
          <p:nvPr/>
        </p:nvSpPr>
        <p:spPr>
          <a:xfrm>
            <a:off x="365760" y="2212848"/>
            <a:ext cx="8412480" cy="594360"/>
          </a:xfrm>
          <a:prstGeom prst="roundRect">
            <a:avLst>
              <a:gd name="adj" fmla="val 12308"/>
            </a:avLst>
          </a:prstGeom>
          <a:solidFill>
            <a:srgbClr val="EDF7F1"/>
          </a:solidFill>
          <a:ln w="12700">
            <a:solidFill>
              <a:srgbClr val="EDF7F1"/>
            </a:solidFill>
            <a:prstDash val="solid"/>
          </a:ln>
        </p:spPr>
      </p:sp>
      <p:pic>
        <p:nvPicPr>
          <p:cNvPr id="10" name="Image 2" descr="preencoded.png">    </p:cNvPr>
          <p:cNvPicPr>
            <a:picLocks noChangeAspect="1"/>
          </p:cNvPicPr>
          <p:nvPr/>
        </p:nvPicPr>
        <p:blipFill>
          <a:blip r:embed="rId3"/>
          <a:stretch>
            <a:fillRect/>
          </a:stretch>
        </p:blipFill>
        <p:spPr>
          <a:xfrm>
            <a:off x="548640" y="2304288"/>
            <a:ext cx="384048" cy="384048"/>
          </a:xfrm>
          <a:prstGeom prst="rect">
            <a:avLst/>
          </a:prstGeom>
        </p:spPr>
      </p:pic>
      <p:sp>
        <p:nvSpPr>
          <p:cNvPr id="11" name="Text 6"/>
          <p:cNvSpPr/>
          <p:nvPr/>
        </p:nvSpPr>
        <p:spPr>
          <a:xfrm>
            <a:off x="1097280" y="2249424"/>
            <a:ext cx="7498080" cy="502920"/>
          </a:xfrm>
          <a:prstGeom prst="rect">
            <a:avLst/>
          </a:prstGeom>
          <a:noFill/>
          <a:ln/>
        </p:spPr>
        <p:txBody>
          <a:bodyPr wrap="square" lIns="0" tIns="0" rIns="0" bIns="0" rtlCol="0" anchor="ctr"/>
          <a:lstStyle/>
          <a:p>
            <a:pPr indent="0" marL="0">
              <a:buNone/>
            </a:pPr>
            <a:r>
              <a:rPr lang="en-US" sz="1400" dirty="0">
                <a:solidFill>
                  <a:srgbClr val="292929"/>
                </a:solidFill>
                <a:latin typeface="Inter" pitchFamily="34" charset="0"/>
                <a:ea typeface="Inter" pitchFamily="34" charset="-122"/>
                <a:cs typeface="Inter" pitchFamily="34" charset="-120"/>
              </a:rPr>
              <a:t>Recognise the difference between single and multiple line graphs</a:t>
            </a:r>
            <a:endParaRPr lang="en-US" sz="1400" dirty="0"/>
          </a:p>
        </p:txBody>
      </p:sp>
      <p:sp>
        <p:nvSpPr>
          <p:cNvPr id="12" name="Shape 7"/>
          <p:cNvSpPr/>
          <p:nvPr/>
        </p:nvSpPr>
        <p:spPr>
          <a:xfrm>
            <a:off x="365760" y="2962656"/>
            <a:ext cx="8412480" cy="594360"/>
          </a:xfrm>
          <a:prstGeom prst="roundRect">
            <a:avLst>
              <a:gd name="adj" fmla="val 12308"/>
            </a:avLst>
          </a:prstGeom>
          <a:solidFill>
            <a:srgbClr val="FEF0E6"/>
          </a:solidFill>
          <a:ln w="12700">
            <a:solidFill>
              <a:srgbClr val="FEF0E6"/>
            </a:solidFill>
            <a:prstDash val="solid"/>
          </a:ln>
        </p:spPr>
      </p:sp>
      <p:pic>
        <p:nvPicPr>
          <p:cNvPr id="13" name="Image 3" descr="preencoded.png">    </p:cNvPr>
          <p:cNvPicPr>
            <a:picLocks noChangeAspect="1"/>
          </p:cNvPicPr>
          <p:nvPr/>
        </p:nvPicPr>
        <p:blipFill>
          <a:blip r:embed="rId4"/>
          <a:stretch>
            <a:fillRect/>
          </a:stretch>
        </p:blipFill>
        <p:spPr>
          <a:xfrm>
            <a:off x="548640" y="3054096"/>
            <a:ext cx="384048" cy="384048"/>
          </a:xfrm>
          <a:prstGeom prst="rect">
            <a:avLst/>
          </a:prstGeom>
        </p:spPr>
      </p:pic>
      <p:sp>
        <p:nvSpPr>
          <p:cNvPr id="14" name="Text 8"/>
          <p:cNvSpPr/>
          <p:nvPr/>
        </p:nvSpPr>
        <p:spPr>
          <a:xfrm>
            <a:off x="1097280" y="2999232"/>
            <a:ext cx="7498080" cy="502920"/>
          </a:xfrm>
          <a:prstGeom prst="rect">
            <a:avLst/>
          </a:prstGeom>
          <a:noFill/>
          <a:ln/>
        </p:spPr>
        <p:txBody>
          <a:bodyPr wrap="square" lIns="0" tIns="0" rIns="0" bIns="0" rtlCol="0" anchor="ctr"/>
          <a:lstStyle/>
          <a:p>
            <a:pPr indent="0" marL="0">
              <a:buNone/>
            </a:pPr>
            <a:r>
              <a:rPr lang="en-US" sz="1400" dirty="0">
                <a:solidFill>
                  <a:srgbClr val="292929"/>
                </a:solidFill>
                <a:latin typeface="Inter" pitchFamily="34" charset="0"/>
                <a:ea typeface="Inter" pitchFamily="34" charset="-122"/>
                <a:cs typeface="Inter" pitchFamily="34" charset="-120"/>
              </a:rPr>
              <a:t>Explain what IELTS Writing Task 1 asks you to do</a:t>
            </a:r>
            <a:endParaRPr lang="en-US" sz="1400" dirty="0"/>
          </a:p>
        </p:txBody>
      </p:sp>
      <p:sp>
        <p:nvSpPr>
          <p:cNvPr id="15" name="Shape 9"/>
          <p:cNvSpPr/>
          <p:nvPr/>
        </p:nvSpPr>
        <p:spPr>
          <a:xfrm>
            <a:off x="365760" y="3712464"/>
            <a:ext cx="8412480" cy="594360"/>
          </a:xfrm>
          <a:prstGeom prst="roundRect">
            <a:avLst>
              <a:gd name="adj" fmla="val 12308"/>
            </a:avLst>
          </a:prstGeom>
          <a:solidFill>
            <a:srgbClr val="EDF7F1"/>
          </a:solidFill>
          <a:ln w="12700">
            <a:solidFill>
              <a:srgbClr val="EDF7F1"/>
            </a:solidFill>
            <a:prstDash val="solid"/>
          </a:ln>
        </p:spPr>
      </p:sp>
      <p:pic>
        <p:nvPicPr>
          <p:cNvPr id="16" name="Image 4" descr="preencoded.png">    </p:cNvPr>
          <p:cNvPicPr>
            <a:picLocks noChangeAspect="1"/>
          </p:cNvPicPr>
          <p:nvPr/>
        </p:nvPicPr>
        <p:blipFill>
          <a:blip r:embed="rId5"/>
          <a:stretch>
            <a:fillRect/>
          </a:stretch>
        </p:blipFill>
        <p:spPr>
          <a:xfrm>
            <a:off x="548640" y="3803904"/>
            <a:ext cx="384048" cy="384048"/>
          </a:xfrm>
          <a:prstGeom prst="rect">
            <a:avLst/>
          </a:prstGeom>
        </p:spPr>
      </p:pic>
      <p:sp>
        <p:nvSpPr>
          <p:cNvPr id="17" name="Text 10"/>
          <p:cNvSpPr/>
          <p:nvPr/>
        </p:nvSpPr>
        <p:spPr>
          <a:xfrm>
            <a:off x="1097280" y="3749040"/>
            <a:ext cx="7498080" cy="502920"/>
          </a:xfrm>
          <a:prstGeom prst="rect">
            <a:avLst/>
          </a:prstGeom>
          <a:noFill/>
          <a:ln/>
        </p:spPr>
        <p:txBody>
          <a:bodyPr wrap="square" lIns="0" tIns="0" rIns="0" bIns="0" rtlCol="0" anchor="ctr"/>
          <a:lstStyle/>
          <a:p>
            <a:pPr indent="0" marL="0">
              <a:buNone/>
            </a:pPr>
            <a:r>
              <a:rPr lang="en-US" sz="1400" dirty="0">
                <a:solidFill>
                  <a:srgbClr val="292929"/>
                </a:solidFill>
                <a:latin typeface="Inter" pitchFamily="34" charset="0"/>
                <a:ea typeface="Inter" pitchFamily="34" charset="-122"/>
                <a:cs typeface="Inter" pitchFamily="34" charset="-120"/>
              </a:rPr>
              <a:t>Identify key features in a line graph for your answer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88B48"/>
          </a:solidFill>
          <a:ln w="12700">
            <a:solidFill>
              <a:srgbClr val="F88B48"/>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Part 1  ·  What is a line graph?</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412480" cy="457200"/>
          </a:xfrm>
          <a:prstGeom prst="rect">
            <a:avLst/>
          </a:prstGeom>
          <a:noFill/>
          <a:ln/>
        </p:spPr>
        <p:txBody>
          <a:bodyPr wrap="square" lIns="0" tIns="0" rIns="0" bIns="0" rtlCol="0" anchor="ctr"/>
          <a:lstStyle/>
          <a:p>
            <a:pPr indent="0" marL="0">
              <a:buNone/>
            </a:pPr>
            <a:r>
              <a:rPr lang="en-US" sz="1800" b="1" dirty="0">
                <a:solidFill>
                  <a:srgbClr val="292929"/>
                </a:solidFill>
                <a:latin typeface="Montserrat" pitchFamily="34" charset="0"/>
                <a:ea typeface="Montserrat" pitchFamily="34" charset="-122"/>
                <a:cs typeface="Montserrat" pitchFamily="34" charset="-120"/>
              </a:rPr>
              <a:t>A line graph shows how something changes over time.</a:t>
            </a:r>
            <a:endParaRPr lang="en-US" sz="1800" dirty="0"/>
          </a:p>
        </p:txBody>
      </p:sp>
      <p:graphicFrame>
        <p:nvGraphicFramePr>
          <p:cNvPr id="6" name="Chart 0" descr=""/>
          <p:cNvGraphicFramePr/>
          <p:nvPr/>
        </p:nvGraphicFramePr>
        <p:xfrm>
          <a:off x="365760" y="1417320"/>
          <a:ext cx="5029200" cy="32918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669280" y="1417320"/>
            <a:ext cx="3200400" cy="658368"/>
          </a:xfrm>
          <a:prstGeom prst="roundRect">
            <a:avLst>
              <a:gd name="adj" fmla="val 11111"/>
            </a:avLst>
          </a:prstGeom>
          <a:solidFill>
            <a:srgbClr val="FEF0E6"/>
          </a:solidFill>
          <a:ln w="12700">
            <a:solidFill>
              <a:srgbClr val="FEF0E6"/>
            </a:solidFill>
            <a:prstDash val="solid"/>
          </a:ln>
          <a:effectLst>
            <a:outerShdw sx="100000" sy="100000" kx="0" ky="0" algn="bl" rotWithShape="0" blurRad="50800" dist="12700" dir="2700000">
              <a:srgbClr val="000000">
                <a:alpha val="8000"/>
              </a:srgbClr>
            </a:outerShdw>
          </a:effectLst>
        </p:spPr>
      </p:sp>
      <p:sp>
        <p:nvSpPr>
          <p:cNvPr id="8" name="Text 4"/>
          <p:cNvSpPr/>
          <p:nvPr/>
        </p:nvSpPr>
        <p:spPr>
          <a:xfrm>
            <a:off x="5806440" y="1490472"/>
            <a:ext cx="2926080" cy="502920"/>
          </a:xfrm>
          <a:prstGeom prst="rect">
            <a:avLst/>
          </a:prstGeom>
          <a:noFill/>
          <a:ln/>
        </p:spPr>
        <p:txBody>
          <a:bodyPr wrap="square" lIns="0" tIns="0" rIns="0" bIns="0" rtlCol="0" anchor="ctr"/>
          <a:lstStyle/>
          <a:p>
            <a:pPr indent="0" marL="0">
              <a:buNone/>
            </a:pPr>
            <a:r>
              <a:rPr lang="en-US" sz="1200" b="1" dirty="0">
                <a:solidFill>
                  <a:srgbClr val="F88B48"/>
                </a:solidFill>
                <a:latin typeface="Inter" pitchFamily="34" charset="0"/>
                <a:ea typeface="Inter" pitchFamily="34" charset="-122"/>
                <a:cs typeface="Inter" pitchFamily="34" charset="-120"/>
              </a:rPr>
              <a:t>X-axis  </a:t>
            </a:r>
            <a:pPr indent="0" marL="0">
              <a:buNone/>
            </a:pPr>
            <a:r>
              <a:rPr lang="en-US" sz="1200" dirty="0">
                <a:solidFill>
                  <a:srgbClr val="292929"/>
                </a:solidFill>
                <a:latin typeface="Inter" pitchFamily="34" charset="0"/>
                <a:ea typeface="Inter" pitchFamily="34" charset="-122"/>
                <a:cs typeface="Inter" pitchFamily="34" charset="-120"/>
              </a:rPr>
              <a:t>Time (years, months, decades)</a:t>
            </a:r>
            <a:endParaRPr lang="en-US" sz="1200" dirty="0"/>
          </a:p>
        </p:txBody>
      </p:sp>
      <p:sp>
        <p:nvSpPr>
          <p:cNvPr id="9" name="Shape 5"/>
          <p:cNvSpPr/>
          <p:nvPr/>
        </p:nvSpPr>
        <p:spPr>
          <a:xfrm>
            <a:off x="5669280" y="2240280"/>
            <a:ext cx="3200400" cy="658368"/>
          </a:xfrm>
          <a:prstGeom prst="roundRect">
            <a:avLst>
              <a:gd name="adj" fmla="val 11111"/>
            </a:avLst>
          </a:prstGeom>
          <a:solidFill>
            <a:srgbClr val="EDF7F1"/>
          </a:solidFill>
          <a:ln w="12700">
            <a:solidFill>
              <a:srgbClr val="EDF7F1"/>
            </a:solidFill>
            <a:prstDash val="solid"/>
          </a:ln>
          <a:effectLst>
            <a:outerShdw sx="100000" sy="100000" kx="0" ky="0" algn="bl" rotWithShape="0" blurRad="50800" dist="12700" dir="2700000">
              <a:srgbClr val="000000">
                <a:alpha val="8000"/>
              </a:srgbClr>
            </a:outerShdw>
          </a:effectLst>
        </p:spPr>
      </p:sp>
      <p:sp>
        <p:nvSpPr>
          <p:cNvPr id="10" name="Text 6"/>
          <p:cNvSpPr/>
          <p:nvPr/>
        </p:nvSpPr>
        <p:spPr>
          <a:xfrm>
            <a:off x="5806440" y="2313432"/>
            <a:ext cx="2926080" cy="502920"/>
          </a:xfrm>
          <a:prstGeom prst="rect">
            <a:avLst/>
          </a:prstGeom>
          <a:noFill/>
          <a:ln/>
        </p:spPr>
        <p:txBody>
          <a:bodyPr wrap="square" lIns="0" tIns="0" rIns="0" bIns="0" rtlCol="0" anchor="ctr"/>
          <a:lstStyle/>
          <a:p>
            <a:pPr indent="0" marL="0">
              <a:buNone/>
            </a:pPr>
            <a:r>
              <a:rPr lang="en-US" sz="1200" b="1" dirty="0">
                <a:solidFill>
                  <a:srgbClr val="5FB27B"/>
                </a:solidFill>
                <a:latin typeface="Inter" pitchFamily="34" charset="0"/>
                <a:ea typeface="Inter" pitchFamily="34" charset="-122"/>
                <a:cs typeface="Inter" pitchFamily="34" charset="-120"/>
              </a:rPr>
              <a:t>Y-axis  </a:t>
            </a:r>
            <a:pPr indent="0" marL="0">
              <a:buNone/>
            </a:pPr>
            <a:r>
              <a:rPr lang="en-US" sz="1200" dirty="0">
                <a:solidFill>
                  <a:srgbClr val="292929"/>
                </a:solidFill>
                <a:latin typeface="Inter" pitchFamily="34" charset="0"/>
                <a:ea typeface="Inter" pitchFamily="34" charset="-122"/>
                <a:cs typeface="Inter" pitchFamily="34" charset="-120"/>
              </a:rPr>
              <a:t>The variable being measured</a:t>
            </a:r>
            <a:endParaRPr lang="en-US" sz="1200" dirty="0"/>
          </a:p>
        </p:txBody>
      </p:sp>
      <p:sp>
        <p:nvSpPr>
          <p:cNvPr id="11" name="Shape 7"/>
          <p:cNvSpPr/>
          <p:nvPr/>
        </p:nvSpPr>
        <p:spPr>
          <a:xfrm>
            <a:off x="5669280" y="3063240"/>
            <a:ext cx="3200400" cy="658368"/>
          </a:xfrm>
          <a:prstGeom prst="roundRect">
            <a:avLst>
              <a:gd name="adj" fmla="val 11111"/>
            </a:avLst>
          </a:prstGeom>
          <a:solidFill>
            <a:srgbClr val="FEF0E6"/>
          </a:solidFill>
          <a:ln w="12700">
            <a:solidFill>
              <a:srgbClr val="FEF0E6"/>
            </a:solidFill>
            <a:prstDash val="solid"/>
          </a:ln>
          <a:effectLst>
            <a:outerShdw sx="100000" sy="100000" kx="0" ky="0" algn="bl" rotWithShape="0" blurRad="50800" dist="12700" dir="2700000">
              <a:srgbClr val="000000">
                <a:alpha val="8000"/>
              </a:srgbClr>
            </a:outerShdw>
          </a:effectLst>
        </p:spPr>
      </p:sp>
      <p:sp>
        <p:nvSpPr>
          <p:cNvPr id="12" name="Text 8"/>
          <p:cNvSpPr/>
          <p:nvPr/>
        </p:nvSpPr>
        <p:spPr>
          <a:xfrm>
            <a:off x="5806440" y="3136392"/>
            <a:ext cx="2926080" cy="502920"/>
          </a:xfrm>
          <a:prstGeom prst="rect">
            <a:avLst/>
          </a:prstGeom>
          <a:noFill/>
          <a:ln/>
        </p:spPr>
        <p:txBody>
          <a:bodyPr wrap="square" lIns="0" tIns="0" rIns="0" bIns="0" rtlCol="0" anchor="ctr"/>
          <a:lstStyle/>
          <a:p>
            <a:pPr indent="0" marL="0">
              <a:buNone/>
            </a:pPr>
            <a:r>
              <a:rPr lang="en-US" sz="1200" b="1" dirty="0">
                <a:solidFill>
                  <a:srgbClr val="F88B48"/>
                </a:solidFill>
                <a:latin typeface="Inter" pitchFamily="34" charset="0"/>
                <a:ea typeface="Inter" pitchFamily="34" charset="-122"/>
                <a:cs typeface="Inter" pitchFamily="34" charset="-120"/>
              </a:rPr>
              <a:t>Lines  </a:t>
            </a:r>
            <a:pPr indent="0" marL="0">
              <a:buNone/>
            </a:pPr>
            <a:r>
              <a:rPr lang="en-US" sz="1200" dirty="0">
                <a:solidFill>
                  <a:srgbClr val="292929"/>
                </a:solidFill>
                <a:latin typeface="Inter" pitchFamily="34" charset="0"/>
                <a:ea typeface="Inter" pitchFamily="34" charset="-122"/>
                <a:cs typeface="Inter" pitchFamily="34" charset="-120"/>
              </a:rPr>
              <a:t>Each line = one category or country</a:t>
            </a:r>
            <a:endParaRPr lang="en-US" sz="1200" dirty="0"/>
          </a:p>
        </p:txBody>
      </p:sp>
      <p:sp>
        <p:nvSpPr>
          <p:cNvPr id="13" name="Shape 9"/>
          <p:cNvSpPr/>
          <p:nvPr/>
        </p:nvSpPr>
        <p:spPr>
          <a:xfrm>
            <a:off x="5669280" y="3886200"/>
            <a:ext cx="3200400" cy="658368"/>
          </a:xfrm>
          <a:prstGeom prst="roundRect">
            <a:avLst>
              <a:gd name="adj" fmla="val 11111"/>
            </a:avLst>
          </a:prstGeom>
          <a:solidFill>
            <a:srgbClr val="EDF7F1"/>
          </a:solidFill>
          <a:ln w="12700">
            <a:solidFill>
              <a:srgbClr val="EDF7F1"/>
            </a:solidFill>
            <a:prstDash val="solid"/>
          </a:ln>
          <a:effectLst>
            <a:outerShdw sx="100000" sy="100000" kx="0" ky="0" algn="bl" rotWithShape="0" blurRad="50800" dist="12700" dir="2700000">
              <a:srgbClr val="000000">
                <a:alpha val="8000"/>
              </a:srgbClr>
            </a:outerShdw>
          </a:effectLst>
        </p:spPr>
      </p:sp>
      <p:sp>
        <p:nvSpPr>
          <p:cNvPr id="14" name="Text 10"/>
          <p:cNvSpPr/>
          <p:nvPr/>
        </p:nvSpPr>
        <p:spPr>
          <a:xfrm>
            <a:off x="5806440" y="3959352"/>
            <a:ext cx="2926080" cy="502920"/>
          </a:xfrm>
          <a:prstGeom prst="rect">
            <a:avLst/>
          </a:prstGeom>
          <a:noFill/>
          <a:ln/>
        </p:spPr>
        <p:txBody>
          <a:bodyPr wrap="square" lIns="0" tIns="0" rIns="0" bIns="0" rtlCol="0" anchor="ctr"/>
          <a:lstStyle/>
          <a:p>
            <a:pPr indent="0" marL="0">
              <a:buNone/>
            </a:pPr>
            <a:r>
              <a:rPr lang="en-US" sz="1200" b="1" dirty="0">
                <a:solidFill>
                  <a:srgbClr val="5FB27B"/>
                </a:solidFill>
                <a:latin typeface="Inter" pitchFamily="34" charset="0"/>
                <a:ea typeface="Inter" pitchFamily="34" charset="-122"/>
                <a:cs typeface="Inter" pitchFamily="34" charset="-120"/>
              </a:rPr>
              <a:t>Title  </a:t>
            </a:r>
            <a:pPr indent="0" marL="0">
              <a:buNone/>
            </a:pPr>
            <a:r>
              <a:rPr lang="en-US" sz="1200" dirty="0">
                <a:solidFill>
                  <a:srgbClr val="292929"/>
                </a:solidFill>
                <a:latin typeface="Inter" pitchFamily="34" charset="0"/>
                <a:ea typeface="Inter" pitchFamily="34" charset="-122"/>
                <a:cs typeface="Inter" pitchFamily="34" charset="-120"/>
              </a:rPr>
              <a:t>Tells you what is being measured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88B48"/>
          </a:solidFill>
          <a:ln w="12700">
            <a:solidFill>
              <a:srgbClr val="F88B48"/>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Part 1  ·  The parts of a line graph</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229600" cy="365760"/>
          </a:xfrm>
          <a:prstGeom prst="rect">
            <a:avLst/>
          </a:prstGeom>
          <a:noFill/>
          <a:ln/>
        </p:spPr>
        <p:txBody>
          <a:bodyPr wrap="square" lIns="0" tIns="0" rIns="0" bIns="0" rtlCol="0" anchor="ctr"/>
          <a:lstStyle/>
          <a:p>
            <a:pPr indent="0" marL="0">
              <a:buNone/>
            </a:pPr>
            <a:r>
              <a:rPr lang="en-US" sz="1300" dirty="0">
                <a:solidFill>
                  <a:srgbClr val="6B7280"/>
                </a:solidFill>
                <a:latin typeface="Inter" pitchFamily="34" charset="0"/>
                <a:ea typeface="Inter" pitchFamily="34" charset="-122"/>
                <a:cs typeface="Inter" pitchFamily="34" charset="-120"/>
              </a:rPr>
              <a:t>Make sure you can identify every part before you start writing.</a:t>
            </a:r>
            <a:endParaRPr lang="en-US" sz="1300" dirty="0"/>
          </a:p>
        </p:txBody>
      </p:sp>
      <p:sp>
        <p:nvSpPr>
          <p:cNvPr id="6" name="Shape 3"/>
          <p:cNvSpPr/>
          <p:nvPr/>
        </p:nvSpPr>
        <p:spPr>
          <a:xfrm>
            <a:off x="365760" y="1417320"/>
            <a:ext cx="4114800" cy="914400"/>
          </a:xfrm>
          <a:prstGeom prst="roundRect">
            <a:avLst>
              <a:gd name="adj" fmla="val 10000"/>
            </a:avLst>
          </a:prstGeom>
          <a:solidFill>
            <a:srgbClr val="FEF0E6"/>
          </a:solidFill>
          <a:ln w="12700">
            <a:solidFill>
              <a:srgbClr val="FEF0E6"/>
            </a:solidFill>
            <a:prstDash val="solid"/>
          </a:ln>
          <a:effectLst>
            <a:outerShdw sx="100000" sy="100000" kx="0" ky="0" algn="bl" rotWithShape="0" blurRad="50800" dist="12700" dir="2700000">
              <a:srgbClr val="000000">
                <a:alpha val="8000"/>
              </a:srgbClr>
            </a:outerShdw>
          </a:effectLst>
        </p:spPr>
      </p:sp>
      <p:sp>
        <p:nvSpPr>
          <p:cNvPr id="7" name="Text 4"/>
          <p:cNvSpPr/>
          <p:nvPr/>
        </p:nvSpPr>
        <p:spPr>
          <a:xfrm>
            <a:off x="530352" y="1508760"/>
            <a:ext cx="3749040" cy="256032"/>
          </a:xfrm>
          <a:prstGeom prst="rect">
            <a:avLst/>
          </a:prstGeom>
          <a:noFill/>
          <a:ln/>
        </p:spPr>
        <p:txBody>
          <a:bodyPr wrap="square" lIns="0" tIns="0" rIns="0" bIns="0" rtlCol="0" anchor="ctr"/>
          <a:lstStyle/>
          <a:p>
            <a:pPr indent="0" marL="0">
              <a:buNone/>
            </a:pPr>
            <a:r>
              <a:rPr lang="en-US" sz="1300" b="1" dirty="0">
                <a:solidFill>
                  <a:srgbClr val="F88B48"/>
                </a:solidFill>
                <a:latin typeface="Montserrat" pitchFamily="34" charset="0"/>
                <a:ea typeface="Montserrat" pitchFamily="34" charset="-122"/>
                <a:cs typeface="Montserrat" pitchFamily="34" charset="-120"/>
              </a:rPr>
              <a:t>Title</a:t>
            </a:r>
            <a:endParaRPr lang="en-US" sz="1300" dirty="0"/>
          </a:p>
        </p:txBody>
      </p:sp>
      <p:sp>
        <p:nvSpPr>
          <p:cNvPr id="8" name="Text 5"/>
          <p:cNvSpPr/>
          <p:nvPr/>
        </p:nvSpPr>
        <p:spPr>
          <a:xfrm>
            <a:off x="530352" y="176479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States what is being measured and the units. Paraphrase this for your introduction.</a:t>
            </a:r>
            <a:endParaRPr lang="en-US" sz="1100" dirty="0"/>
          </a:p>
        </p:txBody>
      </p:sp>
      <p:sp>
        <p:nvSpPr>
          <p:cNvPr id="9" name="Shape 6"/>
          <p:cNvSpPr/>
          <p:nvPr/>
        </p:nvSpPr>
        <p:spPr>
          <a:xfrm>
            <a:off x="365760" y="2514600"/>
            <a:ext cx="4114800" cy="914400"/>
          </a:xfrm>
          <a:prstGeom prst="roundRect">
            <a:avLst>
              <a:gd name="adj" fmla="val 10000"/>
            </a:avLst>
          </a:prstGeom>
          <a:solidFill>
            <a:srgbClr val="EDF7F1"/>
          </a:solidFill>
          <a:ln w="12700">
            <a:solidFill>
              <a:srgbClr val="EDF7F1"/>
            </a:solidFill>
            <a:prstDash val="solid"/>
          </a:ln>
          <a:effectLst>
            <a:outerShdw sx="100000" sy="100000" kx="0" ky="0" algn="bl" rotWithShape="0" blurRad="50800" dist="12700" dir="2700000">
              <a:srgbClr val="000000">
                <a:alpha val="8000"/>
              </a:srgbClr>
            </a:outerShdw>
          </a:effectLst>
        </p:spPr>
      </p:sp>
      <p:sp>
        <p:nvSpPr>
          <p:cNvPr id="10" name="Text 7"/>
          <p:cNvSpPr/>
          <p:nvPr/>
        </p:nvSpPr>
        <p:spPr>
          <a:xfrm>
            <a:off x="530352" y="2606040"/>
            <a:ext cx="3749040" cy="256032"/>
          </a:xfrm>
          <a:prstGeom prst="rect">
            <a:avLst/>
          </a:prstGeom>
          <a:noFill/>
          <a:ln/>
        </p:spPr>
        <p:txBody>
          <a:bodyPr wrap="square" lIns="0" tIns="0" rIns="0" bIns="0" rtlCol="0" anchor="ctr"/>
          <a:lstStyle/>
          <a:p>
            <a:pPr indent="0" marL="0">
              <a:buNone/>
            </a:pPr>
            <a:r>
              <a:rPr lang="en-US" sz="1300" b="1" dirty="0">
                <a:solidFill>
                  <a:srgbClr val="5FB27B"/>
                </a:solidFill>
                <a:latin typeface="Montserrat" pitchFamily="34" charset="0"/>
                <a:ea typeface="Montserrat" pitchFamily="34" charset="-122"/>
                <a:cs typeface="Montserrat" pitchFamily="34" charset="-120"/>
              </a:rPr>
              <a:t>X-axis</a:t>
            </a:r>
            <a:endParaRPr lang="en-US" sz="1300" dirty="0"/>
          </a:p>
        </p:txBody>
      </p:sp>
      <p:sp>
        <p:nvSpPr>
          <p:cNvPr id="11" name="Text 8"/>
          <p:cNvSpPr/>
          <p:nvPr/>
        </p:nvSpPr>
        <p:spPr>
          <a:xfrm>
            <a:off x="530352" y="286207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Shows time — years, months, or another time period.</a:t>
            </a:r>
            <a:endParaRPr lang="en-US" sz="1100" dirty="0"/>
          </a:p>
        </p:txBody>
      </p:sp>
      <p:sp>
        <p:nvSpPr>
          <p:cNvPr id="12" name="Shape 9"/>
          <p:cNvSpPr/>
          <p:nvPr/>
        </p:nvSpPr>
        <p:spPr>
          <a:xfrm>
            <a:off x="365760" y="3611880"/>
            <a:ext cx="4114800" cy="914400"/>
          </a:xfrm>
          <a:prstGeom prst="roundRect">
            <a:avLst>
              <a:gd name="adj" fmla="val 10000"/>
            </a:avLst>
          </a:prstGeom>
          <a:solidFill>
            <a:srgbClr val="FEF0E6"/>
          </a:solidFill>
          <a:ln w="12700">
            <a:solidFill>
              <a:srgbClr val="FEF0E6"/>
            </a:solidFill>
            <a:prstDash val="solid"/>
          </a:ln>
          <a:effectLst>
            <a:outerShdw sx="100000" sy="100000" kx="0" ky="0" algn="bl" rotWithShape="0" blurRad="50800" dist="12700" dir="2700000">
              <a:srgbClr val="000000">
                <a:alpha val="8000"/>
              </a:srgbClr>
            </a:outerShdw>
          </a:effectLst>
        </p:spPr>
      </p:sp>
      <p:sp>
        <p:nvSpPr>
          <p:cNvPr id="13" name="Text 10"/>
          <p:cNvSpPr/>
          <p:nvPr/>
        </p:nvSpPr>
        <p:spPr>
          <a:xfrm>
            <a:off x="530352" y="3703320"/>
            <a:ext cx="3749040" cy="256032"/>
          </a:xfrm>
          <a:prstGeom prst="rect">
            <a:avLst/>
          </a:prstGeom>
          <a:noFill/>
          <a:ln/>
        </p:spPr>
        <p:txBody>
          <a:bodyPr wrap="square" lIns="0" tIns="0" rIns="0" bIns="0" rtlCol="0" anchor="ctr"/>
          <a:lstStyle/>
          <a:p>
            <a:pPr indent="0" marL="0">
              <a:buNone/>
            </a:pPr>
            <a:r>
              <a:rPr lang="en-US" sz="1300" b="1" dirty="0">
                <a:solidFill>
                  <a:srgbClr val="F88B48"/>
                </a:solidFill>
                <a:latin typeface="Montserrat" pitchFamily="34" charset="0"/>
                <a:ea typeface="Montserrat" pitchFamily="34" charset="-122"/>
                <a:cs typeface="Montserrat" pitchFamily="34" charset="-120"/>
              </a:rPr>
              <a:t>Y-axis</a:t>
            </a:r>
            <a:endParaRPr lang="en-US" sz="1300" dirty="0"/>
          </a:p>
        </p:txBody>
      </p:sp>
      <p:sp>
        <p:nvSpPr>
          <p:cNvPr id="14" name="Text 11"/>
          <p:cNvSpPr/>
          <p:nvPr/>
        </p:nvSpPr>
        <p:spPr>
          <a:xfrm>
            <a:off x="530352" y="395935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Shows the quantity being measured (e.g. %, millions, kg).</a:t>
            </a:r>
            <a:endParaRPr lang="en-US" sz="1100" dirty="0"/>
          </a:p>
        </p:txBody>
      </p:sp>
      <p:sp>
        <p:nvSpPr>
          <p:cNvPr id="15" name="Shape 12"/>
          <p:cNvSpPr/>
          <p:nvPr/>
        </p:nvSpPr>
        <p:spPr>
          <a:xfrm>
            <a:off x="4709160" y="1417320"/>
            <a:ext cx="4114800" cy="914400"/>
          </a:xfrm>
          <a:prstGeom prst="roundRect">
            <a:avLst>
              <a:gd name="adj" fmla="val 10000"/>
            </a:avLst>
          </a:prstGeom>
          <a:solidFill>
            <a:srgbClr val="EDF7F1"/>
          </a:solidFill>
          <a:ln w="12700">
            <a:solidFill>
              <a:srgbClr val="EDF7F1"/>
            </a:solidFill>
            <a:prstDash val="solid"/>
          </a:ln>
          <a:effectLst>
            <a:outerShdw sx="100000" sy="100000" kx="0" ky="0" algn="bl" rotWithShape="0" blurRad="50800" dist="12700" dir="2700000">
              <a:srgbClr val="000000">
                <a:alpha val="8000"/>
              </a:srgbClr>
            </a:outerShdw>
          </a:effectLst>
        </p:spPr>
      </p:sp>
      <p:sp>
        <p:nvSpPr>
          <p:cNvPr id="16" name="Text 13"/>
          <p:cNvSpPr/>
          <p:nvPr/>
        </p:nvSpPr>
        <p:spPr>
          <a:xfrm>
            <a:off x="4873752" y="1508760"/>
            <a:ext cx="3749040" cy="256032"/>
          </a:xfrm>
          <a:prstGeom prst="rect">
            <a:avLst/>
          </a:prstGeom>
          <a:noFill/>
          <a:ln/>
        </p:spPr>
        <p:txBody>
          <a:bodyPr wrap="square" lIns="0" tIns="0" rIns="0" bIns="0" rtlCol="0" anchor="ctr"/>
          <a:lstStyle/>
          <a:p>
            <a:pPr indent="0" marL="0">
              <a:buNone/>
            </a:pPr>
            <a:r>
              <a:rPr lang="en-US" sz="1300" b="1" dirty="0">
                <a:solidFill>
                  <a:srgbClr val="5FB27B"/>
                </a:solidFill>
                <a:latin typeface="Montserrat" pitchFamily="34" charset="0"/>
                <a:ea typeface="Montserrat" pitchFamily="34" charset="-122"/>
                <a:cs typeface="Montserrat" pitchFamily="34" charset="-120"/>
              </a:rPr>
              <a:t>Key / Legend</a:t>
            </a:r>
            <a:endParaRPr lang="en-US" sz="1300" dirty="0"/>
          </a:p>
        </p:txBody>
      </p:sp>
      <p:sp>
        <p:nvSpPr>
          <p:cNvPr id="17" name="Text 14"/>
          <p:cNvSpPr/>
          <p:nvPr/>
        </p:nvSpPr>
        <p:spPr>
          <a:xfrm>
            <a:off x="4873752" y="176479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Identifies what each line represents. Essential for multiple-line graphs.</a:t>
            </a:r>
            <a:endParaRPr lang="en-US" sz="1100" dirty="0"/>
          </a:p>
        </p:txBody>
      </p:sp>
      <p:sp>
        <p:nvSpPr>
          <p:cNvPr id="18" name="Shape 15"/>
          <p:cNvSpPr/>
          <p:nvPr/>
        </p:nvSpPr>
        <p:spPr>
          <a:xfrm>
            <a:off x="4709160" y="2514600"/>
            <a:ext cx="4114800" cy="914400"/>
          </a:xfrm>
          <a:prstGeom prst="roundRect">
            <a:avLst>
              <a:gd name="adj" fmla="val 10000"/>
            </a:avLst>
          </a:prstGeom>
          <a:solidFill>
            <a:srgbClr val="FEF0E6"/>
          </a:solidFill>
          <a:ln w="12700">
            <a:solidFill>
              <a:srgbClr val="FEF0E6"/>
            </a:solidFill>
            <a:prstDash val="solid"/>
          </a:ln>
          <a:effectLst>
            <a:outerShdw sx="100000" sy="100000" kx="0" ky="0" algn="bl" rotWithShape="0" blurRad="50800" dist="12700" dir="2700000">
              <a:srgbClr val="000000">
                <a:alpha val="8000"/>
              </a:srgbClr>
            </a:outerShdw>
          </a:effectLst>
        </p:spPr>
      </p:sp>
      <p:sp>
        <p:nvSpPr>
          <p:cNvPr id="19" name="Text 16"/>
          <p:cNvSpPr/>
          <p:nvPr/>
        </p:nvSpPr>
        <p:spPr>
          <a:xfrm>
            <a:off x="4873752" y="2606040"/>
            <a:ext cx="3749040" cy="256032"/>
          </a:xfrm>
          <a:prstGeom prst="rect">
            <a:avLst/>
          </a:prstGeom>
          <a:noFill/>
          <a:ln/>
        </p:spPr>
        <p:txBody>
          <a:bodyPr wrap="square" lIns="0" tIns="0" rIns="0" bIns="0" rtlCol="0" anchor="ctr"/>
          <a:lstStyle/>
          <a:p>
            <a:pPr indent="0" marL="0">
              <a:buNone/>
            </a:pPr>
            <a:r>
              <a:rPr lang="en-US" sz="1300" b="1" dirty="0">
                <a:solidFill>
                  <a:srgbClr val="F88B48"/>
                </a:solidFill>
                <a:latin typeface="Montserrat" pitchFamily="34" charset="0"/>
                <a:ea typeface="Montserrat" pitchFamily="34" charset="-122"/>
                <a:cs typeface="Montserrat" pitchFamily="34" charset="-120"/>
              </a:rPr>
              <a:t>Data points</a:t>
            </a:r>
            <a:endParaRPr lang="en-US" sz="1300" dirty="0"/>
          </a:p>
        </p:txBody>
      </p:sp>
      <p:sp>
        <p:nvSpPr>
          <p:cNvPr id="20" name="Text 17"/>
          <p:cNvSpPr/>
          <p:nvPr/>
        </p:nvSpPr>
        <p:spPr>
          <a:xfrm>
            <a:off x="4873752" y="286207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The specific values plotted at each time interval.</a:t>
            </a:r>
            <a:endParaRPr lang="en-US" sz="1100" dirty="0"/>
          </a:p>
        </p:txBody>
      </p:sp>
      <p:sp>
        <p:nvSpPr>
          <p:cNvPr id="21" name="Shape 18"/>
          <p:cNvSpPr/>
          <p:nvPr/>
        </p:nvSpPr>
        <p:spPr>
          <a:xfrm>
            <a:off x="4709160" y="3611880"/>
            <a:ext cx="4114800" cy="914400"/>
          </a:xfrm>
          <a:prstGeom prst="roundRect">
            <a:avLst>
              <a:gd name="adj" fmla="val 10000"/>
            </a:avLst>
          </a:prstGeom>
          <a:solidFill>
            <a:srgbClr val="EDF7F1"/>
          </a:solidFill>
          <a:ln w="12700">
            <a:solidFill>
              <a:srgbClr val="EDF7F1"/>
            </a:solidFill>
            <a:prstDash val="solid"/>
          </a:ln>
          <a:effectLst>
            <a:outerShdw sx="100000" sy="100000" kx="0" ky="0" algn="bl" rotWithShape="0" blurRad="50800" dist="12700" dir="2700000">
              <a:srgbClr val="000000">
                <a:alpha val="8000"/>
              </a:srgbClr>
            </a:outerShdw>
          </a:effectLst>
        </p:spPr>
      </p:sp>
      <p:sp>
        <p:nvSpPr>
          <p:cNvPr id="22" name="Text 19"/>
          <p:cNvSpPr/>
          <p:nvPr/>
        </p:nvSpPr>
        <p:spPr>
          <a:xfrm>
            <a:off x="4873752" y="3703320"/>
            <a:ext cx="3749040" cy="256032"/>
          </a:xfrm>
          <a:prstGeom prst="rect">
            <a:avLst/>
          </a:prstGeom>
          <a:noFill/>
          <a:ln/>
        </p:spPr>
        <p:txBody>
          <a:bodyPr wrap="square" lIns="0" tIns="0" rIns="0" bIns="0" rtlCol="0" anchor="ctr"/>
          <a:lstStyle/>
          <a:p>
            <a:pPr indent="0" marL="0">
              <a:buNone/>
            </a:pPr>
            <a:r>
              <a:rPr lang="en-US" sz="1300" b="1" dirty="0">
                <a:solidFill>
                  <a:srgbClr val="5FB27B"/>
                </a:solidFill>
                <a:latin typeface="Montserrat" pitchFamily="34" charset="0"/>
                <a:ea typeface="Montserrat" pitchFamily="34" charset="-122"/>
                <a:cs typeface="Montserrat" pitchFamily="34" charset="-120"/>
              </a:rPr>
              <a:t>Units</a:t>
            </a:r>
            <a:endParaRPr lang="en-US" sz="1300" dirty="0"/>
          </a:p>
        </p:txBody>
      </p:sp>
      <p:sp>
        <p:nvSpPr>
          <p:cNvPr id="23" name="Text 20"/>
          <p:cNvSpPr/>
          <p:nvPr/>
        </p:nvSpPr>
        <p:spPr>
          <a:xfrm>
            <a:off x="4873752" y="3959352"/>
            <a:ext cx="3749040" cy="457200"/>
          </a:xfrm>
          <a:prstGeom prst="rect">
            <a:avLst/>
          </a:prstGeom>
          <a:noFill/>
          <a:ln/>
        </p:spPr>
        <p:txBody>
          <a:bodyPr wrap="square" lIns="0" tIns="0" rIns="0" bIns="0" rtlCol="0" anchor="ctr"/>
          <a:lstStyle/>
          <a:p>
            <a:pPr indent="0" marL="0">
              <a:buNone/>
            </a:pPr>
            <a:r>
              <a:rPr lang="en-US" sz="1100" dirty="0">
                <a:solidFill>
                  <a:srgbClr val="292929"/>
                </a:solidFill>
                <a:latin typeface="Inter" pitchFamily="34" charset="0"/>
                <a:ea typeface="Inter" pitchFamily="34" charset="-122"/>
                <a:cs typeface="Inter" pitchFamily="34" charset="-120"/>
              </a:rPr>
              <a:t>The measurement used — always include these when describing values.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5FB27B"/>
          </a:solidFill>
          <a:ln w="12700">
            <a:solidFill>
              <a:srgbClr val="5FB27B"/>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Part 2  ·  Types of line graphs</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Shape 2"/>
          <p:cNvSpPr/>
          <p:nvPr/>
        </p:nvSpPr>
        <p:spPr>
          <a:xfrm>
            <a:off x="274320" y="868680"/>
            <a:ext cx="4114800" cy="411480"/>
          </a:xfrm>
          <a:prstGeom prst="roundRect">
            <a:avLst>
              <a:gd name="adj" fmla="val 13333"/>
            </a:avLst>
          </a:prstGeom>
          <a:solidFill>
            <a:srgbClr val="FEF0E6"/>
          </a:solidFill>
          <a:ln w="12700">
            <a:solidFill>
              <a:srgbClr val="FEF0E6"/>
            </a:solidFill>
            <a:prstDash val="solid"/>
          </a:ln>
        </p:spPr>
      </p:sp>
      <p:sp>
        <p:nvSpPr>
          <p:cNvPr id="6" name="Text 3"/>
          <p:cNvSpPr/>
          <p:nvPr/>
        </p:nvSpPr>
        <p:spPr>
          <a:xfrm>
            <a:off x="274320" y="868680"/>
            <a:ext cx="4114800" cy="411480"/>
          </a:xfrm>
          <a:prstGeom prst="rect">
            <a:avLst/>
          </a:prstGeom>
          <a:noFill/>
          <a:ln/>
        </p:spPr>
        <p:txBody>
          <a:bodyPr wrap="square" lIns="0" tIns="0" rIns="0" bIns="0" rtlCol="0" anchor="ctr"/>
          <a:lstStyle/>
          <a:p>
            <a:pPr algn="ctr" indent="0" marL="0">
              <a:buNone/>
            </a:pPr>
            <a:r>
              <a:rPr lang="en-US" sz="1400" b="1" dirty="0">
                <a:solidFill>
                  <a:srgbClr val="F88B48"/>
                </a:solidFill>
                <a:latin typeface="Montserrat" pitchFamily="34" charset="0"/>
                <a:ea typeface="Montserrat" pitchFamily="34" charset="-122"/>
                <a:cs typeface="Montserrat" pitchFamily="34" charset="-120"/>
              </a:rPr>
              <a:t>Single line graph</a:t>
            </a:r>
            <a:endParaRPr lang="en-US" sz="1400" dirty="0"/>
          </a:p>
        </p:txBody>
      </p:sp>
      <p:graphicFrame>
        <p:nvGraphicFramePr>
          <p:cNvPr id="7" name="Chart 0" descr=""/>
          <p:cNvGraphicFramePr/>
          <p:nvPr/>
        </p:nvGraphicFramePr>
        <p:xfrm>
          <a:off x="274320" y="1325880"/>
          <a:ext cx="4114800" cy="27432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274320" y="4114800"/>
            <a:ext cx="4114800" cy="640080"/>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One trend to describe.</a:t>
            </a:r>
            <a:endParaRPr lang="en-US" sz="1100" dirty="0"/>
          </a:p>
          <a:p>
            <a:pPr indent="0" marL="0">
              <a:buNone/>
            </a:pPr>
            <a:r>
              <a:rPr lang="en-US" sz="1100" dirty="0">
                <a:solidFill>
                  <a:srgbClr val="6B7280"/>
                </a:solidFill>
                <a:latin typeface="Inter" pitchFamily="34" charset="0"/>
                <a:ea typeface="Inter" pitchFamily="34" charset="-122"/>
                <a:cs typeface="Inter" pitchFamily="34" charset="-120"/>
              </a:rPr>
              <a:t>Focus: overall movement + key changes.</a:t>
            </a:r>
            <a:endParaRPr lang="en-US" sz="1100" dirty="0"/>
          </a:p>
        </p:txBody>
      </p:sp>
      <p:sp>
        <p:nvSpPr>
          <p:cNvPr id="9" name="Shape 5"/>
          <p:cNvSpPr/>
          <p:nvPr/>
        </p:nvSpPr>
        <p:spPr>
          <a:xfrm>
            <a:off x="4754880" y="868680"/>
            <a:ext cx="4114800" cy="411480"/>
          </a:xfrm>
          <a:prstGeom prst="roundRect">
            <a:avLst>
              <a:gd name="adj" fmla="val 13333"/>
            </a:avLst>
          </a:prstGeom>
          <a:solidFill>
            <a:srgbClr val="EDF7F1"/>
          </a:solidFill>
          <a:ln w="12700">
            <a:solidFill>
              <a:srgbClr val="EDF7F1"/>
            </a:solidFill>
            <a:prstDash val="solid"/>
          </a:ln>
        </p:spPr>
      </p:sp>
      <p:sp>
        <p:nvSpPr>
          <p:cNvPr id="10" name="Text 6"/>
          <p:cNvSpPr/>
          <p:nvPr/>
        </p:nvSpPr>
        <p:spPr>
          <a:xfrm>
            <a:off x="4754880" y="868680"/>
            <a:ext cx="4114800" cy="411480"/>
          </a:xfrm>
          <a:prstGeom prst="rect">
            <a:avLst/>
          </a:prstGeom>
          <a:noFill/>
          <a:ln/>
        </p:spPr>
        <p:txBody>
          <a:bodyPr wrap="square" lIns="0" tIns="0" rIns="0" bIns="0" rtlCol="0" anchor="ctr"/>
          <a:lstStyle/>
          <a:p>
            <a:pPr algn="ctr" indent="0" marL="0">
              <a:buNone/>
            </a:pPr>
            <a:r>
              <a:rPr lang="en-US" sz="1400" b="1" dirty="0">
                <a:solidFill>
                  <a:srgbClr val="5FB27B"/>
                </a:solidFill>
                <a:latin typeface="Montserrat" pitchFamily="34" charset="0"/>
                <a:ea typeface="Montserrat" pitchFamily="34" charset="-122"/>
                <a:cs typeface="Montserrat" pitchFamily="34" charset="-120"/>
              </a:rPr>
              <a:t>Multiple line graph</a:t>
            </a:r>
            <a:endParaRPr lang="en-US" sz="1400" dirty="0"/>
          </a:p>
        </p:txBody>
      </p:sp>
      <p:graphicFrame>
        <p:nvGraphicFramePr>
          <p:cNvPr id="11" name="Chart 1" descr=""/>
          <p:cNvGraphicFramePr/>
          <p:nvPr/>
        </p:nvGraphicFramePr>
        <p:xfrm>
          <a:off x="4754880" y="1325880"/>
          <a:ext cx="4114800" cy="2743200"/>
        </p:xfrm>
        <a:graphic xmlns:a="http://schemas.openxmlformats.org/drawingml/2006/main">
          <a:graphicData uri="http://schemas.openxmlformats.org/drawingml/2006/chart">
            <c:chart xmlns:c="http://schemas.openxmlformats.org/drawingml/2006/chart" r:id="rId3"/>
          </a:graphicData>
        </a:graphic>
      </p:graphicFrame>
      <p:sp>
        <p:nvSpPr>
          <p:cNvPr id="12" name="Text 7"/>
          <p:cNvSpPr/>
          <p:nvPr/>
        </p:nvSpPr>
        <p:spPr>
          <a:xfrm>
            <a:off x="4754880" y="4114800"/>
            <a:ext cx="4114800" cy="640080"/>
          </a:xfrm>
          <a:prstGeom prst="rect">
            <a:avLst/>
          </a:prstGeom>
          <a:noFill/>
          <a:ln/>
        </p:spPr>
        <p:txBody>
          <a:bodyPr wrap="square" lIns="0" tIns="0" rIns="0" bIns="0" rtlCol="0" anchor="ctr"/>
          <a:lstStyle/>
          <a:p>
            <a:pPr indent="0" marL="0">
              <a:buNone/>
            </a:pPr>
            <a:r>
              <a:rPr lang="en-US" sz="1100" dirty="0">
                <a:solidFill>
                  <a:srgbClr val="6B7280"/>
                </a:solidFill>
                <a:latin typeface="Inter" pitchFamily="34" charset="0"/>
                <a:ea typeface="Inter" pitchFamily="34" charset="-122"/>
                <a:cs typeface="Inter" pitchFamily="34" charset="-120"/>
              </a:rPr>
              <a:t>Multiple trends to compare.</a:t>
            </a:r>
            <a:endParaRPr lang="en-US" sz="1100" dirty="0"/>
          </a:p>
          <a:p>
            <a:pPr indent="0" marL="0">
              <a:buNone/>
            </a:pPr>
            <a:r>
              <a:rPr lang="en-US" sz="1100" dirty="0">
                <a:solidFill>
                  <a:srgbClr val="6B7280"/>
                </a:solidFill>
                <a:latin typeface="Inter" pitchFamily="34" charset="0"/>
                <a:ea typeface="Inter" pitchFamily="34" charset="-122"/>
                <a:cs typeface="Inter" pitchFamily="34" charset="-120"/>
              </a:rPr>
              <a:t>Focus: similarities, differences, crossover points.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88B48"/>
          </a:solidFill>
          <a:ln w="12700">
            <a:solidFill>
              <a:srgbClr val="F88B48"/>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Part 3  ·  What IELTS Task 1 asks you to do</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229600" cy="365760"/>
          </a:xfrm>
          <a:prstGeom prst="rect">
            <a:avLst/>
          </a:prstGeom>
          <a:noFill/>
          <a:ln/>
        </p:spPr>
        <p:txBody>
          <a:bodyPr wrap="square" lIns="0" tIns="0" rIns="0" bIns="0" rtlCol="0" anchor="ctr"/>
          <a:lstStyle/>
          <a:p>
            <a:pPr indent="0" marL="0">
              <a:buNone/>
            </a:pPr>
            <a:r>
              <a:rPr lang="en-US" sz="1400" dirty="0">
                <a:solidFill>
                  <a:srgbClr val="6B7280"/>
                </a:solidFill>
                <a:latin typeface="Inter" pitchFamily="34" charset="0"/>
                <a:ea typeface="Inter" pitchFamily="34" charset="-122"/>
                <a:cs typeface="Inter" pitchFamily="34" charset="-120"/>
              </a:rPr>
              <a:t>The task instruction always asks you to:</a:t>
            </a:r>
            <a:endParaRPr lang="en-US" sz="1400" dirty="0"/>
          </a:p>
        </p:txBody>
      </p:sp>
      <p:sp>
        <p:nvSpPr>
          <p:cNvPr id="6" name="Shape 3"/>
          <p:cNvSpPr/>
          <p:nvPr/>
        </p:nvSpPr>
        <p:spPr>
          <a:xfrm>
            <a:off x="365760" y="1417320"/>
            <a:ext cx="2606040" cy="3291840"/>
          </a:xfrm>
          <a:prstGeom prst="roundRect">
            <a:avLst>
              <a:gd name="adj" fmla="val 4211"/>
            </a:avLst>
          </a:prstGeom>
          <a:solidFill>
            <a:srgbClr val="FFFFFF"/>
          </a:solidFill>
          <a:ln w="12700">
            <a:solidFill>
              <a:srgbClr val="E5E7EB"/>
            </a:solidFill>
            <a:prstDash val="solid"/>
          </a:ln>
          <a:effectLst>
            <a:outerShdw sx="100000" sy="100000" kx="0" ky="0" algn="bl" rotWithShape="0" blurRad="101600" dist="25400" dir="2700000">
              <a:srgbClr val="000000">
                <a:alpha val="10000"/>
              </a:srgbClr>
            </a:outerShdw>
          </a:effectLst>
        </p:spPr>
      </p:sp>
      <p:sp>
        <p:nvSpPr>
          <p:cNvPr id="7" name="Shape 4"/>
          <p:cNvSpPr/>
          <p:nvPr/>
        </p:nvSpPr>
        <p:spPr>
          <a:xfrm>
            <a:off x="1216152" y="1600200"/>
            <a:ext cx="914400" cy="914400"/>
          </a:xfrm>
          <a:prstGeom prst="ellipse">
            <a:avLst/>
          </a:prstGeom>
          <a:solidFill>
            <a:srgbClr val="F88B48"/>
          </a:solidFill>
          <a:ln w="12700">
            <a:solidFill>
              <a:srgbClr val="F88B48"/>
            </a:solidFill>
            <a:prstDash val="solid"/>
          </a:ln>
        </p:spPr>
      </p:sp>
      <p:pic>
        <p:nvPicPr>
          <p:cNvPr id="8" name="Image 1" descr="preencoded.png">    </p:cNvPr>
          <p:cNvPicPr>
            <a:picLocks noChangeAspect="1"/>
          </p:cNvPicPr>
          <p:nvPr/>
        </p:nvPicPr>
        <p:blipFill>
          <a:blip r:embed="rId2"/>
          <a:stretch>
            <a:fillRect/>
          </a:stretch>
        </p:blipFill>
        <p:spPr>
          <a:xfrm>
            <a:off x="1344168" y="1719072"/>
            <a:ext cx="658368" cy="658368"/>
          </a:xfrm>
          <a:prstGeom prst="rect">
            <a:avLst/>
          </a:prstGeom>
        </p:spPr>
      </p:pic>
      <p:sp>
        <p:nvSpPr>
          <p:cNvPr id="9" name="Text 5"/>
          <p:cNvSpPr/>
          <p:nvPr/>
        </p:nvSpPr>
        <p:spPr>
          <a:xfrm>
            <a:off x="365760" y="2651760"/>
            <a:ext cx="2606040" cy="411480"/>
          </a:xfrm>
          <a:prstGeom prst="rect">
            <a:avLst/>
          </a:prstGeom>
          <a:noFill/>
          <a:ln/>
        </p:spPr>
        <p:txBody>
          <a:bodyPr wrap="square" lIns="0" tIns="0" rIns="0" bIns="0" rtlCol="0" anchor="ctr"/>
          <a:lstStyle/>
          <a:p>
            <a:pPr algn="ctr" indent="0" marL="0">
              <a:buNone/>
            </a:pPr>
            <a:r>
              <a:rPr lang="en-US" sz="1600" b="1" spc="200" kern="0" dirty="0">
                <a:solidFill>
                  <a:srgbClr val="F88B48"/>
                </a:solidFill>
                <a:latin typeface="Montserrat" pitchFamily="34" charset="0"/>
                <a:ea typeface="Montserrat" pitchFamily="34" charset="-122"/>
                <a:cs typeface="Montserrat" pitchFamily="34" charset="-120"/>
              </a:rPr>
              <a:t>SELECT</a:t>
            </a:r>
            <a:endParaRPr lang="en-US" sz="1600" dirty="0"/>
          </a:p>
        </p:txBody>
      </p:sp>
      <p:sp>
        <p:nvSpPr>
          <p:cNvPr id="10" name="Text 6"/>
          <p:cNvSpPr/>
          <p:nvPr/>
        </p:nvSpPr>
        <p:spPr>
          <a:xfrm>
            <a:off x="530352" y="3127248"/>
            <a:ext cx="2286000" cy="1417320"/>
          </a:xfrm>
          <a:prstGeom prst="rect">
            <a:avLst/>
          </a:prstGeom>
          <a:noFill/>
          <a:ln/>
        </p:spPr>
        <p:txBody>
          <a:bodyPr wrap="square" lIns="0" tIns="0" rIns="0" bIns="0" rtlCol="0" anchor="ctr"/>
          <a:lstStyle/>
          <a:p>
            <a:pPr algn="ctr" indent="0" marL="0">
              <a:buNone/>
            </a:pPr>
            <a:r>
              <a:rPr lang="en-US" sz="1100" dirty="0">
                <a:solidFill>
                  <a:srgbClr val="292929"/>
                </a:solidFill>
                <a:latin typeface="Inter" pitchFamily="34" charset="0"/>
                <a:ea typeface="Inter" pitchFamily="34" charset="-122"/>
                <a:cs typeface="Inter" pitchFamily="34" charset="-120"/>
              </a:rPr>
              <a:t>Choose the most important features. You cannot and should not describe everything.</a:t>
            </a:r>
            <a:endParaRPr lang="en-US" sz="1100" dirty="0"/>
          </a:p>
        </p:txBody>
      </p:sp>
      <p:sp>
        <p:nvSpPr>
          <p:cNvPr id="11" name="Shape 7"/>
          <p:cNvSpPr/>
          <p:nvPr/>
        </p:nvSpPr>
        <p:spPr>
          <a:xfrm>
            <a:off x="3200400" y="1417320"/>
            <a:ext cx="2606040" cy="3291840"/>
          </a:xfrm>
          <a:prstGeom prst="roundRect">
            <a:avLst>
              <a:gd name="adj" fmla="val 4211"/>
            </a:avLst>
          </a:prstGeom>
          <a:solidFill>
            <a:srgbClr val="FFFFFF"/>
          </a:solidFill>
          <a:ln w="12700">
            <a:solidFill>
              <a:srgbClr val="E5E7EB"/>
            </a:solidFill>
            <a:prstDash val="solid"/>
          </a:ln>
          <a:effectLst>
            <a:outerShdw sx="100000" sy="100000" kx="0" ky="0" algn="bl" rotWithShape="0" blurRad="101600" dist="25400" dir="2700000">
              <a:srgbClr val="000000">
                <a:alpha val="10000"/>
              </a:srgbClr>
            </a:outerShdw>
          </a:effectLst>
        </p:spPr>
      </p:sp>
      <p:sp>
        <p:nvSpPr>
          <p:cNvPr id="12" name="Shape 8"/>
          <p:cNvSpPr/>
          <p:nvPr/>
        </p:nvSpPr>
        <p:spPr>
          <a:xfrm>
            <a:off x="4050792" y="1600200"/>
            <a:ext cx="914400" cy="914400"/>
          </a:xfrm>
          <a:prstGeom prst="ellipse">
            <a:avLst/>
          </a:prstGeom>
          <a:solidFill>
            <a:srgbClr val="5FB27B"/>
          </a:solidFill>
          <a:ln w="12700">
            <a:solidFill>
              <a:srgbClr val="5FB27B"/>
            </a:solidFill>
            <a:prstDash val="solid"/>
          </a:ln>
        </p:spPr>
      </p:sp>
      <p:pic>
        <p:nvPicPr>
          <p:cNvPr id="13" name="Image 2" descr="preencoded.png">    </p:cNvPr>
          <p:cNvPicPr>
            <a:picLocks noChangeAspect="1"/>
          </p:cNvPicPr>
          <p:nvPr/>
        </p:nvPicPr>
        <p:blipFill>
          <a:blip r:embed="rId3"/>
          <a:stretch>
            <a:fillRect/>
          </a:stretch>
        </p:blipFill>
        <p:spPr>
          <a:xfrm>
            <a:off x="4178808" y="1719072"/>
            <a:ext cx="658368" cy="658368"/>
          </a:xfrm>
          <a:prstGeom prst="rect">
            <a:avLst/>
          </a:prstGeom>
        </p:spPr>
      </p:pic>
      <p:sp>
        <p:nvSpPr>
          <p:cNvPr id="14" name="Text 9"/>
          <p:cNvSpPr/>
          <p:nvPr/>
        </p:nvSpPr>
        <p:spPr>
          <a:xfrm>
            <a:off x="3200400" y="2651760"/>
            <a:ext cx="2606040" cy="411480"/>
          </a:xfrm>
          <a:prstGeom prst="rect">
            <a:avLst/>
          </a:prstGeom>
          <a:noFill/>
          <a:ln/>
        </p:spPr>
        <p:txBody>
          <a:bodyPr wrap="square" lIns="0" tIns="0" rIns="0" bIns="0" rtlCol="0" anchor="ctr"/>
          <a:lstStyle/>
          <a:p>
            <a:pPr algn="ctr" indent="0" marL="0">
              <a:buNone/>
            </a:pPr>
            <a:r>
              <a:rPr lang="en-US" sz="1600" b="1" spc="200" kern="0" dirty="0">
                <a:solidFill>
                  <a:srgbClr val="5FB27B"/>
                </a:solidFill>
                <a:latin typeface="Montserrat" pitchFamily="34" charset="0"/>
                <a:ea typeface="Montserrat" pitchFamily="34" charset="-122"/>
                <a:cs typeface="Montserrat" pitchFamily="34" charset="-120"/>
              </a:rPr>
              <a:t>DESCRIBE</a:t>
            </a:r>
            <a:endParaRPr lang="en-US" sz="1600" dirty="0"/>
          </a:p>
        </p:txBody>
      </p:sp>
      <p:sp>
        <p:nvSpPr>
          <p:cNvPr id="15" name="Text 10"/>
          <p:cNvSpPr/>
          <p:nvPr/>
        </p:nvSpPr>
        <p:spPr>
          <a:xfrm>
            <a:off x="3364992" y="3127248"/>
            <a:ext cx="2286000" cy="1417320"/>
          </a:xfrm>
          <a:prstGeom prst="rect">
            <a:avLst/>
          </a:prstGeom>
          <a:noFill/>
          <a:ln/>
        </p:spPr>
        <p:txBody>
          <a:bodyPr wrap="square" lIns="0" tIns="0" rIns="0" bIns="0" rtlCol="0" anchor="ctr"/>
          <a:lstStyle/>
          <a:p>
            <a:pPr algn="ctr" indent="0" marL="0">
              <a:buNone/>
            </a:pPr>
            <a:r>
              <a:rPr lang="en-US" sz="1100" dirty="0">
                <a:solidFill>
                  <a:srgbClr val="292929"/>
                </a:solidFill>
                <a:latin typeface="Inter" pitchFamily="34" charset="0"/>
                <a:ea typeface="Inter" pitchFamily="34" charset="-122"/>
                <a:cs typeface="Inter" pitchFamily="34" charset="-120"/>
              </a:rPr>
              <a:t>Report the data accurately using numbers, units, and appropriate vocabulary.</a:t>
            </a:r>
            <a:endParaRPr lang="en-US" sz="1100" dirty="0"/>
          </a:p>
        </p:txBody>
      </p:sp>
      <p:sp>
        <p:nvSpPr>
          <p:cNvPr id="16" name="Shape 11"/>
          <p:cNvSpPr/>
          <p:nvPr/>
        </p:nvSpPr>
        <p:spPr>
          <a:xfrm>
            <a:off x="6035040" y="1417320"/>
            <a:ext cx="2606040" cy="3291840"/>
          </a:xfrm>
          <a:prstGeom prst="roundRect">
            <a:avLst>
              <a:gd name="adj" fmla="val 4211"/>
            </a:avLst>
          </a:prstGeom>
          <a:solidFill>
            <a:srgbClr val="FFFFFF"/>
          </a:solidFill>
          <a:ln w="12700">
            <a:solidFill>
              <a:srgbClr val="E5E7EB"/>
            </a:solidFill>
            <a:prstDash val="solid"/>
          </a:ln>
          <a:effectLst>
            <a:outerShdw sx="100000" sy="100000" kx="0" ky="0" algn="bl" rotWithShape="0" blurRad="101600" dist="25400" dir="2700000">
              <a:srgbClr val="000000">
                <a:alpha val="10000"/>
              </a:srgbClr>
            </a:outerShdw>
          </a:effectLst>
        </p:spPr>
      </p:sp>
      <p:sp>
        <p:nvSpPr>
          <p:cNvPr id="17" name="Shape 12"/>
          <p:cNvSpPr/>
          <p:nvPr/>
        </p:nvSpPr>
        <p:spPr>
          <a:xfrm>
            <a:off x="6885432" y="1600200"/>
            <a:ext cx="914400" cy="914400"/>
          </a:xfrm>
          <a:prstGeom prst="ellipse">
            <a:avLst/>
          </a:prstGeom>
          <a:solidFill>
            <a:srgbClr val="5AA9E6"/>
          </a:solidFill>
          <a:ln w="12700">
            <a:solidFill>
              <a:srgbClr val="5AA9E6"/>
            </a:solidFill>
            <a:prstDash val="solid"/>
          </a:ln>
        </p:spPr>
      </p:sp>
      <p:pic>
        <p:nvPicPr>
          <p:cNvPr id="18" name="Image 3" descr="preencoded.png">    </p:cNvPr>
          <p:cNvPicPr>
            <a:picLocks noChangeAspect="1"/>
          </p:cNvPicPr>
          <p:nvPr/>
        </p:nvPicPr>
        <p:blipFill>
          <a:blip r:embed="rId4"/>
          <a:stretch>
            <a:fillRect/>
          </a:stretch>
        </p:blipFill>
        <p:spPr>
          <a:xfrm>
            <a:off x="7013448" y="1719072"/>
            <a:ext cx="658368" cy="658368"/>
          </a:xfrm>
          <a:prstGeom prst="rect">
            <a:avLst/>
          </a:prstGeom>
        </p:spPr>
      </p:pic>
      <p:sp>
        <p:nvSpPr>
          <p:cNvPr id="19" name="Text 13"/>
          <p:cNvSpPr/>
          <p:nvPr/>
        </p:nvSpPr>
        <p:spPr>
          <a:xfrm>
            <a:off x="6035040" y="2651760"/>
            <a:ext cx="2606040" cy="411480"/>
          </a:xfrm>
          <a:prstGeom prst="rect">
            <a:avLst/>
          </a:prstGeom>
          <a:noFill/>
          <a:ln/>
        </p:spPr>
        <p:txBody>
          <a:bodyPr wrap="square" lIns="0" tIns="0" rIns="0" bIns="0" rtlCol="0" anchor="ctr"/>
          <a:lstStyle/>
          <a:p>
            <a:pPr algn="ctr" indent="0" marL="0">
              <a:buNone/>
            </a:pPr>
            <a:r>
              <a:rPr lang="en-US" sz="1600" b="1" spc="200" kern="0" dirty="0">
                <a:solidFill>
                  <a:srgbClr val="5AA9E6"/>
                </a:solidFill>
                <a:latin typeface="Montserrat" pitchFamily="34" charset="0"/>
                <a:ea typeface="Montserrat" pitchFamily="34" charset="-122"/>
                <a:cs typeface="Montserrat" pitchFamily="34" charset="-120"/>
              </a:rPr>
              <a:t>COMPARE</a:t>
            </a:r>
            <a:endParaRPr lang="en-US" sz="1600" dirty="0"/>
          </a:p>
        </p:txBody>
      </p:sp>
      <p:sp>
        <p:nvSpPr>
          <p:cNvPr id="20" name="Text 14"/>
          <p:cNvSpPr/>
          <p:nvPr/>
        </p:nvSpPr>
        <p:spPr>
          <a:xfrm>
            <a:off x="6199632" y="3127248"/>
            <a:ext cx="2286000" cy="1417320"/>
          </a:xfrm>
          <a:prstGeom prst="rect">
            <a:avLst/>
          </a:prstGeom>
          <a:noFill/>
          <a:ln/>
        </p:spPr>
        <p:txBody>
          <a:bodyPr wrap="square" lIns="0" tIns="0" rIns="0" bIns="0" rtlCol="0" anchor="ctr"/>
          <a:lstStyle/>
          <a:p>
            <a:pPr algn="ctr" indent="0" marL="0">
              <a:buNone/>
            </a:pPr>
            <a:r>
              <a:rPr lang="en-US" sz="1100" dirty="0">
                <a:solidFill>
                  <a:srgbClr val="292929"/>
                </a:solidFill>
                <a:latin typeface="Inter" pitchFamily="34" charset="0"/>
                <a:ea typeface="Inter" pitchFamily="34" charset="-122"/>
                <a:cs typeface="Inter" pitchFamily="34" charset="-120"/>
              </a:rPr>
              <a:t>Where relevant, show relationships between lines — similarities, differences, crossover points.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5FB27B"/>
          </a:solidFill>
          <a:ln w="12700">
            <a:solidFill>
              <a:srgbClr val="5FB27B"/>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Part 4  ·  Key features to notice</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229600" cy="365760"/>
          </a:xfrm>
          <a:prstGeom prst="rect">
            <a:avLst/>
          </a:prstGeom>
          <a:noFill/>
          <a:ln/>
        </p:spPr>
        <p:txBody>
          <a:bodyPr wrap="square" lIns="0" tIns="0" rIns="0" bIns="0" rtlCol="0" anchor="ctr"/>
          <a:lstStyle/>
          <a:p>
            <a:pPr indent="0" marL="0">
              <a:buNone/>
            </a:pPr>
            <a:r>
              <a:rPr lang="en-US" sz="1300" dirty="0">
                <a:solidFill>
                  <a:srgbClr val="6B7280"/>
                </a:solidFill>
                <a:latin typeface="Inter" pitchFamily="34" charset="0"/>
                <a:ea typeface="Inter" pitchFamily="34" charset="-122"/>
                <a:cs typeface="Inter" pitchFamily="34" charset="-120"/>
              </a:rPr>
              <a:t>When you look at a line graph, ask yourself these questions:</a:t>
            </a:r>
            <a:endParaRPr lang="en-US" sz="1300" dirty="0"/>
          </a:p>
        </p:txBody>
      </p:sp>
      <p:sp>
        <p:nvSpPr>
          <p:cNvPr id="6" name="Shape 3"/>
          <p:cNvSpPr/>
          <p:nvPr/>
        </p:nvSpPr>
        <p:spPr>
          <a:xfrm>
            <a:off x="365760" y="1408176"/>
            <a:ext cx="411480" cy="411480"/>
          </a:xfrm>
          <a:prstGeom prst="ellipse">
            <a:avLst/>
          </a:prstGeom>
          <a:solidFill>
            <a:srgbClr val="F88B48"/>
          </a:solidFill>
          <a:ln w="12700">
            <a:solidFill>
              <a:srgbClr val="F88B48"/>
            </a:solidFill>
            <a:prstDash val="solid"/>
          </a:ln>
        </p:spPr>
      </p:sp>
      <p:sp>
        <p:nvSpPr>
          <p:cNvPr id="7" name="Text 4"/>
          <p:cNvSpPr/>
          <p:nvPr/>
        </p:nvSpPr>
        <p:spPr>
          <a:xfrm>
            <a:off x="365760" y="140817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8" name="Text 5"/>
          <p:cNvSpPr/>
          <p:nvPr/>
        </p:nvSpPr>
        <p:spPr>
          <a:xfrm>
            <a:off x="960120" y="1371600"/>
            <a:ext cx="7863840" cy="594360"/>
          </a:xfrm>
          <a:prstGeom prst="rect">
            <a:avLst/>
          </a:prstGeom>
          <a:noFill/>
          <a:ln/>
        </p:spPr>
        <p:txBody>
          <a:bodyPr wrap="square" lIns="0" tIns="0" rIns="0" bIns="0" rtlCol="0" anchor="ctr"/>
          <a:lstStyle/>
          <a:p>
            <a:pPr indent="0" marL="0">
              <a:buNone/>
            </a:pPr>
            <a:r>
              <a:rPr lang="en-US" sz="1250" b="1" dirty="0">
                <a:solidFill>
                  <a:srgbClr val="292929"/>
                </a:solidFill>
                <a:latin typeface="Inter" pitchFamily="34" charset="0"/>
                <a:ea typeface="Inter" pitchFamily="34" charset="-122"/>
                <a:cs typeface="Inter" pitchFamily="34" charset="-120"/>
              </a:rPr>
              <a:t>Overall trend  </a:t>
            </a:r>
            <a:pPr indent="0" marL="0">
              <a:buNone/>
            </a:pPr>
            <a:r>
              <a:rPr lang="en-US" sz="1250" dirty="0">
                <a:solidFill>
                  <a:srgbClr val="6B7280"/>
                </a:solidFill>
                <a:latin typeface="Inter" pitchFamily="34" charset="0"/>
                <a:ea typeface="Inter" pitchFamily="34" charset="-122"/>
                <a:cs typeface="Inter" pitchFamily="34" charset="-120"/>
              </a:rPr>
              <a:t>Is the general direction up, down, or stable? This goes in your overview.</a:t>
            </a:r>
            <a:endParaRPr lang="en-US" sz="1250" dirty="0"/>
          </a:p>
        </p:txBody>
      </p:sp>
      <p:sp>
        <p:nvSpPr>
          <p:cNvPr id="9" name="Shape 6"/>
          <p:cNvSpPr/>
          <p:nvPr/>
        </p:nvSpPr>
        <p:spPr>
          <a:xfrm>
            <a:off x="365760" y="2121408"/>
            <a:ext cx="411480" cy="411480"/>
          </a:xfrm>
          <a:prstGeom prst="ellipse">
            <a:avLst/>
          </a:prstGeom>
          <a:solidFill>
            <a:srgbClr val="5FB27B"/>
          </a:solidFill>
          <a:ln w="12700">
            <a:solidFill>
              <a:srgbClr val="5FB27B"/>
            </a:solidFill>
            <a:prstDash val="solid"/>
          </a:ln>
        </p:spPr>
      </p:sp>
      <p:sp>
        <p:nvSpPr>
          <p:cNvPr id="10" name="Text 7"/>
          <p:cNvSpPr/>
          <p:nvPr/>
        </p:nvSpPr>
        <p:spPr>
          <a:xfrm>
            <a:off x="365760" y="21214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11" name="Text 8"/>
          <p:cNvSpPr/>
          <p:nvPr/>
        </p:nvSpPr>
        <p:spPr>
          <a:xfrm>
            <a:off x="960120" y="2084832"/>
            <a:ext cx="7863840" cy="594360"/>
          </a:xfrm>
          <a:prstGeom prst="rect">
            <a:avLst/>
          </a:prstGeom>
          <a:noFill/>
          <a:ln/>
        </p:spPr>
        <p:txBody>
          <a:bodyPr wrap="square" lIns="0" tIns="0" rIns="0" bIns="0" rtlCol="0" anchor="ctr"/>
          <a:lstStyle/>
          <a:p>
            <a:pPr indent="0" marL="0">
              <a:buNone/>
            </a:pPr>
            <a:r>
              <a:rPr lang="en-US" sz="1250" b="1" dirty="0">
                <a:solidFill>
                  <a:srgbClr val="292929"/>
                </a:solidFill>
                <a:latin typeface="Inter" pitchFamily="34" charset="0"/>
                <a:ea typeface="Inter" pitchFamily="34" charset="-122"/>
                <a:cs typeface="Inter" pitchFamily="34" charset="-120"/>
              </a:rPr>
              <a:t>Start and end points  </a:t>
            </a:r>
            <a:pPr indent="0" marL="0">
              <a:buNone/>
            </a:pPr>
            <a:r>
              <a:rPr lang="en-US" sz="1250" dirty="0">
                <a:solidFill>
                  <a:srgbClr val="6B7280"/>
                </a:solidFill>
                <a:latin typeface="Inter" pitchFamily="34" charset="0"/>
                <a:ea typeface="Inter" pitchFamily="34" charset="-122"/>
                <a:cs typeface="Inter" pitchFamily="34" charset="-120"/>
              </a:rPr>
              <a:t>Where does each line begin and end? These are key data points.</a:t>
            </a:r>
            <a:endParaRPr lang="en-US" sz="1250" dirty="0"/>
          </a:p>
        </p:txBody>
      </p:sp>
      <p:sp>
        <p:nvSpPr>
          <p:cNvPr id="12" name="Shape 9"/>
          <p:cNvSpPr/>
          <p:nvPr/>
        </p:nvSpPr>
        <p:spPr>
          <a:xfrm>
            <a:off x="365760" y="2834640"/>
            <a:ext cx="411480" cy="411480"/>
          </a:xfrm>
          <a:prstGeom prst="ellipse">
            <a:avLst/>
          </a:prstGeom>
          <a:solidFill>
            <a:srgbClr val="F88B48"/>
          </a:solidFill>
          <a:ln w="12700">
            <a:solidFill>
              <a:srgbClr val="F88B48"/>
            </a:solidFill>
            <a:prstDash val="solid"/>
          </a:ln>
        </p:spPr>
      </p:sp>
      <p:sp>
        <p:nvSpPr>
          <p:cNvPr id="13" name="Text 10"/>
          <p:cNvSpPr/>
          <p:nvPr/>
        </p:nvSpPr>
        <p:spPr>
          <a:xfrm>
            <a:off x="365760" y="28346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14" name="Text 11"/>
          <p:cNvSpPr/>
          <p:nvPr/>
        </p:nvSpPr>
        <p:spPr>
          <a:xfrm>
            <a:off x="960120" y="2798064"/>
            <a:ext cx="7863840" cy="594360"/>
          </a:xfrm>
          <a:prstGeom prst="rect">
            <a:avLst/>
          </a:prstGeom>
          <a:noFill/>
          <a:ln/>
        </p:spPr>
        <p:txBody>
          <a:bodyPr wrap="square" lIns="0" tIns="0" rIns="0" bIns="0" rtlCol="0" anchor="ctr"/>
          <a:lstStyle/>
          <a:p>
            <a:pPr indent="0" marL="0">
              <a:buNone/>
            </a:pPr>
            <a:r>
              <a:rPr lang="en-US" sz="1250" b="1" dirty="0">
                <a:solidFill>
                  <a:srgbClr val="292929"/>
                </a:solidFill>
                <a:latin typeface="Inter" pitchFamily="34" charset="0"/>
                <a:ea typeface="Inter" pitchFamily="34" charset="-122"/>
                <a:cs typeface="Inter" pitchFamily="34" charset="-120"/>
              </a:rPr>
              <a:t>Significant changes  </a:t>
            </a:r>
            <a:pPr indent="0" marL="0">
              <a:buNone/>
            </a:pPr>
            <a:r>
              <a:rPr lang="en-US" sz="1250" dirty="0">
                <a:solidFill>
                  <a:srgbClr val="6B7280"/>
                </a:solidFill>
                <a:latin typeface="Inter" pitchFamily="34" charset="0"/>
                <a:ea typeface="Inter" pitchFamily="34" charset="-122"/>
                <a:cs typeface="Inter" pitchFamily="34" charset="-120"/>
              </a:rPr>
              <a:t>Are there any sharp rises, sudden falls, or periods of rapid change?</a:t>
            </a:r>
            <a:endParaRPr lang="en-US" sz="1250" dirty="0"/>
          </a:p>
        </p:txBody>
      </p:sp>
      <p:sp>
        <p:nvSpPr>
          <p:cNvPr id="15" name="Shape 12"/>
          <p:cNvSpPr/>
          <p:nvPr/>
        </p:nvSpPr>
        <p:spPr>
          <a:xfrm>
            <a:off x="365760" y="3547872"/>
            <a:ext cx="411480" cy="411480"/>
          </a:xfrm>
          <a:prstGeom prst="ellipse">
            <a:avLst/>
          </a:prstGeom>
          <a:solidFill>
            <a:srgbClr val="5FB27B"/>
          </a:solidFill>
          <a:ln w="12700">
            <a:solidFill>
              <a:srgbClr val="5FB27B"/>
            </a:solidFill>
            <a:prstDash val="solid"/>
          </a:ln>
        </p:spPr>
      </p:sp>
      <p:sp>
        <p:nvSpPr>
          <p:cNvPr id="16" name="Text 13"/>
          <p:cNvSpPr/>
          <p:nvPr/>
        </p:nvSpPr>
        <p:spPr>
          <a:xfrm>
            <a:off x="365760" y="354787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17" name="Text 14"/>
          <p:cNvSpPr/>
          <p:nvPr/>
        </p:nvSpPr>
        <p:spPr>
          <a:xfrm>
            <a:off x="960120" y="3511296"/>
            <a:ext cx="7863840" cy="594360"/>
          </a:xfrm>
          <a:prstGeom prst="rect">
            <a:avLst/>
          </a:prstGeom>
          <a:noFill/>
          <a:ln/>
        </p:spPr>
        <p:txBody>
          <a:bodyPr wrap="square" lIns="0" tIns="0" rIns="0" bIns="0" rtlCol="0" anchor="ctr"/>
          <a:lstStyle/>
          <a:p>
            <a:pPr indent="0" marL="0">
              <a:buNone/>
            </a:pPr>
            <a:r>
              <a:rPr lang="en-US" sz="1250" b="1" dirty="0">
                <a:solidFill>
                  <a:srgbClr val="292929"/>
                </a:solidFill>
                <a:latin typeface="Inter" pitchFamily="34" charset="0"/>
                <a:ea typeface="Inter" pitchFamily="34" charset="-122"/>
                <a:cs typeface="Inter" pitchFamily="34" charset="-120"/>
              </a:rPr>
              <a:t>Highest and lowest points  </a:t>
            </a:r>
            <a:pPr indent="0" marL="0">
              <a:buNone/>
            </a:pPr>
            <a:r>
              <a:rPr lang="en-US" sz="1250" dirty="0">
                <a:solidFill>
                  <a:srgbClr val="6B7280"/>
                </a:solidFill>
                <a:latin typeface="Inter" pitchFamily="34" charset="0"/>
                <a:ea typeface="Inter" pitchFamily="34" charset="-122"/>
                <a:cs typeface="Inter" pitchFamily="34" charset="-120"/>
              </a:rPr>
              <a:t>What are the peaks and troughs? When do they occur?</a:t>
            </a:r>
            <a:endParaRPr lang="en-US" sz="1250" dirty="0"/>
          </a:p>
        </p:txBody>
      </p:sp>
      <p:sp>
        <p:nvSpPr>
          <p:cNvPr id="18" name="Shape 15"/>
          <p:cNvSpPr/>
          <p:nvPr/>
        </p:nvSpPr>
        <p:spPr>
          <a:xfrm>
            <a:off x="365760" y="4261104"/>
            <a:ext cx="411480" cy="411480"/>
          </a:xfrm>
          <a:prstGeom prst="ellipse">
            <a:avLst/>
          </a:prstGeom>
          <a:solidFill>
            <a:srgbClr val="F88B48"/>
          </a:solidFill>
          <a:ln w="12700">
            <a:solidFill>
              <a:srgbClr val="F88B48"/>
            </a:solidFill>
            <a:prstDash val="solid"/>
          </a:ln>
        </p:spPr>
      </p:sp>
      <p:sp>
        <p:nvSpPr>
          <p:cNvPr id="19" name="Text 16"/>
          <p:cNvSpPr/>
          <p:nvPr/>
        </p:nvSpPr>
        <p:spPr>
          <a:xfrm>
            <a:off x="365760" y="426110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20" name="Text 17"/>
          <p:cNvSpPr/>
          <p:nvPr/>
        </p:nvSpPr>
        <p:spPr>
          <a:xfrm>
            <a:off x="960120" y="4224528"/>
            <a:ext cx="7863840" cy="594360"/>
          </a:xfrm>
          <a:prstGeom prst="rect">
            <a:avLst/>
          </a:prstGeom>
          <a:noFill/>
          <a:ln/>
        </p:spPr>
        <p:txBody>
          <a:bodyPr wrap="square" lIns="0" tIns="0" rIns="0" bIns="0" rtlCol="0" anchor="ctr"/>
          <a:lstStyle/>
          <a:p>
            <a:pPr indent="0" marL="0">
              <a:buNone/>
            </a:pPr>
            <a:r>
              <a:rPr lang="en-US" sz="1250" b="1" dirty="0">
                <a:solidFill>
                  <a:srgbClr val="292929"/>
                </a:solidFill>
                <a:latin typeface="Inter" pitchFamily="34" charset="0"/>
                <a:ea typeface="Inter" pitchFamily="34" charset="-122"/>
                <a:cs typeface="Inter" pitchFamily="34" charset="-120"/>
              </a:rPr>
              <a:t>Comparisons (multiple lines)  </a:t>
            </a:r>
            <a:pPr indent="0" marL="0">
              <a:buNone/>
            </a:pPr>
            <a:r>
              <a:rPr lang="en-US" sz="1250" dirty="0">
                <a:solidFill>
                  <a:srgbClr val="6B7280"/>
                </a:solidFill>
                <a:latin typeface="Inter" pitchFamily="34" charset="0"/>
                <a:ea typeface="Inter" pitchFamily="34" charset="-122"/>
                <a:cs typeface="Inter" pitchFamily="34" charset="-120"/>
              </a:rPr>
              <a:t>Which line is highest? Do any lines cross? Are any similar?</a:t>
            </a:r>
            <a:endParaRPr lang="en-US" sz="1250" dirty="0"/>
          </a:p>
        </p:txBody>
      </p:sp>
      <p:sp>
        <p:nvSpPr>
          <p:cNvPr id="21" name="Text 18"/>
          <p:cNvSpPr/>
          <p:nvPr/>
        </p:nvSpPr>
        <p:spPr>
          <a:xfrm>
            <a:off x="365760" y="4709160"/>
            <a:ext cx="8412480" cy="320040"/>
          </a:xfrm>
          <a:prstGeom prst="rect">
            <a:avLst/>
          </a:prstGeom>
          <a:noFill/>
          <a:ln/>
        </p:spPr>
        <p:txBody>
          <a:bodyPr wrap="square" lIns="0" tIns="0" rIns="0" bIns="0" rtlCol="0" anchor="ctr"/>
          <a:lstStyle/>
          <a:p>
            <a:pPr indent="0" marL="0">
              <a:buNone/>
            </a:pPr>
            <a:r>
              <a:rPr lang="en-US" sz="1100" i="1" dirty="0">
                <a:solidFill>
                  <a:srgbClr val="6B7280"/>
                </a:solidFill>
                <a:latin typeface="Inter" pitchFamily="34" charset="0"/>
                <a:ea typeface="Inter" pitchFamily="34" charset="-122"/>
                <a:cs typeface="Inter" pitchFamily="34" charset="-120"/>
              </a:rPr>
              <a:t>You will learn how to select and organise these features in Lesson 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F88B48"/>
          </a:solidFill>
          <a:ln w="12700">
            <a:solidFill>
              <a:srgbClr val="F88B48"/>
            </a:solidFill>
            <a:prstDash val="solid"/>
          </a:ln>
        </p:spPr>
      </p:sp>
      <p:sp>
        <p:nvSpPr>
          <p:cNvPr id="3" name="Text 1"/>
          <p:cNvSpPr/>
          <p:nvPr/>
        </p:nvSpPr>
        <p:spPr>
          <a:xfrm>
            <a:off x="365760" y="0"/>
            <a:ext cx="7315200" cy="777240"/>
          </a:xfrm>
          <a:prstGeom prst="rect">
            <a:avLst/>
          </a:prstGeom>
          <a:noFill/>
          <a:ln/>
        </p:spPr>
        <p:txBody>
          <a:bodyPr wrap="square" lIns="0" tIns="0" rIns="0" bIns="0"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Lesson 1  ·  Key takeaways</a:t>
            </a:r>
            <a:endParaRPr lang="en-US" sz="1400" dirty="0"/>
          </a:p>
        </p:txBody>
      </p:sp>
      <p:pic>
        <p:nvPicPr>
          <p:cNvPr id="4" name="Image 0" descr="preencoded.png">    </p:cNvPr>
          <p:cNvPicPr>
            <a:picLocks noChangeAspect="1"/>
          </p:cNvPicPr>
          <p:nvPr/>
        </p:nvPicPr>
        <p:blipFill>
          <a:blip r:embed="rId1"/>
          <a:stretch>
            <a:fillRect/>
          </a:stretch>
        </p:blipFill>
        <p:spPr>
          <a:xfrm>
            <a:off x="7863840" y="64008"/>
            <a:ext cx="640080" cy="640080"/>
          </a:xfrm>
          <a:prstGeom prst="rect">
            <a:avLst/>
          </a:prstGeom>
        </p:spPr>
      </p:pic>
      <p:sp>
        <p:nvSpPr>
          <p:cNvPr id="5" name="Text 2"/>
          <p:cNvSpPr/>
          <p:nvPr/>
        </p:nvSpPr>
        <p:spPr>
          <a:xfrm>
            <a:off x="365760" y="914400"/>
            <a:ext cx="8229600" cy="365760"/>
          </a:xfrm>
          <a:prstGeom prst="rect">
            <a:avLst/>
          </a:prstGeom>
          <a:noFill/>
          <a:ln/>
        </p:spPr>
        <p:txBody>
          <a:bodyPr wrap="square" lIns="0" tIns="0" rIns="0" bIns="0" rtlCol="0" anchor="ctr"/>
          <a:lstStyle/>
          <a:p>
            <a:pPr indent="0" marL="0">
              <a:buNone/>
            </a:pPr>
            <a:r>
              <a:rPr lang="en-US" sz="1400" dirty="0">
                <a:solidFill>
                  <a:srgbClr val="6B7280"/>
                </a:solidFill>
                <a:latin typeface="Inter" pitchFamily="34" charset="0"/>
                <a:ea typeface="Inter" pitchFamily="34" charset="-122"/>
                <a:cs typeface="Inter" pitchFamily="34" charset="-120"/>
              </a:rPr>
              <a:t>Remember these four things:</a:t>
            </a:r>
            <a:endParaRPr lang="en-US" sz="1400" dirty="0"/>
          </a:p>
        </p:txBody>
      </p:sp>
      <p:sp>
        <p:nvSpPr>
          <p:cNvPr id="6" name="Shape 3"/>
          <p:cNvSpPr/>
          <p:nvPr/>
        </p:nvSpPr>
        <p:spPr>
          <a:xfrm>
            <a:off x="365760" y="1417320"/>
            <a:ext cx="8412480" cy="658368"/>
          </a:xfrm>
          <a:prstGeom prst="roundRect">
            <a:avLst>
              <a:gd name="adj" fmla="val 11111"/>
            </a:avLst>
          </a:prstGeom>
          <a:solidFill>
            <a:srgbClr val="FEF0E6"/>
          </a:solidFill>
          <a:ln w="12700">
            <a:solidFill>
              <a:srgbClr val="FEF0E6"/>
            </a:solidFill>
            <a:prstDash val="solid"/>
          </a:ln>
        </p:spPr>
      </p:sp>
      <p:sp>
        <p:nvSpPr>
          <p:cNvPr id="7" name="Shape 4"/>
          <p:cNvSpPr/>
          <p:nvPr/>
        </p:nvSpPr>
        <p:spPr>
          <a:xfrm>
            <a:off x="502920" y="1527048"/>
            <a:ext cx="411480" cy="411480"/>
          </a:xfrm>
          <a:prstGeom prst="ellipse">
            <a:avLst/>
          </a:prstGeom>
          <a:solidFill>
            <a:srgbClr val="F88B48"/>
          </a:solidFill>
          <a:ln w="12700">
            <a:solidFill>
              <a:srgbClr val="F88B48"/>
            </a:solidFill>
            <a:prstDash val="solid"/>
          </a:ln>
        </p:spPr>
      </p:sp>
      <p:sp>
        <p:nvSpPr>
          <p:cNvPr id="8" name="Text 5"/>
          <p:cNvSpPr/>
          <p:nvPr/>
        </p:nvSpPr>
        <p:spPr>
          <a:xfrm>
            <a:off x="50292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1</a:t>
            </a:r>
            <a:endParaRPr lang="en-US" sz="1400" dirty="0"/>
          </a:p>
        </p:txBody>
      </p:sp>
      <p:sp>
        <p:nvSpPr>
          <p:cNvPr id="9" name="Text 6"/>
          <p:cNvSpPr/>
          <p:nvPr/>
        </p:nvSpPr>
        <p:spPr>
          <a:xfrm>
            <a:off x="1078992" y="1490472"/>
            <a:ext cx="7498080" cy="502920"/>
          </a:xfrm>
          <a:prstGeom prst="rect">
            <a:avLst/>
          </a:prstGeom>
          <a:noFill/>
          <a:ln/>
        </p:spPr>
        <p:txBody>
          <a:bodyPr wrap="square" lIns="0" tIns="0" rIns="0" bIns="0" rtlCol="0" anchor="ctr"/>
          <a:lstStyle/>
          <a:p>
            <a:pPr indent="0" marL="0">
              <a:buNone/>
            </a:pPr>
            <a:r>
              <a:rPr lang="en-US" sz="1250" dirty="0">
                <a:solidFill>
                  <a:srgbClr val="292929"/>
                </a:solidFill>
                <a:latin typeface="Inter" pitchFamily="34" charset="0"/>
                <a:ea typeface="Inter" pitchFamily="34" charset="-122"/>
                <a:cs typeface="Inter" pitchFamily="34" charset="-120"/>
              </a:rPr>
              <a:t>A line graph shows change over time. Always check the title, axes, and units before you write anything.</a:t>
            </a:r>
            <a:endParaRPr lang="en-US" sz="1250" dirty="0"/>
          </a:p>
        </p:txBody>
      </p:sp>
      <p:sp>
        <p:nvSpPr>
          <p:cNvPr id="10" name="Shape 7"/>
          <p:cNvSpPr/>
          <p:nvPr/>
        </p:nvSpPr>
        <p:spPr>
          <a:xfrm>
            <a:off x="365760" y="2240280"/>
            <a:ext cx="8412480" cy="658368"/>
          </a:xfrm>
          <a:prstGeom prst="roundRect">
            <a:avLst>
              <a:gd name="adj" fmla="val 11111"/>
            </a:avLst>
          </a:prstGeom>
          <a:solidFill>
            <a:srgbClr val="EDF7F1"/>
          </a:solidFill>
          <a:ln w="12700">
            <a:solidFill>
              <a:srgbClr val="EDF7F1"/>
            </a:solidFill>
            <a:prstDash val="solid"/>
          </a:ln>
        </p:spPr>
      </p:sp>
      <p:sp>
        <p:nvSpPr>
          <p:cNvPr id="11" name="Shape 8"/>
          <p:cNvSpPr/>
          <p:nvPr/>
        </p:nvSpPr>
        <p:spPr>
          <a:xfrm>
            <a:off x="502920" y="2350008"/>
            <a:ext cx="411480" cy="411480"/>
          </a:xfrm>
          <a:prstGeom prst="ellipse">
            <a:avLst/>
          </a:prstGeom>
          <a:solidFill>
            <a:srgbClr val="5FB27B"/>
          </a:solidFill>
          <a:ln w="12700">
            <a:solidFill>
              <a:srgbClr val="5FB27B"/>
            </a:solidFill>
            <a:prstDash val="solid"/>
          </a:ln>
        </p:spPr>
      </p:sp>
      <p:sp>
        <p:nvSpPr>
          <p:cNvPr id="12" name="Text 9"/>
          <p:cNvSpPr/>
          <p:nvPr/>
        </p:nvSpPr>
        <p:spPr>
          <a:xfrm>
            <a:off x="502920" y="23500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2</a:t>
            </a:r>
            <a:endParaRPr lang="en-US" sz="1400" dirty="0"/>
          </a:p>
        </p:txBody>
      </p:sp>
      <p:sp>
        <p:nvSpPr>
          <p:cNvPr id="13" name="Text 10"/>
          <p:cNvSpPr/>
          <p:nvPr/>
        </p:nvSpPr>
        <p:spPr>
          <a:xfrm>
            <a:off x="1078992" y="2313432"/>
            <a:ext cx="7498080" cy="502920"/>
          </a:xfrm>
          <a:prstGeom prst="rect">
            <a:avLst/>
          </a:prstGeom>
          <a:noFill/>
          <a:ln/>
        </p:spPr>
        <p:txBody>
          <a:bodyPr wrap="square" lIns="0" tIns="0" rIns="0" bIns="0" rtlCol="0" anchor="ctr"/>
          <a:lstStyle/>
          <a:p>
            <a:pPr indent="0" marL="0">
              <a:buNone/>
            </a:pPr>
            <a:r>
              <a:rPr lang="en-US" sz="1250" dirty="0">
                <a:solidFill>
                  <a:srgbClr val="292929"/>
                </a:solidFill>
                <a:latin typeface="Inter" pitchFamily="34" charset="0"/>
                <a:ea typeface="Inter" pitchFamily="34" charset="-122"/>
                <a:cs typeface="Inter" pitchFamily="34" charset="-120"/>
              </a:rPr>
              <a:t>Line graphs can be single (one trend) or multiple (several trends to compare).</a:t>
            </a:r>
            <a:endParaRPr lang="en-US" sz="1250" dirty="0"/>
          </a:p>
        </p:txBody>
      </p:sp>
      <p:sp>
        <p:nvSpPr>
          <p:cNvPr id="14" name="Shape 11"/>
          <p:cNvSpPr/>
          <p:nvPr/>
        </p:nvSpPr>
        <p:spPr>
          <a:xfrm>
            <a:off x="365760" y="3063240"/>
            <a:ext cx="8412480" cy="658368"/>
          </a:xfrm>
          <a:prstGeom prst="roundRect">
            <a:avLst>
              <a:gd name="adj" fmla="val 11111"/>
            </a:avLst>
          </a:prstGeom>
          <a:solidFill>
            <a:srgbClr val="FEF0E6"/>
          </a:solidFill>
          <a:ln w="12700">
            <a:solidFill>
              <a:srgbClr val="FEF0E6"/>
            </a:solidFill>
            <a:prstDash val="solid"/>
          </a:ln>
        </p:spPr>
      </p:sp>
      <p:sp>
        <p:nvSpPr>
          <p:cNvPr id="15" name="Shape 12"/>
          <p:cNvSpPr/>
          <p:nvPr/>
        </p:nvSpPr>
        <p:spPr>
          <a:xfrm>
            <a:off x="502920" y="3172968"/>
            <a:ext cx="411480" cy="411480"/>
          </a:xfrm>
          <a:prstGeom prst="ellipse">
            <a:avLst/>
          </a:prstGeom>
          <a:solidFill>
            <a:srgbClr val="F88B48"/>
          </a:solidFill>
          <a:ln w="12700">
            <a:solidFill>
              <a:srgbClr val="F88B48"/>
            </a:solidFill>
            <a:prstDash val="solid"/>
          </a:ln>
        </p:spPr>
      </p:sp>
      <p:sp>
        <p:nvSpPr>
          <p:cNvPr id="16" name="Text 13"/>
          <p:cNvSpPr/>
          <p:nvPr/>
        </p:nvSpPr>
        <p:spPr>
          <a:xfrm>
            <a:off x="502920" y="3172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3</a:t>
            </a:r>
            <a:endParaRPr lang="en-US" sz="1400" dirty="0"/>
          </a:p>
        </p:txBody>
      </p:sp>
      <p:sp>
        <p:nvSpPr>
          <p:cNvPr id="17" name="Text 14"/>
          <p:cNvSpPr/>
          <p:nvPr/>
        </p:nvSpPr>
        <p:spPr>
          <a:xfrm>
            <a:off x="1078992" y="3136392"/>
            <a:ext cx="7498080" cy="502920"/>
          </a:xfrm>
          <a:prstGeom prst="rect">
            <a:avLst/>
          </a:prstGeom>
          <a:noFill/>
          <a:ln/>
        </p:spPr>
        <p:txBody>
          <a:bodyPr wrap="square" lIns="0" tIns="0" rIns="0" bIns="0" rtlCol="0" anchor="ctr"/>
          <a:lstStyle/>
          <a:p>
            <a:pPr indent="0" marL="0">
              <a:buNone/>
            </a:pPr>
            <a:r>
              <a:rPr lang="en-US" sz="1250" dirty="0">
                <a:solidFill>
                  <a:srgbClr val="292929"/>
                </a:solidFill>
                <a:latin typeface="Inter" pitchFamily="34" charset="0"/>
                <a:ea typeface="Inter" pitchFamily="34" charset="-122"/>
                <a:cs typeface="Inter" pitchFamily="34" charset="-120"/>
              </a:rPr>
              <a:t>IELTS asks you to select, describe, and compare — not describe everything.</a:t>
            </a:r>
            <a:endParaRPr lang="en-US" sz="1250" dirty="0"/>
          </a:p>
        </p:txBody>
      </p:sp>
      <p:sp>
        <p:nvSpPr>
          <p:cNvPr id="18" name="Shape 15"/>
          <p:cNvSpPr/>
          <p:nvPr/>
        </p:nvSpPr>
        <p:spPr>
          <a:xfrm>
            <a:off x="365760" y="3886200"/>
            <a:ext cx="8412480" cy="658368"/>
          </a:xfrm>
          <a:prstGeom prst="roundRect">
            <a:avLst>
              <a:gd name="adj" fmla="val 11111"/>
            </a:avLst>
          </a:prstGeom>
          <a:solidFill>
            <a:srgbClr val="EDF7F1"/>
          </a:solidFill>
          <a:ln w="12700">
            <a:solidFill>
              <a:srgbClr val="EDF7F1"/>
            </a:solidFill>
            <a:prstDash val="solid"/>
          </a:ln>
        </p:spPr>
      </p:sp>
      <p:sp>
        <p:nvSpPr>
          <p:cNvPr id="19" name="Shape 16"/>
          <p:cNvSpPr/>
          <p:nvPr/>
        </p:nvSpPr>
        <p:spPr>
          <a:xfrm>
            <a:off x="502920" y="3995928"/>
            <a:ext cx="411480" cy="411480"/>
          </a:xfrm>
          <a:prstGeom prst="ellipse">
            <a:avLst/>
          </a:prstGeom>
          <a:solidFill>
            <a:srgbClr val="5FB27B"/>
          </a:solidFill>
          <a:ln w="12700">
            <a:solidFill>
              <a:srgbClr val="5FB27B"/>
            </a:solidFill>
            <a:prstDash val="solid"/>
          </a:ln>
        </p:spPr>
      </p:sp>
      <p:sp>
        <p:nvSpPr>
          <p:cNvPr id="20" name="Text 17"/>
          <p:cNvSpPr/>
          <p:nvPr/>
        </p:nvSpPr>
        <p:spPr>
          <a:xfrm>
            <a:off x="502920" y="39959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4</a:t>
            </a:r>
            <a:endParaRPr lang="en-US" sz="1400" dirty="0"/>
          </a:p>
        </p:txBody>
      </p:sp>
      <p:sp>
        <p:nvSpPr>
          <p:cNvPr id="21" name="Text 18"/>
          <p:cNvSpPr/>
          <p:nvPr/>
        </p:nvSpPr>
        <p:spPr>
          <a:xfrm>
            <a:off x="1078992" y="3959352"/>
            <a:ext cx="7498080" cy="502920"/>
          </a:xfrm>
          <a:prstGeom prst="rect">
            <a:avLst/>
          </a:prstGeom>
          <a:noFill/>
          <a:ln/>
        </p:spPr>
        <p:txBody>
          <a:bodyPr wrap="square" lIns="0" tIns="0" rIns="0" bIns="0" rtlCol="0" anchor="ctr"/>
          <a:lstStyle/>
          <a:p>
            <a:pPr indent="0" marL="0">
              <a:buNone/>
            </a:pPr>
            <a:r>
              <a:rPr lang="en-US" sz="1250" dirty="0">
                <a:solidFill>
                  <a:srgbClr val="292929"/>
                </a:solidFill>
                <a:latin typeface="Inter" pitchFamily="34" charset="0"/>
                <a:ea typeface="Inter" pitchFamily="34" charset="-122"/>
                <a:cs typeface="Inter" pitchFamily="34" charset="-120"/>
              </a:rPr>
              <a:t>Look for: overall trend, start/end points, significant changes, peaks/troughs, and comparisons.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92929"/>
        </a:solidFill>
      </p:bgPr>
    </p:bg>
    <p:spTree>
      <p:nvGrpSpPr>
        <p:cNvPr id="1" name=""/>
        <p:cNvGrpSpPr/>
        <p:nvPr/>
      </p:nvGrpSpPr>
      <p:grpSpPr>
        <a:xfrm>
          <a:off x="0" y="0"/>
          <a:ext cx="0" cy="0"/>
          <a:chOff x="0" y="0"/>
          <a:chExt cx="0" cy="0"/>
        </a:xfrm>
      </p:grpSpPr>
      <p:sp>
        <p:nvSpPr>
          <p:cNvPr id="2" name="Shape 0"/>
          <p:cNvSpPr/>
          <p:nvPr/>
        </p:nvSpPr>
        <p:spPr>
          <a:xfrm>
            <a:off x="3566160" y="320040"/>
            <a:ext cx="2011680" cy="1920240"/>
          </a:xfrm>
          <a:prstGeom prst="roundRect">
            <a:avLst>
              <a:gd name="adj" fmla="val 9524"/>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3749040" y="457200"/>
            <a:ext cx="1645920" cy="1645920"/>
          </a:xfrm>
          <a:prstGeom prst="rect">
            <a:avLst/>
          </a:prstGeom>
        </p:spPr>
      </p:pic>
      <p:sp>
        <p:nvSpPr>
          <p:cNvPr id="4" name="Text 1"/>
          <p:cNvSpPr/>
          <p:nvPr/>
        </p:nvSpPr>
        <p:spPr>
          <a:xfrm>
            <a:off x="457200" y="2240280"/>
            <a:ext cx="8229600" cy="548640"/>
          </a:xfrm>
          <a:prstGeom prst="rect">
            <a:avLst/>
          </a:prstGeom>
          <a:noFill/>
          <a:ln/>
        </p:spPr>
        <p:txBody>
          <a:bodyPr wrap="square" lIns="0" tIns="0" rIns="0" bIns="0" rtlCol="0" anchor="ctr"/>
          <a:lstStyle/>
          <a:p>
            <a:pPr algn="ctr" indent="0" marL="0">
              <a:buNone/>
            </a:pPr>
            <a:r>
              <a:rPr lang="en-US" sz="1300" spc="200" kern="0" dirty="0">
                <a:solidFill>
                  <a:srgbClr val="F88B48"/>
                </a:solidFill>
                <a:latin typeface="Montserrat" pitchFamily="34" charset="0"/>
                <a:ea typeface="Montserrat" pitchFamily="34" charset="-122"/>
                <a:cs typeface="Montserrat" pitchFamily="34" charset="-120"/>
              </a:rPr>
              <a:t>Coming up in Lesson 2</a:t>
            </a:r>
            <a:endParaRPr lang="en-US" sz="1300" dirty="0"/>
          </a:p>
        </p:txBody>
      </p:sp>
      <p:sp>
        <p:nvSpPr>
          <p:cNvPr id="5" name="Text 2"/>
          <p:cNvSpPr/>
          <p:nvPr/>
        </p:nvSpPr>
        <p:spPr>
          <a:xfrm>
            <a:off x="457200" y="2788920"/>
            <a:ext cx="82296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Montserrat" pitchFamily="34" charset="0"/>
                <a:ea typeface="Montserrat" pitchFamily="34" charset="-122"/>
                <a:cs typeface="Montserrat" pitchFamily="34" charset="-120"/>
              </a:rPr>
              <a:t>Vocabulary for Trends</a:t>
            </a:r>
            <a:endParaRPr lang="en-US" sz="2800" dirty="0"/>
          </a:p>
        </p:txBody>
      </p:sp>
      <p:sp>
        <p:nvSpPr>
          <p:cNvPr id="6" name="Text 3"/>
          <p:cNvSpPr/>
          <p:nvPr/>
        </p:nvSpPr>
        <p:spPr>
          <a:xfrm>
            <a:off x="457200" y="3520440"/>
            <a:ext cx="8229600" cy="411480"/>
          </a:xfrm>
          <a:prstGeom prst="rect">
            <a:avLst/>
          </a:prstGeom>
          <a:noFill/>
          <a:ln/>
        </p:spPr>
        <p:txBody>
          <a:bodyPr wrap="square" lIns="0" tIns="0" rIns="0" bIns="0" rtlCol="0" anchor="ctr"/>
          <a:lstStyle/>
          <a:p>
            <a:pPr algn="ctr" indent="0" marL="0">
              <a:buNone/>
            </a:pPr>
            <a:r>
              <a:rPr lang="en-US" sz="1200" dirty="0">
                <a:solidFill>
                  <a:srgbClr val="5FB27B"/>
                </a:solidFill>
                <a:latin typeface="Inter" pitchFamily="34" charset="0"/>
                <a:ea typeface="Inter" pitchFamily="34" charset="-122"/>
                <a:cs typeface="Inter" pitchFamily="34" charset="-120"/>
              </a:rPr>
              <a:t>increase  ·  decrease  ·  fluctuate  ·  time expressions  ·  adverbs of degree</a:t>
            </a:r>
            <a:endParaRPr lang="en-US" sz="1200" dirty="0"/>
          </a:p>
        </p:txBody>
      </p:sp>
      <p:sp>
        <p:nvSpPr>
          <p:cNvPr id="7" name="Text 4"/>
          <p:cNvSpPr/>
          <p:nvPr/>
        </p:nvSpPr>
        <p:spPr>
          <a:xfrm>
            <a:off x="457200" y="4114800"/>
            <a:ext cx="822960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Inter" pitchFamily="34" charset="0"/>
                <a:ea typeface="Inter" pitchFamily="34" charset="-122"/>
                <a:cs typeface="Inter" pitchFamily="34" charset="-120"/>
              </a:rPr>
              <a:t>But first — complete the quiz for this lesson.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IELTS Writing Task 1 – Lesson 1</dc:title>
  <dc:subject>PptxGenJS Presentation</dc:subject>
  <dc:creator>PptxGenJS</dc:creator>
  <cp:lastModifiedBy>PptxGenJS</cp:lastModifiedBy>
  <cp:revision>1</cp:revision>
  <dcterms:created xsi:type="dcterms:W3CDTF">2026-06-09T11:42:58Z</dcterms:created>
  <dcterms:modified xsi:type="dcterms:W3CDTF">2026-06-09T11:42:58Z</dcterms:modified>
</cp:coreProperties>
</file>