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Lesson 3. Grammatical Range and Accuracy is one of the four Task 1 marking criteria. This lesson covers the tenses, comparatives, prepositions and linking words that keep your descriptions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Grammatical Range and Accuracy is a full quarter of the Task 1 score, and it is one of the easiest to control. Strong vocabulary won't save a sentence with a tense error. Preview the four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1. Most Task 1 data was recorded up to a fixed point, so the default is past simple. Only switch to a future form when the graph shows a projection. Drill the four common irregular verbs.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2. Comparatives compare two things within the data; superlatives single out one across the whole set. Note the agreement: 'higher than', 'the highest'.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3. Three prepositions do the heavy lifting: 'by' for the size of the change, 'to' for the end point, 'from … to' for both ends. Match each to its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4. Three ways to connect two trends: mid-sentence with while/whereas, a new sentence with in contrast, and however to signal a shift. Note the punctuation each one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 Mode. A single tense slip undoes an otherwise good sentence. Stay in the past throughout, and use 'before' to link two past actions smoothly.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Activity. Each sentence has one grammar mistake, a tense error, a wrong verb form, a comparative-superlative mix, or a wrong preposition. Students rewrite each correctly on the line beneath.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takeaways. Default to past simple, comparatives within / superlatives across, the three prepositions, and proper linking words. Preview Lesson 4: Structuring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857250"/>
            <a:ext cx="1428750" cy="17214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1143000"/>
            <a:ext cx="162858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Lesson 3 · Writing</a:t>
            </a:r>
            <a:endParaRPr lang="en-US" sz="3450" dirty="0"/>
          </a:p>
        </p:txBody>
      </p:sp>
      <p:sp>
        <p:nvSpPr>
          <p:cNvPr id="6" name="Text 2"/>
          <p:cNvSpPr/>
          <p:nvPr/>
        </p:nvSpPr>
        <p:spPr>
          <a:xfrm>
            <a:off x="1238250" y="1857375"/>
            <a:ext cx="6286928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Grammar for</a:t>
            </a:r>
            <a:endParaRPr lang="en-US" sz="7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85850" y="2930649"/>
            <a:ext cx="8142982" cy="9494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8250" y="2844924"/>
            <a:ext cx="8622000" cy="11525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description</a:t>
            </a:r>
            <a:endParaRPr lang="en-US" sz="7200" dirty="0"/>
          </a:p>
        </p:txBody>
      </p:sp>
      <p:sp>
        <p:nvSpPr>
          <p:cNvPr id="9" name="Text 4"/>
          <p:cNvSpPr/>
          <p:nvPr/>
        </p:nvSpPr>
        <p:spPr>
          <a:xfrm>
            <a:off x="9076432" y="2844924"/>
            <a:ext cx="316111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7200" dirty="0"/>
          </a:p>
        </p:txBody>
      </p:sp>
      <p:sp>
        <p:nvSpPr>
          <p:cNvPr id="10" name="Text 5"/>
          <p:cNvSpPr/>
          <p:nvPr/>
        </p:nvSpPr>
        <p:spPr>
          <a:xfrm>
            <a:off x="1238250" y="4661148"/>
            <a:ext cx="105956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tenses, comparatives, and linking words that make your sentences accurate.</a:t>
            </a:r>
            <a:endParaRPr lang="en-US" sz="2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600" y="6705600"/>
            <a:ext cx="6858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4519910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Grammar is its own band score, and an easy one to win.</a:t>
            </a:r>
            <a:endParaRPr lang="en-US" sz="4050" dirty="0"/>
          </a:p>
        </p:txBody>
      </p:sp>
      <p:sp>
        <p:nvSpPr>
          <p:cNvPr id="7" name="Text 3"/>
          <p:cNvSpPr/>
          <p:nvPr/>
        </p:nvSpPr>
        <p:spPr>
          <a:xfrm>
            <a:off x="1238250" y="2925961"/>
            <a:ext cx="14716125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 is marked on four criteria, and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Grammatical Range &amp; Accuracy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one of them. You can have great vocabulary and still lose marks if your tenses don't match the data, or your comparatives don't agree.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 rot="-90000">
            <a:off x="1238250" y="4952405"/>
            <a:ext cx="162858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 this lesson →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238250" y="5683448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1985070" y="5683448"/>
            <a:ext cx="323861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simple for data</a:t>
            </a:r>
            <a:endParaRPr lang="en-US" sz="2475" dirty="0"/>
          </a:p>
        </p:txBody>
      </p:sp>
      <p:sp>
        <p:nvSpPr>
          <p:cNvPr id="11" name="Text 7"/>
          <p:cNvSpPr/>
          <p:nvPr/>
        </p:nvSpPr>
        <p:spPr>
          <a:xfrm>
            <a:off x="8763000" y="5683448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9509820" y="5683448"/>
            <a:ext cx="466420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Comparatives &amp; superlatives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1238250" y="6487344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1985070" y="6487344"/>
            <a:ext cx="407820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Prepositions for amounts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8763000" y="6487344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04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9509820" y="6487344"/>
            <a:ext cx="424772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 contrasting trends</a:t>
            </a:r>
            <a:endParaRPr lang="en-US" sz="2475" dirty="0"/>
          </a:p>
        </p:txBody>
      </p:sp>
      <p:sp>
        <p:nvSpPr>
          <p:cNvPr id="17" name="Text 13"/>
          <p:cNvSpPr/>
          <p:nvPr/>
        </p:nvSpPr>
        <p:spPr>
          <a:xfrm>
            <a:off x="1238250" y="9491663"/>
            <a:ext cx="63929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3 of 8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10298" y="9491663"/>
            <a:ext cx="2156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0" y="571500"/>
            <a:ext cx="1028700" cy="1239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857250"/>
            <a:ext cx="10687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VERB TENSES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243013"/>
            <a:ext cx="744904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Task 1 data needs the</a:t>
            </a:r>
            <a:endParaRPr lang="en-US" sz="4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123950" y="1853133"/>
            <a:ext cx="3340150" cy="6053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8250" y="1829321"/>
            <a:ext cx="3422705" cy="666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 simple</a:t>
            </a:r>
            <a:endParaRPr lang="en-US" sz="4050" dirty="0"/>
          </a:p>
        </p:txBody>
      </p:sp>
      <p:sp>
        <p:nvSpPr>
          <p:cNvPr id="9" name="Text 4"/>
          <p:cNvSpPr/>
          <p:nvPr/>
        </p:nvSpPr>
        <p:spPr>
          <a:xfrm>
            <a:off x="4349800" y="1829321"/>
            <a:ext cx="211187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4050" dirty="0"/>
          </a:p>
        </p:txBody>
      </p:sp>
      <p:sp>
        <p:nvSpPr>
          <p:cNvPr id="10" name="Text 5"/>
          <p:cNvSpPr/>
          <p:nvPr/>
        </p:nvSpPr>
        <p:spPr>
          <a:xfrm>
            <a:off x="1238250" y="2763292"/>
            <a:ext cx="1000696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graph shows data recorded up to a fixed point, even last year, describe it in the past simple. Only switch tense if the graph shows a </a:t>
            </a:r>
            <a:pPr algn="l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projection </a:t>
            </a:r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("is expected to rise").</a:t>
            </a:r>
            <a:endParaRPr lang="en-US" sz="2400" dirty="0"/>
          </a:p>
        </p:txBody>
      </p:sp>
      <p:sp>
        <p:nvSpPr>
          <p:cNvPr id="11" name="Shape 6"/>
          <p:cNvSpPr/>
          <p:nvPr/>
        </p:nvSpPr>
        <p:spPr>
          <a:xfrm>
            <a:off x="1238250" y="4477792"/>
            <a:ext cx="9715500" cy="1571551"/>
          </a:xfrm>
          <a:prstGeom prst="roundRect">
            <a:avLst>
              <a:gd name="adj" fmla="val 1091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628775" y="4811167"/>
            <a:ext cx="9827895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usage </a:t>
            </a:r>
            <a:pPr algn="l" indent="0" marL="0">
              <a:lnSpc>
                <a:spcPct val="140000"/>
              </a:lnSpc>
              <a:buNone/>
            </a:pPr>
            <a:r>
              <a:rPr lang="en-US" sz="24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rose </a:t>
            </a:r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steadily between 2010 and 2020.</a:t>
            </a:r>
            <a:endParaRPr lang="en-US" sz="2475" dirty="0"/>
          </a:p>
        </p:txBody>
      </p:sp>
      <p:sp>
        <p:nvSpPr>
          <p:cNvPr id="13" name="Text 8"/>
          <p:cNvSpPr/>
          <p:nvPr/>
        </p:nvSpPr>
        <p:spPr>
          <a:xfrm>
            <a:off x="1628775" y="5365477"/>
            <a:ext cx="982789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not "rises", the data is already recorded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11715750" y="3057525"/>
            <a:ext cx="5334000" cy="4171950"/>
          </a:xfrm>
          <a:prstGeom prst="roundRect">
            <a:avLst>
              <a:gd name="adj" fmla="val 4566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2144375" y="3448050"/>
            <a:ext cx="49244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IRREGULAR VERBS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2144375" y="4591050"/>
            <a:ext cx="447675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12144375" y="3990975"/>
            <a:ext cx="21478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rise</a:t>
            </a:r>
            <a:endParaRPr lang="en-US" sz="2550" dirty="0"/>
          </a:p>
        </p:txBody>
      </p:sp>
      <p:sp>
        <p:nvSpPr>
          <p:cNvPr id="18" name="Text 13"/>
          <p:cNvSpPr/>
          <p:nvPr/>
        </p:nvSpPr>
        <p:spPr>
          <a:xfrm>
            <a:off x="14058900" y="4014788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F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14473238" y="3990975"/>
            <a:ext cx="21478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rose</a:t>
            </a:r>
            <a:endParaRPr lang="en-US" sz="2550" dirty="0"/>
          </a:p>
        </p:txBody>
      </p:sp>
      <p:sp>
        <p:nvSpPr>
          <p:cNvPr id="20" name="Shape 15"/>
          <p:cNvSpPr/>
          <p:nvPr/>
        </p:nvSpPr>
        <p:spPr>
          <a:xfrm>
            <a:off x="12144375" y="5410200"/>
            <a:ext cx="447675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12144375" y="4810125"/>
            <a:ext cx="21478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</a:t>
            </a:r>
            <a:endParaRPr lang="en-US" sz="2550" dirty="0"/>
          </a:p>
        </p:txBody>
      </p:sp>
      <p:sp>
        <p:nvSpPr>
          <p:cNvPr id="22" name="Text 17"/>
          <p:cNvSpPr/>
          <p:nvPr/>
        </p:nvSpPr>
        <p:spPr>
          <a:xfrm>
            <a:off x="14058900" y="4833938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F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23" name="Text 18"/>
          <p:cNvSpPr/>
          <p:nvPr/>
        </p:nvSpPr>
        <p:spPr>
          <a:xfrm>
            <a:off x="14473238" y="4810125"/>
            <a:ext cx="21478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fell</a:t>
            </a:r>
            <a:endParaRPr lang="en-US" sz="2550" dirty="0"/>
          </a:p>
        </p:txBody>
      </p:sp>
      <p:sp>
        <p:nvSpPr>
          <p:cNvPr id="24" name="Shape 19"/>
          <p:cNvSpPr/>
          <p:nvPr/>
        </p:nvSpPr>
        <p:spPr>
          <a:xfrm>
            <a:off x="12144375" y="6229350"/>
            <a:ext cx="447675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12144375" y="5629275"/>
            <a:ext cx="21478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</a:t>
            </a:r>
            <a:endParaRPr lang="en-US" sz="2550" dirty="0"/>
          </a:p>
        </p:txBody>
      </p:sp>
      <p:sp>
        <p:nvSpPr>
          <p:cNvPr id="26" name="Text 21"/>
          <p:cNvSpPr/>
          <p:nvPr/>
        </p:nvSpPr>
        <p:spPr>
          <a:xfrm>
            <a:off x="14058900" y="5653088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F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27" name="Text 22"/>
          <p:cNvSpPr/>
          <p:nvPr/>
        </p:nvSpPr>
        <p:spPr>
          <a:xfrm>
            <a:off x="14473238" y="5629275"/>
            <a:ext cx="21478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grew</a:t>
            </a:r>
            <a:endParaRPr lang="en-US" sz="2550" dirty="0"/>
          </a:p>
        </p:txBody>
      </p:sp>
      <p:sp>
        <p:nvSpPr>
          <p:cNvPr id="28" name="Text 23"/>
          <p:cNvSpPr/>
          <p:nvPr/>
        </p:nvSpPr>
        <p:spPr>
          <a:xfrm>
            <a:off x="12144375" y="6448425"/>
            <a:ext cx="21478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</a:t>
            </a:r>
            <a:endParaRPr lang="en-US" sz="2550" dirty="0"/>
          </a:p>
        </p:txBody>
      </p:sp>
      <p:sp>
        <p:nvSpPr>
          <p:cNvPr id="29" name="Text 24"/>
          <p:cNvSpPr/>
          <p:nvPr/>
        </p:nvSpPr>
        <p:spPr>
          <a:xfrm>
            <a:off x="14058900" y="6472238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F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30" name="Text 25"/>
          <p:cNvSpPr/>
          <p:nvPr/>
        </p:nvSpPr>
        <p:spPr>
          <a:xfrm>
            <a:off x="14473238" y="6448425"/>
            <a:ext cx="214788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became</a:t>
            </a:r>
            <a:endParaRPr lang="en-US" sz="2550" dirty="0"/>
          </a:p>
        </p:txBody>
      </p:sp>
      <p:sp>
        <p:nvSpPr>
          <p:cNvPr id="31" name="Text 26"/>
          <p:cNvSpPr/>
          <p:nvPr/>
        </p:nvSpPr>
        <p:spPr>
          <a:xfrm>
            <a:off x="1238250" y="9605963"/>
            <a:ext cx="63929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3 of 8 · IELTS Writing Task 1 · orangeenglish.nl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16908512" y="9605963"/>
            <a:ext cx="2174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· COMPARING DATA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Comparatives &amp; superlatives.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397621"/>
            <a:ext cx="7600950" cy="3836343"/>
          </a:xfrm>
          <a:prstGeom prst="roundRect">
            <a:avLst>
              <a:gd name="adj" fmla="val 496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552575" y="2831009"/>
            <a:ext cx="2844701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04975" y="2826246"/>
            <a:ext cx="2793891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Comparative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1704975" y="3421559"/>
            <a:ext cx="73342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comparing two things</a:t>
            </a:r>
            <a:endParaRPr lang="en-US" sz="2025" dirty="0"/>
          </a:p>
        </p:txBody>
      </p:sp>
      <p:sp>
        <p:nvSpPr>
          <p:cNvPr id="11" name="Text 6"/>
          <p:cNvSpPr/>
          <p:nvPr/>
        </p:nvSpPr>
        <p:spPr>
          <a:xfrm>
            <a:off x="1704975" y="3959721"/>
            <a:ext cx="6867525" cy="89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than · lower than · more than · fewer than · twice as many as</a:t>
            </a:r>
            <a:endParaRPr lang="en-US" sz="2325" dirty="0"/>
          </a:p>
        </p:txBody>
      </p:sp>
      <p:sp>
        <p:nvSpPr>
          <p:cNvPr id="12" name="Text 7"/>
          <p:cNvSpPr/>
          <p:nvPr/>
        </p:nvSpPr>
        <p:spPr>
          <a:xfrm>
            <a:off x="1704975" y="5063579"/>
            <a:ext cx="6867525" cy="779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7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"Spending on housing was higher than spending on food in every year shown."</a:t>
            </a:r>
            <a:endParaRPr lang="en-US" sz="2475" dirty="0"/>
          </a:p>
        </p:txBody>
      </p:sp>
      <p:sp>
        <p:nvSpPr>
          <p:cNvPr id="13" name="Shape 8"/>
          <p:cNvSpPr/>
          <p:nvPr/>
        </p:nvSpPr>
        <p:spPr>
          <a:xfrm>
            <a:off x="9448800" y="2397621"/>
            <a:ext cx="7600950" cy="3836343"/>
          </a:xfrm>
          <a:prstGeom prst="roundRect">
            <a:avLst>
              <a:gd name="adj" fmla="val 496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9763125" y="2831009"/>
            <a:ext cx="2568401" cy="495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15525" y="2826246"/>
            <a:ext cx="2489962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Superlative</a:t>
            </a:r>
            <a:endParaRPr lang="en-US" sz="3000" dirty="0"/>
          </a:p>
        </p:txBody>
      </p:sp>
      <p:sp>
        <p:nvSpPr>
          <p:cNvPr id="16" name="Text 10"/>
          <p:cNvSpPr/>
          <p:nvPr/>
        </p:nvSpPr>
        <p:spPr>
          <a:xfrm>
            <a:off x="9915525" y="3421559"/>
            <a:ext cx="73342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comparing the whole set</a:t>
            </a:r>
            <a:endParaRPr lang="en-US" sz="2025" dirty="0"/>
          </a:p>
        </p:txBody>
      </p:sp>
      <p:sp>
        <p:nvSpPr>
          <p:cNvPr id="17" name="Text 11"/>
          <p:cNvSpPr/>
          <p:nvPr/>
        </p:nvSpPr>
        <p:spPr>
          <a:xfrm>
            <a:off x="9915525" y="3959721"/>
            <a:ext cx="6867525" cy="89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highest · the lowest · the largest · the smallest</a:t>
            </a:r>
            <a:endParaRPr lang="en-US" sz="2325" dirty="0"/>
          </a:p>
        </p:txBody>
      </p:sp>
      <p:sp>
        <p:nvSpPr>
          <p:cNvPr id="18" name="Text 12"/>
          <p:cNvSpPr/>
          <p:nvPr/>
        </p:nvSpPr>
        <p:spPr>
          <a:xfrm>
            <a:off x="9915525" y="5063579"/>
            <a:ext cx="7334250" cy="408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7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"2020 saw the highest number of visitors."</a:t>
            </a:r>
            <a:endParaRPr lang="en-US" sz="2475" dirty="0"/>
          </a:p>
        </p:txBody>
      </p:sp>
      <p:sp>
        <p:nvSpPr>
          <p:cNvPr id="19" name="Text 13"/>
          <p:cNvSpPr/>
          <p:nvPr/>
        </p:nvSpPr>
        <p:spPr>
          <a:xfrm>
            <a:off x="1238250" y="9491663"/>
            <a:ext cx="63929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3 of 8 · IELTS Writing Task 1 · orangeenglish.nl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6902038" y="9491663"/>
            <a:ext cx="2239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 · PREPOSITIONS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Showing exactly how much something changed.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416671"/>
            <a:ext cx="15621000" cy="1890713"/>
          </a:xfrm>
          <a:prstGeom prst="roundRect">
            <a:avLst>
              <a:gd name="adj" fmla="val 906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533525" y="2750046"/>
            <a:ext cx="848990" cy="5953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66875" y="2750046"/>
            <a:ext cx="65849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1666875" y="3402509"/>
            <a:ext cx="2266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size of the change</a:t>
            </a:r>
            <a:endParaRPr lang="en-US" sz="1875" dirty="0"/>
          </a:p>
        </p:txBody>
      </p:sp>
      <p:sp>
        <p:nvSpPr>
          <p:cNvPr id="11" name="Text 6"/>
          <p:cNvSpPr/>
          <p:nvPr/>
        </p:nvSpPr>
        <p:spPr>
          <a:xfrm>
            <a:off x="4276725" y="3148682"/>
            <a:ext cx="772363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increased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15%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2015 and 2018.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1238250" y="4593134"/>
            <a:ext cx="15621000" cy="1604963"/>
          </a:xfrm>
          <a:prstGeom prst="roundRect">
            <a:avLst>
              <a:gd name="adj" fmla="val 1068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1533525" y="4926509"/>
            <a:ext cx="757535" cy="5953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66875" y="4926509"/>
            <a:ext cx="567035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</a:t>
            </a:r>
            <a:endParaRPr lang="en-US" sz="3600" dirty="0"/>
          </a:p>
        </p:txBody>
      </p:sp>
      <p:sp>
        <p:nvSpPr>
          <p:cNvPr id="15" name="Text 9"/>
          <p:cNvSpPr/>
          <p:nvPr/>
        </p:nvSpPr>
        <p:spPr>
          <a:xfrm>
            <a:off x="1666875" y="5578971"/>
            <a:ext cx="24098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end point</a:t>
            </a:r>
            <a:endParaRPr lang="en-US" sz="1875" dirty="0"/>
          </a:p>
        </p:txBody>
      </p:sp>
      <p:sp>
        <p:nvSpPr>
          <p:cNvPr id="16" name="Text 10"/>
          <p:cNvSpPr/>
          <p:nvPr/>
        </p:nvSpPr>
        <p:spPr>
          <a:xfrm>
            <a:off x="4276725" y="5182270"/>
            <a:ext cx="8033787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Unemployment fell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4%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end of the period.</a:t>
            </a:r>
            <a:endParaRPr lang="en-US" sz="2400" dirty="0"/>
          </a:p>
        </p:txBody>
      </p:sp>
      <p:sp>
        <p:nvSpPr>
          <p:cNvPr id="17" name="Shape 11"/>
          <p:cNvSpPr/>
          <p:nvPr/>
        </p:nvSpPr>
        <p:spPr>
          <a:xfrm>
            <a:off x="1238250" y="6483846"/>
            <a:ext cx="15621000" cy="2447925"/>
          </a:xfrm>
          <a:prstGeom prst="roundRect">
            <a:avLst>
              <a:gd name="adj" fmla="val 7004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1533525" y="6817221"/>
            <a:ext cx="2457450" cy="11525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66875" y="6817221"/>
            <a:ext cx="171956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… to</a:t>
            </a:r>
            <a:endParaRPr lang="en-US" sz="3600" dirty="0"/>
          </a:p>
        </p:txBody>
      </p:sp>
      <p:sp>
        <p:nvSpPr>
          <p:cNvPr id="20" name="Text 13"/>
          <p:cNvSpPr/>
          <p:nvPr/>
        </p:nvSpPr>
        <p:spPr>
          <a:xfrm>
            <a:off x="1666875" y="8026896"/>
            <a:ext cx="2266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start and end point</a:t>
            </a:r>
            <a:endParaRPr lang="en-US" sz="1875" dirty="0"/>
          </a:p>
        </p:txBody>
      </p:sp>
      <p:sp>
        <p:nvSpPr>
          <p:cNvPr id="21" name="Text 14"/>
          <p:cNvSpPr/>
          <p:nvPr/>
        </p:nvSpPr>
        <p:spPr>
          <a:xfrm>
            <a:off x="4276725" y="7494463"/>
            <a:ext cx="5507727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figure rose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20% to 60%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22" name="Text 15"/>
          <p:cNvSpPr/>
          <p:nvPr/>
        </p:nvSpPr>
        <p:spPr>
          <a:xfrm>
            <a:off x="1238250" y="9491663"/>
            <a:ext cx="63929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3 of 8 · IELTS Writing Task 1 · orangeenglish.nl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914093" y="9491663"/>
            <a:ext cx="2118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 · LINKING IDEAS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Connecting two trends in one sentence.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454771"/>
            <a:ext cx="4927550" cy="3216027"/>
          </a:xfrm>
          <a:prstGeom prst="roundRect">
            <a:avLst>
              <a:gd name="adj" fmla="val 5923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66875" y="2864346"/>
            <a:ext cx="447733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Mid-sentence</a:t>
            </a:r>
            <a:endParaRPr lang="en-US" sz="2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533525" y="3354884"/>
            <a:ext cx="2914799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6875" y="3397746"/>
            <a:ext cx="2912909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· whereas</a:t>
            </a:r>
            <a:endParaRPr lang="en-US" sz="2550" dirty="0"/>
          </a:p>
        </p:txBody>
      </p:sp>
      <p:sp>
        <p:nvSpPr>
          <p:cNvPr id="11" name="Text 6"/>
          <p:cNvSpPr/>
          <p:nvPr/>
        </p:nvSpPr>
        <p:spPr>
          <a:xfrm>
            <a:off x="1666875" y="4059734"/>
            <a:ext cx="4192409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of product A increased, sales of product B declined."</a:t>
            </a:r>
            <a:endParaRPr lang="en-US" sz="2175" dirty="0"/>
          </a:p>
        </p:txBody>
      </p:sp>
      <p:sp>
        <p:nvSpPr>
          <p:cNvPr id="12" name="Shape 7"/>
          <p:cNvSpPr/>
          <p:nvPr/>
        </p:nvSpPr>
        <p:spPr>
          <a:xfrm>
            <a:off x="6680150" y="2454771"/>
            <a:ext cx="4927625" cy="3216027"/>
          </a:xfrm>
          <a:prstGeom prst="roundRect">
            <a:avLst>
              <a:gd name="adj" fmla="val 5923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108775" y="2864346"/>
            <a:ext cx="447741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New sentence</a:t>
            </a:r>
            <a:endParaRPr lang="en-US" sz="2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6975425" y="3354884"/>
            <a:ext cx="4275981" cy="4762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08775" y="3397746"/>
            <a:ext cx="4410209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contrast · by contrast</a:t>
            </a:r>
            <a:endParaRPr lang="en-US" sz="2550" dirty="0"/>
          </a:p>
        </p:txBody>
      </p:sp>
      <p:sp>
        <p:nvSpPr>
          <p:cNvPr id="16" name="Text 10"/>
          <p:cNvSpPr/>
          <p:nvPr/>
        </p:nvSpPr>
        <p:spPr>
          <a:xfrm>
            <a:off x="7108775" y="4059734"/>
            <a:ext cx="4192486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contrast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expenditure on transport fell."</a:t>
            </a:r>
            <a:endParaRPr lang="en-US" sz="2175" dirty="0"/>
          </a:p>
        </p:txBody>
      </p:sp>
      <p:sp>
        <p:nvSpPr>
          <p:cNvPr id="17" name="Shape 11"/>
          <p:cNvSpPr/>
          <p:nvPr/>
        </p:nvSpPr>
        <p:spPr>
          <a:xfrm>
            <a:off x="12122125" y="2454771"/>
            <a:ext cx="4927550" cy="3216027"/>
          </a:xfrm>
          <a:prstGeom prst="roundRect">
            <a:avLst>
              <a:gd name="adj" fmla="val 5923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2550750" y="2864346"/>
            <a:ext cx="447733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Showing a shift</a:t>
            </a:r>
            <a:endParaRPr lang="en-US" sz="2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12417400" y="3354884"/>
            <a:ext cx="1731541" cy="4762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550750" y="3397746"/>
            <a:ext cx="1611325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however</a:t>
            </a:r>
            <a:endParaRPr lang="en-US" sz="2550" dirty="0"/>
          </a:p>
        </p:txBody>
      </p:sp>
      <p:sp>
        <p:nvSpPr>
          <p:cNvPr id="21" name="Text 14"/>
          <p:cNvSpPr/>
          <p:nvPr/>
        </p:nvSpPr>
        <p:spPr>
          <a:xfrm>
            <a:off x="12550750" y="4059734"/>
            <a:ext cx="4192409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trend reversed after 2015."</a:t>
            </a:r>
            <a:endParaRPr lang="en-US" sz="2175" dirty="0"/>
          </a:p>
        </p:txBody>
      </p:sp>
      <p:sp>
        <p:nvSpPr>
          <p:cNvPr id="22" name="Text 15"/>
          <p:cNvSpPr/>
          <p:nvPr/>
        </p:nvSpPr>
        <p:spPr>
          <a:xfrm>
            <a:off x="1238250" y="9491663"/>
            <a:ext cx="63929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3 of 8 · IELTS Writing Task 1 · orangeenglish.nl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914400"/>
            <a:ext cx="1628584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examiner mode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1238250" y="15144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mixed tense can undo a good sentence.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645271"/>
            <a:ext cx="14859000" cy="2237408"/>
          </a:xfrm>
          <a:prstGeom prst="roundRect">
            <a:avLst>
              <a:gd name="adj" fmla="val 766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66875" y="3016746"/>
            <a:ext cx="23931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2001441" y="3052465"/>
            <a:ext cx="9016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66875" y="3535859"/>
            <a:ext cx="15401925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9A8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price of oil rise sharply in 2008 and now it is falling."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1666875" y="4149254"/>
            <a:ext cx="154019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42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tense mix, stay in the past throughout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238250" y="5263679"/>
            <a:ext cx="14859000" cy="2254523"/>
          </a:xfrm>
          <a:prstGeom prst="roundRect">
            <a:avLst>
              <a:gd name="adj" fmla="val 7605"/>
            </a:avLst>
          </a:prstGeom>
          <a:solidFill>
            <a:srgbClr val="5FB27B">
              <a:alpha val="10000"/>
            </a:srgbClr>
          </a:solidFill>
          <a:ln w="9525">
            <a:solidFill>
              <a:srgbClr val="5FB27B">
                <a:alpha val="3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66875" y="5635154"/>
            <a:ext cx="29460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2056730" y="5670872"/>
            <a:ext cx="16204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3F8A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666875" y="6192366"/>
            <a:ext cx="270416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price of oil</a:t>
            </a:r>
            <a:endParaRPr lang="en-US" sz="2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4307458" y="6154266"/>
            <a:ext cx="2210544" cy="5162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3658" y="6192366"/>
            <a:ext cx="2263959" cy="4524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rose sharply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6533108" y="6192366"/>
            <a:ext cx="13300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2008</a:t>
            </a:r>
            <a:endParaRPr lang="en-US" sz="2700" dirty="0"/>
          </a:p>
        </p:txBody>
      </p:sp>
      <p:sp>
        <p:nvSpPr>
          <p:cNvPr id="19" name="Text 14"/>
          <p:cNvSpPr/>
          <p:nvPr/>
        </p:nvSpPr>
        <p:spPr>
          <a:xfrm>
            <a:off x="7878291" y="6192366"/>
            <a:ext cx="240442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falling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10155436" y="6192366"/>
            <a:ext cx="330668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steadily thereafter."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1666875" y="6784777"/>
            <a:ext cx="154019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'before' links two past actions smoothly</a:t>
            </a:r>
            <a:endParaRPr lang="en-US" sz="2250" dirty="0"/>
          </a:p>
        </p:txBody>
      </p:sp>
      <p:sp>
        <p:nvSpPr>
          <p:cNvPr id="22" name="Text 17"/>
          <p:cNvSpPr/>
          <p:nvPr/>
        </p:nvSpPr>
        <p:spPr>
          <a:xfrm>
            <a:off x="1238250" y="9491663"/>
            <a:ext cx="63929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3 of 8 · IELTS Writing Task 1 · orangeenglish.nl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6920344" y="9491663"/>
            <a:ext cx="20560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1028700"/>
            <a:ext cx="1526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 rot="-120000">
            <a:off x="2854896" y="914400"/>
            <a:ext cx="14982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your turn!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1238250" y="1447800"/>
            <a:ext cx="173926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grammar.</a:t>
            </a:r>
            <a:endParaRPr lang="en-US" sz="3900" dirty="0"/>
          </a:p>
        </p:txBody>
      </p:sp>
      <p:sp>
        <p:nvSpPr>
          <p:cNvPr id="8" name="Text 4"/>
          <p:cNvSpPr/>
          <p:nvPr/>
        </p:nvSpPr>
        <p:spPr>
          <a:xfrm>
            <a:off x="1238250" y="2097732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sentence below has one grammar mistake. Rewrite it correctly on the line beneath.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238250" y="2878782"/>
            <a:ext cx="49530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866900" y="2878782"/>
            <a:ext cx="700487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2010, the number of users were higher than in 2005.</a:t>
            </a:r>
            <a:endParaRPr lang="en-US" sz="2175" dirty="0"/>
          </a:p>
        </p:txBody>
      </p:sp>
      <p:sp>
        <p:nvSpPr>
          <p:cNvPr id="11" name="Shape 7"/>
          <p:cNvSpPr/>
          <p:nvPr/>
        </p:nvSpPr>
        <p:spPr>
          <a:xfrm>
            <a:off x="1866900" y="3918793"/>
            <a:ext cx="6800850" cy="19050"/>
          </a:xfrm>
          <a:prstGeom prst="rect">
            <a:avLst/>
          </a:prstGeom>
          <a:solidFill>
            <a:srgbClr val="5FB27B">
              <a:alpha val="6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9429750" y="2878782"/>
            <a:ext cx="49530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10058400" y="2878782"/>
            <a:ext cx="748093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figure for coal rise to 40% in 2012.</a:t>
            </a:r>
            <a:endParaRPr lang="en-US" sz="2175" dirty="0"/>
          </a:p>
        </p:txBody>
      </p:sp>
      <p:sp>
        <p:nvSpPr>
          <p:cNvPr id="14" name="Shape 10"/>
          <p:cNvSpPr/>
          <p:nvPr/>
        </p:nvSpPr>
        <p:spPr>
          <a:xfrm>
            <a:off x="10058400" y="3532138"/>
            <a:ext cx="6800850" cy="19050"/>
          </a:xfrm>
          <a:prstGeom prst="rect">
            <a:avLst/>
          </a:prstGeom>
          <a:solidFill>
            <a:srgbClr val="5FB27B">
              <a:alpha val="6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238250" y="4318843"/>
            <a:ext cx="49530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1866900" y="4318843"/>
            <a:ext cx="748093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has the highest population than India.</a:t>
            </a:r>
            <a:endParaRPr lang="en-US" sz="2175" dirty="0"/>
          </a:p>
        </p:txBody>
      </p:sp>
      <p:sp>
        <p:nvSpPr>
          <p:cNvPr id="17" name="Shape 13"/>
          <p:cNvSpPr/>
          <p:nvPr/>
        </p:nvSpPr>
        <p:spPr>
          <a:xfrm>
            <a:off x="1866900" y="4972199"/>
            <a:ext cx="6800850" cy="19050"/>
          </a:xfrm>
          <a:prstGeom prst="rect">
            <a:avLst/>
          </a:prstGeom>
          <a:solidFill>
            <a:srgbClr val="5FB27B">
              <a:alpha val="6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9429750" y="4318843"/>
            <a:ext cx="49530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10058400" y="4318843"/>
            <a:ext cx="748093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Profits increased of 20% between 2010 and 2015.</a:t>
            </a:r>
            <a:endParaRPr lang="en-US" sz="2175" dirty="0"/>
          </a:p>
        </p:txBody>
      </p:sp>
      <p:sp>
        <p:nvSpPr>
          <p:cNvPr id="20" name="Shape 16"/>
          <p:cNvSpPr/>
          <p:nvPr/>
        </p:nvSpPr>
        <p:spPr>
          <a:xfrm>
            <a:off x="10058400" y="4972199"/>
            <a:ext cx="6800850" cy="19050"/>
          </a:xfrm>
          <a:prstGeom prst="rect">
            <a:avLst/>
          </a:prstGeom>
          <a:solidFill>
            <a:srgbClr val="5FB27B">
              <a:alpha val="6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1238250" y="9491663"/>
            <a:ext cx="63929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3 of 8 · IELTS Writing Task 1 · orangeenglish.nl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6908289" y="9491663"/>
            <a:ext cx="21766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to carry into your writing.</a:t>
            </a:r>
            <a:endParaRPr lang="en-US" sz="4050" dirty="0"/>
          </a:p>
        </p:txBody>
      </p:sp>
      <p:sp>
        <p:nvSpPr>
          <p:cNvPr id="7" name="Shape 3"/>
          <p:cNvSpPr/>
          <p:nvPr/>
        </p:nvSpPr>
        <p:spPr>
          <a:xfrm>
            <a:off x="1238250" y="2509614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8" name="Text 4"/>
          <p:cNvSpPr/>
          <p:nvPr/>
        </p:nvSpPr>
        <p:spPr>
          <a:xfrm>
            <a:off x="1657350" y="2376264"/>
            <a:ext cx="14256194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to the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simple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completed, historical data, switch tense only for projections.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1238250" y="3218259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0" name="Text 6"/>
          <p:cNvSpPr/>
          <p:nvPr/>
        </p:nvSpPr>
        <p:spPr>
          <a:xfrm>
            <a:off x="1657350" y="3084909"/>
            <a:ext cx="11700584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comparatives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a graph,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superlatives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the whole data set.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238250" y="3926904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2" name="Text 8"/>
          <p:cNvSpPr/>
          <p:nvPr/>
        </p:nvSpPr>
        <p:spPr>
          <a:xfrm>
            <a:off x="1657350" y="3793554"/>
            <a:ext cx="13331636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'By'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the amount of change,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'to'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the end point,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'from … to'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both.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1238250" y="4635550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4" name="Text 10"/>
          <p:cNvSpPr/>
          <p:nvPr/>
        </p:nvSpPr>
        <p:spPr>
          <a:xfrm>
            <a:off x="1657350" y="4502200"/>
            <a:ext cx="11480393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contrasting trends with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/ whereas / in contrast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just "and".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 rot="-120000">
            <a:off x="12634020" y="8015287"/>
            <a:ext cx="44148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next up →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12332910" y="8482013"/>
            <a:ext cx="471684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Structuring the Response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238250" y="9491663"/>
            <a:ext cx="63929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3 of 8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2026-06-20T13:28:46Z</dcterms:created>
  <dcterms:modified xsi:type="dcterms:W3CDTF">2026-06-20T13:28:46Z</dcterms:modified>
</cp:coreProperties>
</file>