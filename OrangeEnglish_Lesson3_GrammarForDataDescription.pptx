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5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to Lesson 3. Grammatical Range and Accuracy is one of the four Task 1 marking criteria. This lesson covers the tenses, comparatives, prepositions and linking words that keep your descriptions accurate.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Grammatical Range and Accuracy is a full quarter of the Task 1 score, and it is one of the easiest to control. Strong vocabulary won't save a sentence with a tense error. Preview the four parts.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1. Most Task 1 data was recorded up to a fixed point, so the default is past simple. Only switch to a future form when the graph shows a projection. Drill the four common irregular verbs.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2. Comparatives compare two things within the data; superlatives single out one across the whole set. Note the agreement: 'higher than', 'the highest'.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3. Three prepositions do the heavy lifting: 'by' for the size of the change, 'to' for the end point, 'from … to' for both ends. Match each to its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4. Three ways to connect two trends: mid-sentence with while/whereas, a new sentence with in contrast, and however to signal a shift. Note the punctuation each one needs.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Examiner Mode. A single tense slip undoes an otherwise good sentence. Stay in the past throughout, and use 'before' to link two past actions smoothly.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Activity. Each sentence has one grammar mistake, a tense error, a wrong verb form, a comparative-superlative mix, or a wrong preposition. Students rewrite each correctly on the line beneath.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the four takeaways. Default to past simple, comparatives within / superlatives across, the three prepositions, and proper linking words. Preview Lesson 4: Structuring the Response.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0" y="857250"/>
            <a:ext cx="1428750" cy="1721421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 rot="-120000">
            <a:off x="1238250" y="1143000"/>
            <a:ext cx="16285845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5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Lesson 3 · Writing</a:t>
            </a:r>
            <a:endParaRPr lang="en-US" sz="3450" dirty="0"/>
          </a:p>
        </p:txBody>
      </p:sp>
      <p:sp>
        <p:nvSpPr>
          <p:cNvPr id="6" name="Text 2"/>
          <p:cNvSpPr/>
          <p:nvPr/>
        </p:nvSpPr>
        <p:spPr>
          <a:xfrm>
            <a:off x="1238250" y="1857375"/>
            <a:ext cx="6286928" cy="11525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72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Grammar for</a:t>
            </a:r>
            <a:endParaRPr lang="en-US" sz="720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1085850" y="2930649"/>
            <a:ext cx="8142982" cy="949449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1238250" y="2844924"/>
            <a:ext cx="8622000" cy="115252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72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data description</a:t>
            </a:r>
            <a:endParaRPr lang="en-US" sz="7200" dirty="0"/>
          </a:p>
        </p:txBody>
      </p:sp>
      <p:sp>
        <p:nvSpPr>
          <p:cNvPr id="9" name="Text 4"/>
          <p:cNvSpPr/>
          <p:nvPr/>
        </p:nvSpPr>
        <p:spPr>
          <a:xfrm>
            <a:off x="9076432" y="2844924"/>
            <a:ext cx="316111" cy="11525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72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</a:t>
            </a:r>
            <a:endParaRPr lang="en-US" sz="7200" dirty="0"/>
          </a:p>
        </p:txBody>
      </p:sp>
      <p:sp>
        <p:nvSpPr>
          <p:cNvPr id="10" name="Text 5"/>
          <p:cNvSpPr/>
          <p:nvPr/>
        </p:nvSpPr>
        <p:spPr>
          <a:xfrm>
            <a:off x="1238250" y="4661148"/>
            <a:ext cx="10595610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7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tenses, comparatives, and linking words that make your sentences accurate.</a:t>
            </a:r>
            <a:endParaRPr lang="en-US" sz="270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>
            <a:alphaModFix amt="95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15600" y="6705600"/>
            <a:ext cx="6858000" cy="27051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9650" y="609600"/>
            <a:ext cx="1123950" cy="135418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8250" y="914400"/>
            <a:ext cx="1739265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THIS MATTERS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1238250" y="1323975"/>
            <a:ext cx="14519910" cy="12209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0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Grammar is a quarter of your Task 1 score.</a:t>
            </a:r>
            <a:endParaRPr lang="en-US" sz="4050" dirty="0"/>
          </a:p>
        </p:txBody>
      </p:sp>
      <p:sp>
        <p:nvSpPr>
          <p:cNvPr id="7" name="Text 3"/>
          <p:cNvSpPr/>
          <p:nvPr/>
        </p:nvSpPr>
        <p:spPr>
          <a:xfrm>
            <a:off x="1238250" y="2925961"/>
            <a:ext cx="14716125" cy="1495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55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 1 is marked on four criteria, and </a:t>
            </a:r>
            <a:pPr algn="l" indent="0" marL="0">
              <a:lnSpc>
                <a:spcPct val="150000"/>
              </a:lnSpc>
              <a:buNone/>
            </a:pPr>
            <a:r>
              <a:rPr lang="en-US" sz="255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Grammatical Range &amp; Accuracy </a:t>
            </a:r>
            <a:pPr algn="l" indent="0" marL="0">
              <a:lnSpc>
                <a:spcPct val="150000"/>
              </a:lnSpc>
              <a:buNone/>
            </a:pPr>
            <a:r>
              <a:rPr lang="en-US" sz="255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one of them. You can have great vocabulary and still lose marks if your tenses don't match the data, or your comparatives don't agree.</a:t>
            </a:r>
            <a:endParaRPr lang="en-US" sz="2550" dirty="0"/>
          </a:p>
        </p:txBody>
      </p:sp>
      <p:sp>
        <p:nvSpPr>
          <p:cNvPr id="8" name="Text 4"/>
          <p:cNvSpPr/>
          <p:nvPr/>
        </p:nvSpPr>
        <p:spPr>
          <a:xfrm rot="-90000">
            <a:off x="1238250" y="4952405"/>
            <a:ext cx="16285845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in this lesson →</a:t>
            </a:r>
            <a:endParaRPr lang="en-US" sz="3000" dirty="0"/>
          </a:p>
        </p:txBody>
      </p:sp>
      <p:sp>
        <p:nvSpPr>
          <p:cNvPr id="9" name="Text 5"/>
          <p:cNvSpPr/>
          <p:nvPr/>
        </p:nvSpPr>
        <p:spPr>
          <a:xfrm>
            <a:off x="1238250" y="5683448"/>
            <a:ext cx="556320" cy="5181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01</a:t>
            </a:r>
            <a:endParaRPr lang="en-US" sz="4200" dirty="0"/>
          </a:p>
        </p:txBody>
      </p:sp>
      <p:sp>
        <p:nvSpPr>
          <p:cNvPr id="10" name="Text 6"/>
          <p:cNvSpPr/>
          <p:nvPr/>
        </p:nvSpPr>
        <p:spPr>
          <a:xfrm>
            <a:off x="1985070" y="5683448"/>
            <a:ext cx="3238612" cy="4938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Past simple for data</a:t>
            </a:r>
            <a:endParaRPr lang="en-US" sz="2475" dirty="0"/>
          </a:p>
        </p:txBody>
      </p:sp>
      <p:sp>
        <p:nvSpPr>
          <p:cNvPr id="11" name="Text 7"/>
          <p:cNvSpPr/>
          <p:nvPr/>
        </p:nvSpPr>
        <p:spPr>
          <a:xfrm>
            <a:off x="8763000" y="5683448"/>
            <a:ext cx="556320" cy="5181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02</a:t>
            </a:r>
            <a:endParaRPr lang="en-US" sz="4200" dirty="0"/>
          </a:p>
        </p:txBody>
      </p:sp>
      <p:sp>
        <p:nvSpPr>
          <p:cNvPr id="12" name="Text 8"/>
          <p:cNvSpPr/>
          <p:nvPr/>
        </p:nvSpPr>
        <p:spPr>
          <a:xfrm>
            <a:off x="9509820" y="5683448"/>
            <a:ext cx="4664206" cy="4938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Comparatives &amp; superlatives</a:t>
            </a:r>
            <a:endParaRPr lang="en-US" sz="2475" dirty="0"/>
          </a:p>
        </p:txBody>
      </p:sp>
      <p:sp>
        <p:nvSpPr>
          <p:cNvPr id="13" name="Text 9"/>
          <p:cNvSpPr/>
          <p:nvPr/>
        </p:nvSpPr>
        <p:spPr>
          <a:xfrm>
            <a:off x="1238250" y="6487344"/>
            <a:ext cx="556320" cy="5181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03</a:t>
            </a:r>
            <a:endParaRPr lang="en-US" sz="4200" dirty="0"/>
          </a:p>
        </p:txBody>
      </p:sp>
      <p:sp>
        <p:nvSpPr>
          <p:cNvPr id="14" name="Text 10"/>
          <p:cNvSpPr/>
          <p:nvPr/>
        </p:nvSpPr>
        <p:spPr>
          <a:xfrm>
            <a:off x="1985070" y="6487344"/>
            <a:ext cx="4078203" cy="4938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Prepositions for amounts</a:t>
            </a:r>
            <a:endParaRPr lang="en-US" sz="2475" dirty="0"/>
          </a:p>
        </p:txBody>
      </p:sp>
      <p:sp>
        <p:nvSpPr>
          <p:cNvPr id="15" name="Text 11"/>
          <p:cNvSpPr/>
          <p:nvPr/>
        </p:nvSpPr>
        <p:spPr>
          <a:xfrm>
            <a:off x="8763000" y="6487344"/>
            <a:ext cx="556320" cy="5181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04</a:t>
            </a:r>
            <a:endParaRPr lang="en-US" sz="4200" dirty="0"/>
          </a:p>
        </p:txBody>
      </p:sp>
      <p:sp>
        <p:nvSpPr>
          <p:cNvPr id="16" name="Text 12"/>
          <p:cNvSpPr/>
          <p:nvPr/>
        </p:nvSpPr>
        <p:spPr>
          <a:xfrm>
            <a:off x="9509820" y="6487344"/>
            <a:ext cx="4247726" cy="4938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Linking contrasting trends</a:t>
            </a:r>
            <a:endParaRPr lang="en-US" sz="2475" dirty="0"/>
          </a:p>
        </p:txBody>
      </p:sp>
      <p:sp>
        <p:nvSpPr>
          <p:cNvPr id="17" name="Text 13"/>
          <p:cNvSpPr/>
          <p:nvPr/>
        </p:nvSpPr>
        <p:spPr>
          <a:xfrm>
            <a:off x="1238250" y="9491663"/>
            <a:ext cx="6392994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3 of 6 · IELTS Writing Task 1 · orangeenglish.nl</a:t>
            </a:r>
            <a:endParaRPr lang="en-US" sz="1800" dirty="0"/>
          </a:p>
        </p:txBody>
      </p:sp>
      <p:sp>
        <p:nvSpPr>
          <p:cNvPr id="18" name="Text 14"/>
          <p:cNvSpPr/>
          <p:nvPr/>
        </p:nvSpPr>
        <p:spPr>
          <a:xfrm>
            <a:off x="16910298" y="9491663"/>
            <a:ext cx="215652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44900" y="571500"/>
            <a:ext cx="1028700" cy="1239366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8250" y="857250"/>
            <a:ext cx="1068705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 1 · VERB TENSES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1238250" y="1243013"/>
            <a:ext cx="7449042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40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Most Task 1 data needs the</a:t>
            </a:r>
            <a:endParaRPr lang="en-US" sz="405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1123950" y="1853133"/>
            <a:ext cx="3340150" cy="605358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1238250" y="1829321"/>
            <a:ext cx="3422705" cy="6667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40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past simple</a:t>
            </a:r>
            <a:endParaRPr lang="en-US" sz="4050" dirty="0"/>
          </a:p>
        </p:txBody>
      </p:sp>
      <p:sp>
        <p:nvSpPr>
          <p:cNvPr id="9" name="Text 4"/>
          <p:cNvSpPr/>
          <p:nvPr/>
        </p:nvSpPr>
        <p:spPr>
          <a:xfrm>
            <a:off x="4349800" y="1829321"/>
            <a:ext cx="211187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40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</a:t>
            </a:r>
            <a:endParaRPr lang="en-US" sz="4050" dirty="0"/>
          </a:p>
        </p:txBody>
      </p:sp>
      <p:sp>
        <p:nvSpPr>
          <p:cNvPr id="10" name="Text 5"/>
          <p:cNvSpPr/>
          <p:nvPr/>
        </p:nvSpPr>
        <p:spPr>
          <a:xfrm>
            <a:off x="1238250" y="2763292"/>
            <a:ext cx="10006965" cy="1409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the graph shows data recorded up to a fixed point, even last year, describe it in the past simple. Choose the tense from the time reference: use future forms for a </a:t>
            </a:r>
            <a:pPr algn="l" indent="0" marL="0">
              <a:lnSpc>
                <a:spcPct val="150000"/>
              </a:lnSpc>
              <a:buNone/>
            </a:pPr>
            <a:r>
              <a:rPr lang="en-US" sz="24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future projection </a:t>
            </a:r>
            <a:pPr algn="l"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("is expected to rise").</a:t>
            </a:r>
            <a:endParaRPr lang="en-US" sz="2400" dirty="0"/>
          </a:p>
        </p:txBody>
      </p:sp>
      <p:sp>
        <p:nvSpPr>
          <p:cNvPr id="11" name="Shape 6"/>
          <p:cNvSpPr/>
          <p:nvPr/>
        </p:nvSpPr>
        <p:spPr>
          <a:xfrm>
            <a:off x="1238250" y="4477792"/>
            <a:ext cx="9715500" cy="1571551"/>
          </a:xfrm>
          <a:prstGeom prst="roundRect">
            <a:avLst>
              <a:gd name="adj" fmla="val 10910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Text 7"/>
          <p:cNvSpPr/>
          <p:nvPr/>
        </p:nvSpPr>
        <p:spPr>
          <a:xfrm>
            <a:off x="1628775" y="4811167"/>
            <a:ext cx="9827895" cy="4781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475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Internet usage </a:t>
            </a:r>
            <a:pPr algn="l" indent="0" marL="0">
              <a:lnSpc>
                <a:spcPct val="140000"/>
              </a:lnSpc>
              <a:buNone/>
            </a:pPr>
            <a:r>
              <a:rPr lang="en-US" sz="2475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rose </a:t>
            </a:r>
            <a:pPr algn="l" indent="0" marL="0">
              <a:lnSpc>
                <a:spcPct val="140000"/>
              </a:lnSpc>
              <a:buNone/>
            </a:pPr>
            <a:r>
              <a:rPr lang="en-US" sz="2475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steadily between 2010 and 2020.</a:t>
            </a:r>
            <a:endParaRPr lang="en-US" sz="2475" dirty="0"/>
          </a:p>
        </p:txBody>
      </p:sp>
      <p:sp>
        <p:nvSpPr>
          <p:cNvPr id="13" name="Text 8"/>
          <p:cNvSpPr/>
          <p:nvPr/>
        </p:nvSpPr>
        <p:spPr>
          <a:xfrm>
            <a:off x="1628775" y="5365477"/>
            <a:ext cx="9827895" cy="3885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not "rises", the data is already recorded</a:t>
            </a:r>
            <a:endParaRPr lang="en-US" sz="2400" dirty="0"/>
          </a:p>
        </p:txBody>
      </p:sp>
      <p:sp>
        <p:nvSpPr>
          <p:cNvPr id="14" name="Shape 9"/>
          <p:cNvSpPr/>
          <p:nvPr/>
        </p:nvSpPr>
        <p:spPr>
          <a:xfrm>
            <a:off x="11715750" y="3057525"/>
            <a:ext cx="5334000" cy="4171950"/>
          </a:xfrm>
          <a:prstGeom prst="roundRect">
            <a:avLst>
              <a:gd name="adj" fmla="val 4566"/>
            </a:avLst>
          </a:prstGeom>
          <a:solidFill>
            <a:srgbClr val="FFFFFF">
              <a:alpha val="60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Text 10"/>
          <p:cNvSpPr/>
          <p:nvPr/>
        </p:nvSpPr>
        <p:spPr>
          <a:xfrm>
            <a:off x="12144375" y="3448050"/>
            <a:ext cx="492442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COMMON IRREGULAR VERBS</a:t>
            </a:r>
            <a:endParaRPr lang="en-US" sz="1800" dirty="0"/>
          </a:p>
        </p:txBody>
      </p:sp>
      <p:sp>
        <p:nvSpPr>
          <p:cNvPr id="16" name="Shape 11"/>
          <p:cNvSpPr/>
          <p:nvPr/>
        </p:nvSpPr>
        <p:spPr>
          <a:xfrm>
            <a:off x="12144375" y="4591050"/>
            <a:ext cx="4476750" cy="9525"/>
          </a:xfrm>
          <a:prstGeom prst="rect">
            <a:avLst/>
          </a:prstGeom>
          <a:solidFill>
            <a:srgbClr val="292929">
              <a:alpha val="8000"/>
            </a:srgbClr>
          </a:solidFill>
          <a:ln/>
        </p:spPr>
        <p:txBody>
          <a:bodyPr/>
          <a:p/>
        </p:txBody>
      </p:sp>
      <p:sp>
        <p:nvSpPr>
          <p:cNvPr id="17" name="Text 12"/>
          <p:cNvSpPr/>
          <p:nvPr/>
        </p:nvSpPr>
        <p:spPr>
          <a:xfrm>
            <a:off x="12144375" y="3990975"/>
            <a:ext cx="2147887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rise</a:t>
            </a:r>
            <a:endParaRPr lang="en-US" sz="2550" dirty="0"/>
          </a:p>
        </p:txBody>
      </p:sp>
      <p:sp>
        <p:nvSpPr>
          <p:cNvPr id="18" name="Text 13"/>
          <p:cNvSpPr/>
          <p:nvPr/>
        </p:nvSpPr>
        <p:spPr>
          <a:xfrm>
            <a:off x="14058900" y="4014788"/>
            <a:ext cx="6477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2250" dirty="0">
                <a:solidFill>
                  <a:srgbClr val="5FB2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250" dirty="0"/>
          </a:p>
        </p:txBody>
      </p:sp>
      <p:sp>
        <p:nvSpPr>
          <p:cNvPr id="19" name="Text 14"/>
          <p:cNvSpPr/>
          <p:nvPr/>
        </p:nvSpPr>
        <p:spPr>
          <a:xfrm>
            <a:off x="14473238" y="3990975"/>
            <a:ext cx="2147887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255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rose</a:t>
            </a:r>
            <a:endParaRPr lang="en-US" sz="2550" dirty="0"/>
          </a:p>
        </p:txBody>
      </p:sp>
      <p:sp>
        <p:nvSpPr>
          <p:cNvPr id="20" name="Shape 15"/>
          <p:cNvSpPr/>
          <p:nvPr/>
        </p:nvSpPr>
        <p:spPr>
          <a:xfrm>
            <a:off x="12144375" y="5410200"/>
            <a:ext cx="4476750" cy="9525"/>
          </a:xfrm>
          <a:prstGeom prst="rect">
            <a:avLst/>
          </a:prstGeom>
          <a:solidFill>
            <a:srgbClr val="292929">
              <a:alpha val="8000"/>
            </a:srgbClr>
          </a:solidFill>
          <a:ln/>
        </p:spPr>
        <p:txBody>
          <a:bodyPr/>
          <a:p/>
        </p:txBody>
      </p:sp>
      <p:sp>
        <p:nvSpPr>
          <p:cNvPr id="21" name="Text 16"/>
          <p:cNvSpPr/>
          <p:nvPr/>
        </p:nvSpPr>
        <p:spPr>
          <a:xfrm>
            <a:off x="12144375" y="4810125"/>
            <a:ext cx="2147887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fall</a:t>
            </a:r>
            <a:endParaRPr lang="en-US" sz="2550" dirty="0"/>
          </a:p>
        </p:txBody>
      </p:sp>
      <p:sp>
        <p:nvSpPr>
          <p:cNvPr id="22" name="Text 17"/>
          <p:cNvSpPr/>
          <p:nvPr/>
        </p:nvSpPr>
        <p:spPr>
          <a:xfrm>
            <a:off x="14058900" y="4833938"/>
            <a:ext cx="6477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2250" dirty="0">
                <a:solidFill>
                  <a:srgbClr val="5FB2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250" dirty="0"/>
          </a:p>
        </p:txBody>
      </p:sp>
      <p:sp>
        <p:nvSpPr>
          <p:cNvPr id="23" name="Text 18"/>
          <p:cNvSpPr/>
          <p:nvPr/>
        </p:nvSpPr>
        <p:spPr>
          <a:xfrm>
            <a:off x="14473238" y="4810125"/>
            <a:ext cx="2147887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255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fell</a:t>
            </a:r>
            <a:endParaRPr lang="en-US" sz="2550" dirty="0"/>
          </a:p>
        </p:txBody>
      </p:sp>
      <p:sp>
        <p:nvSpPr>
          <p:cNvPr id="24" name="Shape 19"/>
          <p:cNvSpPr/>
          <p:nvPr/>
        </p:nvSpPr>
        <p:spPr>
          <a:xfrm>
            <a:off x="12144375" y="6229350"/>
            <a:ext cx="4476750" cy="9525"/>
          </a:xfrm>
          <a:prstGeom prst="rect">
            <a:avLst/>
          </a:prstGeom>
          <a:solidFill>
            <a:srgbClr val="292929">
              <a:alpha val="8000"/>
            </a:srgbClr>
          </a:solidFill>
          <a:ln/>
        </p:spPr>
        <p:txBody>
          <a:bodyPr/>
          <a:p/>
        </p:txBody>
      </p:sp>
      <p:sp>
        <p:nvSpPr>
          <p:cNvPr id="25" name="Text 20"/>
          <p:cNvSpPr/>
          <p:nvPr/>
        </p:nvSpPr>
        <p:spPr>
          <a:xfrm>
            <a:off x="12144375" y="5629275"/>
            <a:ext cx="2147887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grow</a:t>
            </a:r>
            <a:endParaRPr lang="en-US" sz="2550" dirty="0"/>
          </a:p>
        </p:txBody>
      </p:sp>
      <p:sp>
        <p:nvSpPr>
          <p:cNvPr id="26" name="Text 21"/>
          <p:cNvSpPr/>
          <p:nvPr/>
        </p:nvSpPr>
        <p:spPr>
          <a:xfrm>
            <a:off x="14058900" y="5653088"/>
            <a:ext cx="6477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2250" dirty="0">
                <a:solidFill>
                  <a:srgbClr val="5FB2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250" dirty="0"/>
          </a:p>
        </p:txBody>
      </p:sp>
      <p:sp>
        <p:nvSpPr>
          <p:cNvPr id="27" name="Text 22"/>
          <p:cNvSpPr/>
          <p:nvPr/>
        </p:nvSpPr>
        <p:spPr>
          <a:xfrm>
            <a:off x="14473238" y="5629275"/>
            <a:ext cx="2147887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255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grew</a:t>
            </a:r>
            <a:endParaRPr lang="en-US" sz="2550" dirty="0"/>
          </a:p>
        </p:txBody>
      </p:sp>
      <p:sp>
        <p:nvSpPr>
          <p:cNvPr id="28" name="Text 23"/>
          <p:cNvSpPr/>
          <p:nvPr/>
        </p:nvSpPr>
        <p:spPr>
          <a:xfrm>
            <a:off x="12144375" y="6448425"/>
            <a:ext cx="2147887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become</a:t>
            </a:r>
            <a:endParaRPr lang="en-US" sz="2550" dirty="0"/>
          </a:p>
        </p:txBody>
      </p:sp>
      <p:sp>
        <p:nvSpPr>
          <p:cNvPr id="29" name="Text 24"/>
          <p:cNvSpPr/>
          <p:nvPr/>
        </p:nvSpPr>
        <p:spPr>
          <a:xfrm>
            <a:off x="14058900" y="6472238"/>
            <a:ext cx="6477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2250" dirty="0">
                <a:solidFill>
                  <a:srgbClr val="5FB2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250" dirty="0"/>
          </a:p>
        </p:txBody>
      </p:sp>
      <p:sp>
        <p:nvSpPr>
          <p:cNvPr id="30" name="Text 25"/>
          <p:cNvSpPr/>
          <p:nvPr/>
        </p:nvSpPr>
        <p:spPr>
          <a:xfrm>
            <a:off x="14473238" y="6448425"/>
            <a:ext cx="2147887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255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became</a:t>
            </a:r>
            <a:endParaRPr lang="en-US" sz="2550" dirty="0"/>
          </a:p>
        </p:txBody>
      </p:sp>
      <p:sp>
        <p:nvSpPr>
          <p:cNvPr id="31" name="Text 26"/>
          <p:cNvSpPr/>
          <p:nvPr/>
        </p:nvSpPr>
        <p:spPr>
          <a:xfrm>
            <a:off x="1238250" y="9605963"/>
            <a:ext cx="6392994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3 of 6 · IELTS Writing Task 1 · orangeenglish.nl</a:t>
            </a:r>
            <a:endParaRPr lang="en-US" sz="1800" dirty="0"/>
          </a:p>
        </p:txBody>
      </p:sp>
      <p:sp>
        <p:nvSpPr>
          <p:cNvPr id="32" name="Text 27"/>
          <p:cNvSpPr/>
          <p:nvPr/>
        </p:nvSpPr>
        <p:spPr>
          <a:xfrm>
            <a:off x="16908512" y="9605963"/>
            <a:ext cx="217438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9650" y="609600"/>
            <a:ext cx="1123950" cy="135418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8250" y="914400"/>
            <a:ext cx="1739265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 2 · COMPARING DATA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1238250" y="1323975"/>
            <a:ext cx="17392650" cy="6354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2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Comparatives &amp; superlatives.</a:t>
            </a:r>
            <a:endParaRPr lang="en-US" sz="4200" dirty="0"/>
          </a:p>
        </p:txBody>
      </p:sp>
      <p:sp>
        <p:nvSpPr>
          <p:cNvPr id="7" name="Shape 3"/>
          <p:cNvSpPr/>
          <p:nvPr/>
        </p:nvSpPr>
        <p:spPr>
          <a:xfrm>
            <a:off x="1238250" y="2397621"/>
            <a:ext cx="7600950" cy="3836343"/>
          </a:xfrm>
          <a:prstGeom prst="roundRect">
            <a:avLst>
              <a:gd name="adj" fmla="val 4966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1552575" y="2831009"/>
            <a:ext cx="2844701" cy="49530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704975" y="2826246"/>
            <a:ext cx="2793891" cy="5000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Comparative</a:t>
            </a:r>
            <a:endParaRPr lang="en-US" sz="3000" dirty="0"/>
          </a:p>
        </p:txBody>
      </p:sp>
      <p:sp>
        <p:nvSpPr>
          <p:cNvPr id="10" name="Text 5"/>
          <p:cNvSpPr/>
          <p:nvPr/>
        </p:nvSpPr>
        <p:spPr>
          <a:xfrm>
            <a:off x="1704975" y="3421559"/>
            <a:ext cx="733425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i="1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comparing two things</a:t>
            </a:r>
            <a:endParaRPr lang="en-US" sz="2025" dirty="0"/>
          </a:p>
        </p:txBody>
      </p:sp>
      <p:sp>
        <p:nvSpPr>
          <p:cNvPr id="11" name="Text 6"/>
          <p:cNvSpPr/>
          <p:nvPr/>
        </p:nvSpPr>
        <p:spPr>
          <a:xfrm>
            <a:off x="1704975" y="3959721"/>
            <a:ext cx="6867525" cy="8943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325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higher than · lower than · more than · fewer than · twice as many as</a:t>
            </a:r>
            <a:endParaRPr lang="en-US" sz="2325" dirty="0"/>
          </a:p>
        </p:txBody>
      </p:sp>
      <p:sp>
        <p:nvSpPr>
          <p:cNvPr id="12" name="Text 7"/>
          <p:cNvSpPr/>
          <p:nvPr/>
        </p:nvSpPr>
        <p:spPr>
          <a:xfrm>
            <a:off x="1704975" y="5063579"/>
            <a:ext cx="6867525" cy="77985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2475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"Spending on housing was higher than spending on food in every year shown."</a:t>
            </a:r>
            <a:endParaRPr lang="en-US" sz="2475" dirty="0"/>
          </a:p>
        </p:txBody>
      </p:sp>
      <p:sp>
        <p:nvSpPr>
          <p:cNvPr id="13" name="Shape 8"/>
          <p:cNvSpPr/>
          <p:nvPr/>
        </p:nvSpPr>
        <p:spPr>
          <a:xfrm>
            <a:off x="9448800" y="2397621"/>
            <a:ext cx="7600950" cy="3836343"/>
          </a:xfrm>
          <a:prstGeom prst="roundRect">
            <a:avLst>
              <a:gd name="adj" fmla="val 4966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>
            <a:alphaModFix amt="95000"/>
          </a:blip>
          <a:stretch>
            <a:fillRect/>
          </a:stretch>
        </p:blipFill>
        <p:spPr>
          <a:xfrm>
            <a:off x="9763125" y="2831009"/>
            <a:ext cx="2568401" cy="49530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9915525" y="2826246"/>
            <a:ext cx="2489962" cy="5000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Superlative</a:t>
            </a:r>
            <a:endParaRPr lang="en-US" sz="3000" dirty="0"/>
          </a:p>
        </p:txBody>
      </p:sp>
      <p:sp>
        <p:nvSpPr>
          <p:cNvPr id="16" name="Text 10"/>
          <p:cNvSpPr/>
          <p:nvPr/>
        </p:nvSpPr>
        <p:spPr>
          <a:xfrm>
            <a:off x="9915525" y="3421559"/>
            <a:ext cx="733425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i="1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comparing the whole set</a:t>
            </a:r>
            <a:endParaRPr lang="en-US" sz="2025" dirty="0"/>
          </a:p>
        </p:txBody>
      </p:sp>
      <p:sp>
        <p:nvSpPr>
          <p:cNvPr id="17" name="Text 11"/>
          <p:cNvSpPr/>
          <p:nvPr/>
        </p:nvSpPr>
        <p:spPr>
          <a:xfrm>
            <a:off x="9915525" y="3959721"/>
            <a:ext cx="6867525" cy="8943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325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highest · the lowest · the largest · the smallest</a:t>
            </a:r>
            <a:endParaRPr lang="en-US" sz="2325" dirty="0"/>
          </a:p>
        </p:txBody>
      </p:sp>
      <p:sp>
        <p:nvSpPr>
          <p:cNvPr id="18" name="Text 12"/>
          <p:cNvSpPr/>
          <p:nvPr/>
        </p:nvSpPr>
        <p:spPr>
          <a:xfrm>
            <a:off x="9915525" y="5063579"/>
            <a:ext cx="7334250" cy="408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2475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"2020 saw the highest number of visitors."</a:t>
            </a:r>
            <a:endParaRPr lang="en-US" sz="2475" dirty="0"/>
          </a:p>
        </p:txBody>
      </p:sp>
      <p:sp>
        <p:nvSpPr>
          <p:cNvPr id="19" name="Text 13"/>
          <p:cNvSpPr/>
          <p:nvPr/>
        </p:nvSpPr>
        <p:spPr>
          <a:xfrm>
            <a:off x="1238250" y="9491663"/>
            <a:ext cx="6392994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3 of 6 · IELTS Writing Task 1 · orangeenglish.nl</a:t>
            </a:r>
            <a:endParaRPr lang="en-US" sz="1800" dirty="0"/>
          </a:p>
        </p:txBody>
      </p:sp>
      <p:sp>
        <p:nvSpPr>
          <p:cNvPr id="20" name="Text 14"/>
          <p:cNvSpPr/>
          <p:nvPr/>
        </p:nvSpPr>
        <p:spPr>
          <a:xfrm>
            <a:off x="16902038" y="9491663"/>
            <a:ext cx="223912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9650" y="609600"/>
            <a:ext cx="1123950" cy="135418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8250" y="914400"/>
            <a:ext cx="1739265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 3 · PREPOSITIONS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1238250" y="1323975"/>
            <a:ext cx="17392650" cy="6354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2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Showing exactly how much something changed.</a:t>
            </a:r>
            <a:endParaRPr lang="en-US" sz="4200" dirty="0"/>
          </a:p>
        </p:txBody>
      </p:sp>
      <p:sp>
        <p:nvSpPr>
          <p:cNvPr id="7" name="Shape 3"/>
          <p:cNvSpPr/>
          <p:nvPr/>
        </p:nvSpPr>
        <p:spPr>
          <a:xfrm>
            <a:off x="1238250" y="2416671"/>
            <a:ext cx="15621000" cy="1890713"/>
          </a:xfrm>
          <a:prstGeom prst="roundRect">
            <a:avLst>
              <a:gd name="adj" fmla="val 9068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1533525" y="2750046"/>
            <a:ext cx="848990" cy="595313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666875" y="2750046"/>
            <a:ext cx="658490" cy="5953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by</a:t>
            </a:r>
            <a:endParaRPr lang="en-US" sz="3600" dirty="0"/>
          </a:p>
        </p:txBody>
      </p:sp>
      <p:sp>
        <p:nvSpPr>
          <p:cNvPr id="10" name="Text 5"/>
          <p:cNvSpPr/>
          <p:nvPr/>
        </p:nvSpPr>
        <p:spPr>
          <a:xfrm>
            <a:off x="1666875" y="3402509"/>
            <a:ext cx="2266950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i="1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size of the change</a:t>
            </a:r>
            <a:endParaRPr lang="en-US" sz="1875" dirty="0"/>
          </a:p>
        </p:txBody>
      </p:sp>
      <p:sp>
        <p:nvSpPr>
          <p:cNvPr id="11" name="Text 6"/>
          <p:cNvSpPr/>
          <p:nvPr/>
        </p:nvSpPr>
        <p:spPr>
          <a:xfrm>
            <a:off x="4276725" y="3148682"/>
            <a:ext cx="7723636" cy="4647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400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 increased </a:t>
            </a:r>
            <a:pPr algn="l" indent="0" marL="0">
              <a:lnSpc>
                <a:spcPct val="140000"/>
              </a:lnSpc>
              <a:buNone/>
            </a:pPr>
            <a:r>
              <a:rPr lang="en-US" sz="24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 15% </a:t>
            </a:r>
            <a:pPr algn="l" indent="0" marL="0">
              <a:lnSpc>
                <a:spcPct val="140000"/>
              </a:lnSpc>
              <a:buNone/>
            </a:pPr>
            <a:r>
              <a:rPr lang="en-US" sz="2400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between 2015 and 2018.</a:t>
            </a:r>
            <a:endParaRPr lang="en-US" sz="2400" dirty="0"/>
          </a:p>
        </p:txBody>
      </p:sp>
      <p:sp>
        <p:nvSpPr>
          <p:cNvPr id="12" name="Shape 7"/>
          <p:cNvSpPr/>
          <p:nvPr/>
        </p:nvSpPr>
        <p:spPr>
          <a:xfrm>
            <a:off x="1238250" y="4593134"/>
            <a:ext cx="15621000" cy="1604963"/>
          </a:xfrm>
          <a:prstGeom prst="roundRect">
            <a:avLst>
              <a:gd name="adj" fmla="val 10682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>
            <a:alphaModFix amt="95000"/>
          </a:blip>
          <a:stretch>
            <a:fillRect/>
          </a:stretch>
        </p:blipFill>
        <p:spPr>
          <a:xfrm>
            <a:off x="1533525" y="4926509"/>
            <a:ext cx="757535" cy="595313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666875" y="4926509"/>
            <a:ext cx="567035" cy="5953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</a:t>
            </a:r>
            <a:endParaRPr lang="en-US" sz="3600" dirty="0"/>
          </a:p>
        </p:txBody>
      </p:sp>
      <p:sp>
        <p:nvSpPr>
          <p:cNvPr id="15" name="Text 9"/>
          <p:cNvSpPr/>
          <p:nvPr/>
        </p:nvSpPr>
        <p:spPr>
          <a:xfrm>
            <a:off x="1666875" y="5578971"/>
            <a:ext cx="240982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i="1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end point</a:t>
            </a:r>
            <a:endParaRPr lang="en-US" sz="1875" dirty="0"/>
          </a:p>
        </p:txBody>
      </p:sp>
      <p:sp>
        <p:nvSpPr>
          <p:cNvPr id="16" name="Text 10"/>
          <p:cNvSpPr/>
          <p:nvPr/>
        </p:nvSpPr>
        <p:spPr>
          <a:xfrm>
            <a:off x="4276725" y="5182270"/>
            <a:ext cx="8033787" cy="4647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400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Unemployment fell </a:t>
            </a:r>
            <a:pPr algn="l" indent="0" marL="0">
              <a:lnSpc>
                <a:spcPct val="140000"/>
              </a:lnSpc>
              <a:buNone/>
            </a:pPr>
            <a:r>
              <a:rPr lang="en-US" sz="24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4% </a:t>
            </a:r>
            <a:pPr algn="l" indent="0" marL="0">
              <a:lnSpc>
                <a:spcPct val="140000"/>
              </a:lnSpc>
              <a:buNone/>
            </a:pPr>
            <a:r>
              <a:rPr lang="en-US" sz="2400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 the end of the period.</a:t>
            </a:r>
            <a:endParaRPr lang="en-US" sz="2400" dirty="0"/>
          </a:p>
        </p:txBody>
      </p:sp>
      <p:sp>
        <p:nvSpPr>
          <p:cNvPr id="17" name="Shape 11"/>
          <p:cNvSpPr/>
          <p:nvPr/>
        </p:nvSpPr>
        <p:spPr>
          <a:xfrm>
            <a:off x="1238250" y="6483846"/>
            <a:ext cx="15621000" cy="2447925"/>
          </a:xfrm>
          <a:prstGeom prst="roundRect">
            <a:avLst>
              <a:gd name="adj" fmla="val 7004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>
            <a:alphaModFix amt="95000"/>
          </a:blip>
          <a:stretch>
            <a:fillRect/>
          </a:stretch>
        </p:blipFill>
        <p:spPr>
          <a:xfrm>
            <a:off x="1533525" y="6817221"/>
            <a:ext cx="2457450" cy="1152525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666875" y="6817221"/>
            <a:ext cx="1719560" cy="1152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… to</a:t>
            </a:r>
            <a:endParaRPr lang="en-US" sz="3600" dirty="0"/>
          </a:p>
        </p:txBody>
      </p:sp>
      <p:sp>
        <p:nvSpPr>
          <p:cNvPr id="20" name="Text 13"/>
          <p:cNvSpPr/>
          <p:nvPr/>
        </p:nvSpPr>
        <p:spPr>
          <a:xfrm>
            <a:off x="1666875" y="8026896"/>
            <a:ext cx="2266950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i="1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start and end point</a:t>
            </a:r>
            <a:endParaRPr lang="en-US" sz="1875" dirty="0"/>
          </a:p>
        </p:txBody>
      </p:sp>
      <p:sp>
        <p:nvSpPr>
          <p:cNvPr id="21" name="Text 14"/>
          <p:cNvSpPr/>
          <p:nvPr/>
        </p:nvSpPr>
        <p:spPr>
          <a:xfrm>
            <a:off x="4276725" y="7494463"/>
            <a:ext cx="5507727" cy="4647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400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figure rose </a:t>
            </a:r>
            <a:pPr algn="l" indent="0" marL="0">
              <a:lnSpc>
                <a:spcPct val="140000"/>
              </a:lnSpc>
              <a:buNone/>
            </a:pPr>
            <a:r>
              <a:rPr lang="en-US" sz="24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20% to 60%</a:t>
            </a:r>
            <a:pPr algn="l" indent="0" marL="0">
              <a:lnSpc>
                <a:spcPct val="140000"/>
              </a:lnSpc>
              <a:buNone/>
            </a:pPr>
            <a:r>
              <a:rPr lang="en-US" sz="2400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2400" dirty="0"/>
          </a:p>
        </p:txBody>
      </p:sp>
      <p:sp>
        <p:nvSpPr>
          <p:cNvPr id="22" name="Text 15"/>
          <p:cNvSpPr/>
          <p:nvPr/>
        </p:nvSpPr>
        <p:spPr>
          <a:xfrm>
            <a:off x="1238250" y="9491663"/>
            <a:ext cx="6392994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3 of 6 · IELTS Writing Task 1 · orangeenglish.nl</a:t>
            </a:r>
            <a:endParaRPr lang="en-US" sz="1800" dirty="0"/>
          </a:p>
        </p:txBody>
      </p:sp>
      <p:sp>
        <p:nvSpPr>
          <p:cNvPr id="23" name="Text 16"/>
          <p:cNvSpPr/>
          <p:nvPr/>
        </p:nvSpPr>
        <p:spPr>
          <a:xfrm>
            <a:off x="16914093" y="9491663"/>
            <a:ext cx="211857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9650" y="609600"/>
            <a:ext cx="1123950" cy="135418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8250" y="914400"/>
            <a:ext cx="1739265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 4 · LINKING IDEAS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1238250" y="1323975"/>
            <a:ext cx="17392650" cy="6354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2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Connecting two trends in one sentence.</a:t>
            </a:r>
            <a:endParaRPr lang="en-US" sz="4200" dirty="0"/>
          </a:p>
        </p:txBody>
      </p:sp>
      <p:sp>
        <p:nvSpPr>
          <p:cNvPr id="7" name="Shape 3"/>
          <p:cNvSpPr/>
          <p:nvPr/>
        </p:nvSpPr>
        <p:spPr>
          <a:xfrm>
            <a:off x="1238250" y="2454771"/>
            <a:ext cx="4927550" cy="3216027"/>
          </a:xfrm>
          <a:prstGeom prst="roundRect">
            <a:avLst>
              <a:gd name="adj" fmla="val 5923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Text 4"/>
          <p:cNvSpPr/>
          <p:nvPr/>
        </p:nvSpPr>
        <p:spPr>
          <a:xfrm>
            <a:off x="1666875" y="2864346"/>
            <a:ext cx="4477330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5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Mid-sentence</a:t>
            </a:r>
            <a:endParaRPr lang="en-US" sz="28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1533525" y="3354884"/>
            <a:ext cx="2914799" cy="47625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666875" y="3397746"/>
            <a:ext cx="2912909" cy="433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while · whereas</a:t>
            </a:r>
            <a:endParaRPr lang="en-US" sz="2550" dirty="0"/>
          </a:p>
        </p:txBody>
      </p:sp>
      <p:sp>
        <p:nvSpPr>
          <p:cNvPr id="11" name="Text 6"/>
          <p:cNvSpPr/>
          <p:nvPr/>
        </p:nvSpPr>
        <p:spPr>
          <a:xfrm>
            <a:off x="1666875" y="4059734"/>
            <a:ext cx="4192409" cy="123958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1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</a:t>
            </a:r>
            <a:pPr algn="l" indent="0" marL="0">
              <a:lnSpc>
                <a:spcPct val="145000"/>
              </a:lnSpc>
              <a:buNone/>
            </a:pPr>
            <a:r>
              <a:rPr lang="en-US" sz="2175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While </a:t>
            </a:r>
            <a:pPr algn="l" indent="0" marL="0">
              <a:lnSpc>
                <a:spcPct val="145000"/>
              </a:lnSpc>
              <a:buNone/>
            </a:pPr>
            <a:r>
              <a:rPr lang="en-US" sz="21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 of product A increased, sales of product B declined."</a:t>
            </a:r>
            <a:endParaRPr lang="en-US" sz="2175" dirty="0"/>
          </a:p>
        </p:txBody>
      </p:sp>
      <p:sp>
        <p:nvSpPr>
          <p:cNvPr id="12" name="Shape 7"/>
          <p:cNvSpPr/>
          <p:nvPr/>
        </p:nvSpPr>
        <p:spPr>
          <a:xfrm>
            <a:off x="6680150" y="2454771"/>
            <a:ext cx="4927625" cy="3216027"/>
          </a:xfrm>
          <a:prstGeom prst="roundRect">
            <a:avLst>
              <a:gd name="adj" fmla="val 5923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Text 8"/>
          <p:cNvSpPr/>
          <p:nvPr/>
        </p:nvSpPr>
        <p:spPr>
          <a:xfrm>
            <a:off x="7108775" y="2864346"/>
            <a:ext cx="4477412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5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New sentence</a:t>
            </a:r>
            <a:endParaRPr lang="en-US" sz="285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>
            <a:alphaModFix amt="95000"/>
          </a:blip>
          <a:stretch>
            <a:fillRect/>
          </a:stretch>
        </p:blipFill>
        <p:spPr>
          <a:xfrm>
            <a:off x="6975425" y="3354884"/>
            <a:ext cx="4275981" cy="47625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7108775" y="3397746"/>
            <a:ext cx="4410209" cy="433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 contrast · by contrast</a:t>
            </a:r>
            <a:endParaRPr lang="en-US" sz="2550" dirty="0"/>
          </a:p>
        </p:txBody>
      </p:sp>
      <p:sp>
        <p:nvSpPr>
          <p:cNvPr id="16" name="Text 10"/>
          <p:cNvSpPr/>
          <p:nvPr/>
        </p:nvSpPr>
        <p:spPr>
          <a:xfrm>
            <a:off x="7108775" y="4059734"/>
            <a:ext cx="4192486" cy="83909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1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</a:t>
            </a:r>
            <a:pPr algn="l" indent="0" marL="0">
              <a:lnSpc>
                <a:spcPct val="145000"/>
              </a:lnSpc>
              <a:buNone/>
            </a:pPr>
            <a:r>
              <a:rPr lang="en-US" sz="2175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contrast </a:t>
            </a:r>
            <a:pPr algn="l" indent="0" marL="0">
              <a:lnSpc>
                <a:spcPct val="145000"/>
              </a:lnSpc>
              <a:buNone/>
            </a:pPr>
            <a:r>
              <a:rPr lang="en-US" sz="21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expenditure on transport fell."</a:t>
            </a:r>
            <a:endParaRPr lang="en-US" sz="2175" dirty="0"/>
          </a:p>
        </p:txBody>
      </p:sp>
      <p:sp>
        <p:nvSpPr>
          <p:cNvPr id="17" name="Shape 11"/>
          <p:cNvSpPr/>
          <p:nvPr/>
        </p:nvSpPr>
        <p:spPr>
          <a:xfrm>
            <a:off x="12122125" y="2454771"/>
            <a:ext cx="4927550" cy="3216027"/>
          </a:xfrm>
          <a:prstGeom prst="roundRect">
            <a:avLst>
              <a:gd name="adj" fmla="val 5923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" name="Text 12"/>
          <p:cNvSpPr/>
          <p:nvPr/>
        </p:nvSpPr>
        <p:spPr>
          <a:xfrm>
            <a:off x="12550750" y="2864346"/>
            <a:ext cx="4477330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5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Showing a shift</a:t>
            </a:r>
            <a:endParaRPr lang="en-US" sz="2850" dirty="0"/>
          </a:p>
        </p:txBody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>
            <a:alphaModFix amt="95000"/>
          </a:blip>
          <a:stretch>
            <a:fillRect/>
          </a:stretch>
        </p:blipFill>
        <p:spPr>
          <a:xfrm>
            <a:off x="12417400" y="3354884"/>
            <a:ext cx="1731541" cy="47625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2550750" y="3397746"/>
            <a:ext cx="1611325" cy="433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however</a:t>
            </a:r>
            <a:endParaRPr lang="en-US" sz="2550" dirty="0"/>
          </a:p>
        </p:txBody>
      </p:sp>
      <p:sp>
        <p:nvSpPr>
          <p:cNvPr id="21" name="Text 14"/>
          <p:cNvSpPr/>
          <p:nvPr/>
        </p:nvSpPr>
        <p:spPr>
          <a:xfrm>
            <a:off x="12550750" y="4059734"/>
            <a:ext cx="4192409" cy="83909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1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</a:t>
            </a:r>
            <a:pPr algn="l" indent="0" marL="0">
              <a:lnSpc>
                <a:spcPct val="145000"/>
              </a:lnSpc>
              <a:buNone/>
            </a:pPr>
            <a:r>
              <a:rPr lang="en-US" sz="2175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However </a:t>
            </a:r>
            <a:pPr algn="l" indent="0" marL="0">
              <a:lnSpc>
                <a:spcPct val="145000"/>
              </a:lnSpc>
              <a:buNone/>
            </a:pPr>
            <a:r>
              <a:rPr lang="en-US" sz="21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the trend reversed after 2015."</a:t>
            </a:r>
            <a:endParaRPr lang="en-US" sz="2175" dirty="0"/>
          </a:p>
        </p:txBody>
      </p:sp>
      <p:sp>
        <p:nvSpPr>
          <p:cNvPr id="22" name="Text 15"/>
          <p:cNvSpPr/>
          <p:nvPr/>
        </p:nvSpPr>
        <p:spPr>
          <a:xfrm>
            <a:off x="1238250" y="9491663"/>
            <a:ext cx="6392994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3 of 6 · IELTS Writing Task 1 · orangeenglish.nl</a:t>
            </a:r>
            <a:endParaRPr lang="en-US" sz="1800" dirty="0"/>
          </a:p>
        </p:txBody>
      </p:sp>
      <p:sp>
        <p:nvSpPr>
          <p:cNvPr id="23" name="Text 16"/>
          <p:cNvSpPr/>
          <p:nvPr/>
        </p:nvSpPr>
        <p:spPr>
          <a:xfrm>
            <a:off x="16907991" y="9491663"/>
            <a:ext cx="217959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9650" y="609600"/>
            <a:ext cx="1123950" cy="135418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 rot="-120000">
            <a:off x="1238250" y="914400"/>
            <a:ext cx="16285845" cy="5429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examiner mode</a:t>
            </a:r>
            <a:endParaRPr lang="en-US" sz="3150" dirty="0"/>
          </a:p>
        </p:txBody>
      </p:sp>
      <p:sp>
        <p:nvSpPr>
          <p:cNvPr id="6" name="Text 2"/>
          <p:cNvSpPr/>
          <p:nvPr/>
        </p:nvSpPr>
        <p:spPr>
          <a:xfrm>
            <a:off x="1238250" y="1514475"/>
            <a:ext cx="17392650" cy="6354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2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One mixed tense can undo a good sentence.</a:t>
            </a:r>
            <a:endParaRPr lang="en-US" sz="4200" dirty="0"/>
          </a:p>
        </p:txBody>
      </p:sp>
      <p:sp>
        <p:nvSpPr>
          <p:cNvPr id="7" name="Shape 3"/>
          <p:cNvSpPr/>
          <p:nvPr/>
        </p:nvSpPr>
        <p:spPr>
          <a:xfrm>
            <a:off x="1238250" y="2645271"/>
            <a:ext cx="14859000" cy="2237408"/>
          </a:xfrm>
          <a:prstGeom prst="roundRect">
            <a:avLst>
              <a:gd name="adj" fmla="val 7663"/>
            </a:avLst>
          </a:prstGeom>
          <a:solidFill>
            <a:srgbClr val="FFFFFF">
              <a:alpha val="50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Text 4"/>
          <p:cNvSpPr/>
          <p:nvPr/>
        </p:nvSpPr>
        <p:spPr>
          <a:xfrm>
            <a:off x="1666875" y="3016746"/>
            <a:ext cx="239316" cy="3857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B042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✗</a:t>
            </a:r>
            <a:endParaRPr lang="en-US" sz="2250" dirty="0"/>
          </a:p>
        </p:txBody>
      </p:sp>
      <p:sp>
        <p:nvSpPr>
          <p:cNvPr id="9" name="Text 5"/>
          <p:cNvSpPr/>
          <p:nvPr/>
        </p:nvSpPr>
        <p:spPr>
          <a:xfrm>
            <a:off x="2001441" y="3052465"/>
            <a:ext cx="90167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50" kern="0" dirty="0">
                <a:solidFill>
                  <a:srgbClr val="B042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WEAK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1666875" y="3535859"/>
            <a:ext cx="15401925" cy="5181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700" dirty="0">
                <a:solidFill>
                  <a:srgbClr val="9A8F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"The price of oil rise sharply in 2008 and now it is falling."</a:t>
            </a:r>
            <a:endParaRPr lang="en-US" sz="2700" dirty="0"/>
          </a:p>
        </p:txBody>
      </p:sp>
      <p:sp>
        <p:nvSpPr>
          <p:cNvPr id="11" name="Text 7"/>
          <p:cNvSpPr/>
          <p:nvPr/>
        </p:nvSpPr>
        <p:spPr>
          <a:xfrm>
            <a:off x="1666875" y="4149254"/>
            <a:ext cx="15401925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B0421F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tense mix, stay in the past throughout</a:t>
            </a:r>
            <a:endParaRPr lang="en-US" sz="2250" dirty="0"/>
          </a:p>
        </p:txBody>
      </p:sp>
      <p:sp>
        <p:nvSpPr>
          <p:cNvPr id="12" name="Shape 8"/>
          <p:cNvSpPr/>
          <p:nvPr/>
        </p:nvSpPr>
        <p:spPr>
          <a:xfrm>
            <a:off x="1238250" y="5263679"/>
            <a:ext cx="14859000" cy="2254523"/>
          </a:xfrm>
          <a:prstGeom prst="roundRect">
            <a:avLst>
              <a:gd name="adj" fmla="val 7605"/>
            </a:avLst>
          </a:prstGeom>
          <a:solidFill>
            <a:srgbClr val="5FB27B">
              <a:alpha val="10000"/>
            </a:srgbClr>
          </a:solidFill>
          <a:ln w="9525">
            <a:solidFill>
              <a:srgbClr val="5FB27B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Text 9"/>
          <p:cNvSpPr/>
          <p:nvPr/>
        </p:nvSpPr>
        <p:spPr>
          <a:xfrm>
            <a:off x="1666875" y="5635154"/>
            <a:ext cx="294605" cy="3857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2250" dirty="0"/>
          </a:p>
        </p:txBody>
      </p:sp>
      <p:sp>
        <p:nvSpPr>
          <p:cNvPr id="14" name="Text 10"/>
          <p:cNvSpPr/>
          <p:nvPr/>
        </p:nvSpPr>
        <p:spPr>
          <a:xfrm>
            <a:off x="2056730" y="5670872"/>
            <a:ext cx="1620411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50" kern="0" dirty="0">
                <a:solidFill>
                  <a:srgbClr val="3F8A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STRONGER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1666875" y="6192366"/>
            <a:ext cx="2704165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700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"The price of oil</a:t>
            </a:r>
            <a:endParaRPr lang="en-US" sz="27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4307458" y="6154266"/>
            <a:ext cx="2210544" cy="51621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383658" y="6192366"/>
            <a:ext cx="2263959" cy="452438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7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rose sharply</a:t>
            </a:r>
            <a:endParaRPr lang="en-US" sz="2700" dirty="0"/>
          </a:p>
        </p:txBody>
      </p:sp>
      <p:sp>
        <p:nvSpPr>
          <p:cNvPr id="18" name="Text 13"/>
          <p:cNvSpPr/>
          <p:nvPr/>
        </p:nvSpPr>
        <p:spPr>
          <a:xfrm>
            <a:off x="6533108" y="6192366"/>
            <a:ext cx="1330003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700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2008</a:t>
            </a:r>
            <a:endParaRPr lang="en-US" sz="2700" dirty="0"/>
          </a:p>
        </p:txBody>
      </p:sp>
      <p:sp>
        <p:nvSpPr>
          <p:cNvPr id="19" name="Text 14"/>
          <p:cNvSpPr/>
          <p:nvPr/>
        </p:nvSpPr>
        <p:spPr>
          <a:xfrm>
            <a:off x="7878291" y="6192366"/>
            <a:ext cx="2404423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7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falling</a:t>
            </a:r>
            <a:endParaRPr lang="en-US" sz="2700" dirty="0"/>
          </a:p>
        </p:txBody>
      </p:sp>
      <p:sp>
        <p:nvSpPr>
          <p:cNvPr id="20" name="Text 15"/>
          <p:cNvSpPr/>
          <p:nvPr/>
        </p:nvSpPr>
        <p:spPr>
          <a:xfrm>
            <a:off x="10155436" y="6192366"/>
            <a:ext cx="3306683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700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steadily thereafter."</a:t>
            </a:r>
            <a:endParaRPr lang="en-US" sz="2700" dirty="0"/>
          </a:p>
        </p:txBody>
      </p:sp>
      <p:sp>
        <p:nvSpPr>
          <p:cNvPr id="21" name="Text 16"/>
          <p:cNvSpPr/>
          <p:nvPr/>
        </p:nvSpPr>
        <p:spPr>
          <a:xfrm>
            <a:off x="1666875" y="6784777"/>
            <a:ext cx="15401925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3F8A5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'before' links two past actions smoothly</a:t>
            </a:r>
            <a:endParaRPr lang="en-US" sz="2250" dirty="0"/>
          </a:p>
        </p:txBody>
      </p:sp>
      <p:sp>
        <p:nvSpPr>
          <p:cNvPr id="22" name="Text 17"/>
          <p:cNvSpPr/>
          <p:nvPr/>
        </p:nvSpPr>
        <p:spPr>
          <a:xfrm>
            <a:off x="1238250" y="9491663"/>
            <a:ext cx="6392994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3 of 6 · IELTS Writing Task 1 · orangeenglish.nl</a:t>
            </a:r>
            <a:endParaRPr lang="en-US" sz="1800" dirty="0"/>
          </a:p>
        </p:txBody>
      </p:sp>
      <p:sp>
        <p:nvSpPr>
          <p:cNvPr id="23" name="Text 18"/>
          <p:cNvSpPr/>
          <p:nvPr/>
        </p:nvSpPr>
        <p:spPr>
          <a:xfrm>
            <a:off x="16920344" y="9491663"/>
            <a:ext cx="205606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9650" y="609600"/>
            <a:ext cx="1123950" cy="135418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8250" y="1028700"/>
            <a:ext cx="1526768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ACTIVITY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 rot="-120000">
            <a:off x="2854896" y="914400"/>
            <a:ext cx="1498283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15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your turn!</a:t>
            </a:r>
            <a:endParaRPr lang="en-US" sz="3150" dirty="0"/>
          </a:p>
        </p:txBody>
      </p:sp>
      <p:sp>
        <p:nvSpPr>
          <p:cNvPr id="7" name="Text 3"/>
          <p:cNvSpPr/>
          <p:nvPr/>
        </p:nvSpPr>
        <p:spPr>
          <a:xfrm>
            <a:off x="1238250" y="1447800"/>
            <a:ext cx="17392650" cy="5927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9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Fix the grammar.</a:t>
            </a:r>
            <a:endParaRPr lang="en-US" sz="3900" dirty="0"/>
          </a:p>
        </p:txBody>
      </p:sp>
      <p:sp>
        <p:nvSpPr>
          <p:cNvPr id="8" name="Text 4"/>
          <p:cNvSpPr/>
          <p:nvPr/>
        </p:nvSpPr>
        <p:spPr>
          <a:xfrm>
            <a:off x="1238250" y="2097732"/>
            <a:ext cx="1739265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sentence below has one grammar mistake. Rewrite it correctly on the line beneath.</a:t>
            </a:r>
            <a:endParaRPr lang="en-US" sz="2250" dirty="0"/>
          </a:p>
        </p:txBody>
      </p:sp>
      <p:sp>
        <p:nvSpPr>
          <p:cNvPr id="9" name="Text 5"/>
          <p:cNvSpPr/>
          <p:nvPr/>
        </p:nvSpPr>
        <p:spPr>
          <a:xfrm>
            <a:off x="1238250" y="2878782"/>
            <a:ext cx="495300" cy="4495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1</a:t>
            </a:r>
            <a:endParaRPr lang="en-US" sz="3600" dirty="0"/>
          </a:p>
        </p:txBody>
      </p:sp>
      <p:sp>
        <p:nvSpPr>
          <p:cNvPr id="10" name="Text 6"/>
          <p:cNvSpPr/>
          <p:nvPr/>
        </p:nvSpPr>
        <p:spPr>
          <a:xfrm>
            <a:off x="1866900" y="2878782"/>
            <a:ext cx="7004876" cy="8114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75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2010, the number of users were higher than in 2005.</a:t>
            </a:r>
            <a:endParaRPr lang="en-US" sz="2175" dirty="0"/>
          </a:p>
        </p:txBody>
      </p:sp>
      <p:sp>
        <p:nvSpPr>
          <p:cNvPr id="11" name="Shape 7"/>
          <p:cNvSpPr/>
          <p:nvPr/>
        </p:nvSpPr>
        <p:spPr>
          <a:xfrm>
            <a:off x="1866900" y="3918793"/>
            <a:ext cx="6800850" cy="19050"/>
          </a:xfrm>
          <a:prstGeom prst="rect">
            <a:avLst/>
          </a:prstGeom>
          <a:solidFill>
            <a:srgbClr val="5FB27B">
              <a:alpha val="60000"/>
            </a:srgbClr>
          </a:solidFill>
          <a:ln/>
        </p:spPr>
        <p:txBody>
          <a:bodyPr/>
          <a:p/>
        </p:txBody>
      </p:sp>
      <p:sp>
        <p:nvSpPr>
          <p:cNvPr id="12" name="Text 8"/>
          <p:cNvSpPr/>
          <p:nvPr/>
        </p:nvSpPr>
        <p:spPr>
          <a:xfrm>
            <a:off x="9429750" y="2878782"/>
            <a:ext cx="495300" cy="4495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2</a:t>
            </a:r>
            <a:endParaRPr lang="en-US" sz="3600" dirty="0"/>
          </a:p>
        </p:txBody>
      </p:sp>
      <p:sp>
        <p:nvSpPr>
          <p:cNvPr id="13" name="Text 9"/>
          <p:cNvSpPr/>
          <p:nvPr/>
        </p:nvSpPr>
        <p:spPr>
          <a:xfrm>
            <a:off x="10058400" y="2878782"/>
            <a:ext cx="7480935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75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figure for coal rise to 40% in 2012.</a:t>
            </a:r>
            <a:endParaRPr lang="en-US" sz="2175" dirty="0"/>
          </a:p>
        </p:txBody>
      </p:sp>
      <p:sp>
        <p:nvSpPr>
          <p:cNvPr id="14" name="Shape 10"/>
          <p:cNvSpPr/>
          <p:nvPr/>
        </p:nvSpPr>
        <p:spPr>
          <a:xfrm>
            <a:off x="10058400" y="3532138"/>
            <a:ext cx="6800850" cy="19050"/>
          </a:xfrm>
          <a:prstGeom prst="rect">
            <a:avLst/>
          </a:prstGeom>
          <a:solidFill>
            <a:srgbClr val="5FB27B">
              <a:alpha val="60000"/>
            </a:srgbClr>
          </a:solidFill>
          <a:ln/>
        </p:spPr>
        <p:txBody>
          <a:bodyPr/>
          <a:p/>
        </p:txBody>
      </p:sp>
      <p:sp>
        <p:nvSpPr>
          <p:cNvPr id="15" name="Text 11"/>
          <p:cNvSpPr/>
          <p:nvPr/>
        </p:nvSpPr>
        <p:spPr>
          <a:xfrm>
            <a:off x="1238250" y="4318843"/>
            <a:ext cx="495300" cy="4495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3</a:t>
            </a:r>
            <a:endParaRPr lang="en-US" sz="3600" dirty="0"/>
          </a:p>
        </p:txBody>
      </p:sp>
      <p:sp>
        <p:nvSpPr>
          <p:cNvPr id="16" name="Text 12"/>
          <p:cNvSpPr/>
          <p:nvPr/>
        </p:nvSpPr>
        <p:spPr>
          <a:xfrm>
            <a:off x="1866900" y="4318843"/>
            <a:ext cx="7480935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75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China has the highest population than India.</a:t>
            </a:r>
            <a:endParaRPr lang="en-US" sz="2175" dirty="0"/>
          </a:p>
        </p:txBody>
      </p:sp>
      <p:sp>
        <p:nvSpPr>
          <p:cNvPr id="17" name="Shape 13"/>
          <p:cNvSpPr/>
          <p:nvPr/>
        </p:nvSpPr>
        <p:spPr>
          <a:xfrm>
            <a:off x="1866900" y="4972199"/>
            <a:ext cx="6800850" cy="19050"/>
          </a:xfrm>
          <a:prstGeom prst="rect">
            <a:avLst/>
          </a:prstGeom>
          <a:solidFill>
            <a:srgbClr val="5FB27B">
              <a:alpha val="60000"/>
            </a:srgbClr>
          </a:solidFill>
          <a:ln/>
        </p:spPr>
        <p:txBody>
          <a:bodyPr/>
          <a:p/>
        </p:txBody>
      </p:sp>
      <p:sp>
        <p:nvSpPr>
          <p:cNvPr id="18" name="Text 14"/>
          <p:cNvSpPr/>
          <p:nvPr/>
        </p:nvSpPr>
        <p:spPr>
          <a:xfrm>
            <a:off x="9429750" y="4318843"/>
            <a:ext cx="495300" cy="4495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4</a:t>
            </a:r>
            <a:endParaRPr lang="en-US" sz="3600" dirty="0"/>
          </a:p>
        </p:txBody>
      </p:sp>
      <p:sp>
        <p:nvSpPr>
          <p:cNvPr id="19" name="Text 15"/>
          <p:cNvSpPr/>
          <p:nvPr/>
        </p:nvSpPr>
        <p:spPr>
          <a:xfrm>
            <a:off x="10058400" y="4318843"/>
            <a:ext cx="7480935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75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Profits increased of 20% between 2010 and 2015.</a:t>
            </a:r>
            <a:endParaRPr lang="en-US" sz="2175" dirty="0"/>
          </a:p>
        </p:txBody>
      </p:sp>
      <p:sp>
        <p:nvSpPr>
          <p:cNvPr id="20" name="Shape 16"/>
          <p:cNvSpPr/>
          <p:nvPr/>
        </p:nvSpPr>
        <p:spPr>
          <a:xfrm>
            <a:off x="10058400" y="4972199"/>
            <a:ext cx="6800850" cy="19050"/>
          </a:xfrm>
          <a:prstGeom prst="rect">
            <a:avLst/>
          </a:prstGeom>
          <a:solidFill>
            <a:srgbClr val="5FB27B">
              <a:alpha val="60000"/>
            </a:srgbClr>
          </a:solidFill>
          <a:ln/>
        </p:spPr>
        <p:txBody>
          <a:bodyPr/>
          <a:p/>
        </p:txBody>
      </p:sp>
      <p:sp>
        <p:nvSpPr>
          <p:cNvPr id="21" name="Text 17"/>
          <p:cNvSpPr/>
          <p:nvPr/>
        </p:nvSpPr>
        <p:spPr>
          <a:xfrm>
            <a:off x="1238250" y="9491663"/>
            <a:ext cx="6392994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3 of 6 · IELTS Writing Task 1 · orangeenglish.nl</a:t>
            </a:r>
            <a:endParaRPr lang="en-US" sz="1800" dirty="0"/>
          </a:p>
        </p:txBody>
      </p:sp>
      <p:sp>
        <p:nvSpPr>
          <p:cNvPr id="22" name="Text 18"/>
          <p:cNvSpPr/>
          <p:nvPr/>
        </p:nvSpPr>
        <p:spPr>
          <a:xfrm>
            <a:off x="16908289" y="9491663"/>
            <a:ext cx="217661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9650" y="609600"/>
            <a:ext cx="1123950" cy="135418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8250" y="914400"/>
            <a:ext cx="1739265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TAKEAWAYS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1238250" y="1323975"/>
            <a:ext cx="17392650" cy="6141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0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to carry into your writing.</a:t>
            </a:r>
            <a:endParaRPr lang="en-US" sz="4050" dirty="0"/>
          </a:p>
        </p:txBody>
      </p:sp>
      <p:sp>
        <p:nvSpPr>
          <p:cNvPr id="7" name="Shape 3"/>
          <p:cNvSpPr/>
          <p:nvPr/>
        </p:nvSpPr>
        <p:spPr>
          <a:xfrm>
            <a:off x="1238250" y="2509614"/>
            <a:ext cx="171450" cy="171450"/>
          </a:xfrm>
          <a:prstGeom prst="ellipse">
            <a:avLst/>
          </a:prstGeom>
          <a:solidFill>
            <a:srgbClr val="5FB27B"/>
          </a:solidFill>
          <a:ln/>
        </p:spPr>
        <p:txBody>
          <a:bodyPr/>
          <a:p/>
        </p:txBody>
      </p:sp>
      <p:sp>
        <p:nvSpPr>
          <p:cNvPr id="8" name="Text 4"/>
          <p:cNvSpPr/>
          <p:nvPr/>
        </p:nvSpPr>
        <p:spPr>
          <a:xfrm>
            <a:off x="1657350" y="2376264"/>
            <a:ext cx="14256194" cy="480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</a:t>
            </a:r>
            <a:pPr algn="l" indent="0" marL="0">
              <a:lnSpc>
                <a:spcPct val="145000"/>
              </a:lnSpc>
              <a:buNone/>
            </a:pPr>
            <a:r>
              <a:rPr lang="en-US" sz="24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past simple </a:t>
            </a:r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completed, historical data, and choose other forms by the time reference, such as future forms for projections.</a:t>
            </a:r>
            <a:endParaRPr lang="en-US" sz="2400" dirty="0"/>
          </a:p>
        </p:txBody>
      </p:sp>
      <p:sp>
        <p:nvSpPr>
          <p:cNvPr id="9" name="Shape 5"/>
          <p:cNvSpPr/>
          <p:nvPr/>
        </p:nvSpPr>
        <p:spPr>
          <a:xfrm>
            <a:off x="1238250" y="3218259"/>
            <a:ext cx="171450" cy="171450"/>
          </a:xfrm>
          <a:prstGeom prst="ellipse">
            <a:avLst/>
          </a:prstGeom>
          <a:solidFill>
            <a:srgbClr val="5FB27B"/>
          </a:solidFill>
          <a:ln/>
        </p:spPr>
        <p:txBody>
          <a:bodyPr/>
          <a:p/>
        </p:txBody>
      </p:sp>
      <p:sp>
        <p:nvSpPr>
          <p:cNvPr id="10" name="Text 6"/>
          <p:cNvSpPr/>
          <p:nvPr/>
        </p:nvSpPr>
        <p:spPr>
          <a:xfrm>
            <a:off x="1657350" y="3084909"/>
            <a:ext cx="11700584" cy="480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</a:t>
            </a:r>
            <a:pPr algn="l" indent="0" marL="0">
              <a:lnSpc>
                <a:spcPct val="145000"/>
              </a:lnSpc>
              <a:buNone/>
            </a:pPr>
            <a:r>
              <a:rPr lang="en-US" sz="24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comparatives </a:t>
            </a:r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within a graph, </a:t>
            </a:r>
            <a:pPr algn="l" indent="0" marL="0">
              <a:lnSpc>
                <a:spcPct val="145000"/>
              </a:lnSpc>
              <a:buNone/>
            </a:pPr>
            <a:r>
              <a:rPr lang="en-US" sz="24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superlatives </a:t>
            </a:r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across the whole data set.</a:t>
            </a:r>
            <a:endParaRPr lang="en-US" sz="2400" dirty="0"/>
          </a:p>
        </p:txBody>
      </p:sp>
      <p:sp>
        <p:nvSpPr>
          <p:cNvPr id="11" name="Shape 7"/>
          <p:cNvSpPr/>
          <p:nvPr/>
        </p:nvSpPr>
        <p:spPr>
          <a:xfrm>
            <a:off x="1238250" y="3926904"/>
            <a:ext cx="171450" cy="171450"/>
          </a:xfrm>
          <a:prstGeom prst="ellipse">
            <a:avLst/>
          </a:prstGeom>
          <a:solidFill>
            <a:srgbClr val="5FB27B"/>
          </a:solidFill>
          <a:ln/>
        </p:spPr>
        <p:txBody>
          <a:bodyPr/>
          <a:p/>
        </p:txBody>
      </p:sp>
      <p:sp>
        <p:nvSpPr>
          <p:cNvPr id="12" name="Text 8"/>
          <p:cNvSpPr/>
          <p:nvPr/>
        </p:nvSpPr>
        <p:spPr>
          <a:xfrm>
            <a:off x="1657350" y="3793554"/>
            <a:ext cx="13331636" cy="480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'By' </a:t>
            </a:r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shows the amount of change, </a:t>
            </a:r>
            <a:pPr algn="l" indent="0" marL="0">
              <a:lnSpc>
                <a:spcPct val="145000"/>
              </a:lnSpc>
              <a:buNone/>
            </a:pPr>
            <a:r>
              <a:rPr lang="en-US" sz="24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'to' </a:t>
            </a:r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shows the end point, </a:t>
            </a:r>
            <a:pPr algn="l" indent="0" marL="0">
              <a:lnSpc>
                <a:spcPct val="145000"/>
              </a:lnSpc>
              <a:buNone/>
            </a:pPr>
            <a:r>
              <a:rPr lang="en-US" sz="24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'from … to' </a:t>
            </a:r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shows both.</a:t>
            </a:r>
            <a:endParaRPr lang="en-US" sz="2400" dirty="0"/>
          </a:p>
        </p:txBody>
      </p:sp>
      <p:sp>
        <p:nvSpPr>
          <p:cNvPr id="13" name="Shape 9"/>
          <p:cNvSpPr/>
          <p:nvPr/>
        </p:nvSpPr>
        <p:spPr>
          <a:xfrm>
            <a:off x="1238250" y="4635550"/>
            <a:ext cx="171450" cy="171450"/>
          </a:xfrm>
          <a:prstGeom prst="ellipse">
            <a:avLst/>
          </a:prstGeom>
          <a:solidFill>
            <a:srgbClr val="5FB27B"/>
          </a:solidFill>
          <a:ln/>
        </p:spPr>
        <p:txBody>
          <a:bodyPr/>
          <a:p/>
        </p:txBody>
      </p:sp>
      <p:sp>
        <p:nvSpPr>
          <p:cNvPr id="14" name="Text 10"/>
          <p:cNvSpPr/>
          <p:nvPr/>
        </p:nvSpPr>
        <p:spPr>
          <a:xfrm>
            <a:off x="1657350" y="4502200"/>
            <a:ext cx="11480393" cy="480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 contrasting trends with </a:t>
            </a:r>
            <a:pPr algn="l" indent="0" marL="0">
              <a:lnSpc>
                <a:spcPct val="145000"/>
              </a:lnSpc>
              <a:buNone/>
            </a:pPr>
            <a:r>
              <a:rPr lang="en-US" sz="24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while / whereas / in contrast</a:t>
            </a:r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not just "and".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 rot="-120000">
            <a:off x="12634020" y="8015287"/>
            <a:ext cx="4414838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255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next up →</a:t>
            </a:r>
            <a:endParaRPr lang="en-US" sz="2550" dirty="0"/>
          </a:p>
        </p:txBody>
      </p:sp>
      <p:sp>
        <p:nvSpPr>
          <p:cNvPr id="16" name="Text 12"/>
          <p:cNvSpPr/>
          <p:nvPr/>
        </p:nvSpPr>
        <p:spPr>
          <a:xfrm>
            <a:off x="12332910" y="8482013"/>
            <a:ext cx="4716840" cy="433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25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Structuring the Response</a:t>
            </a:r>
            <a:endParaRPr lang="en-US" sz="2550" dirty="0"/>
          </a:p>
        </p:txBody>
      </p:sp>
      <p:sp>
        <p:nvSpPr>
          <p:cNvPr id="17" name="Text 13"/>
          <p:cNvSpPr/>
          <p:nvPr/>
        </p:nvSpPr>
        <p:spPr>
          <a:xfrm>
            <a:off x="1238250" y="9491663"/>
            <a:ext cx="6392994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3 of 6 · IELTS Writing Task 1 · orangeenglish.nl</a:t>
            </a:r>
            <a:endParaRPr lang="en-US" sz="1800" dirty="0"/>
          </a:p>
        </p:txBody>
      </p:sp>
      <p:sp>
        <p:nvSpPr>
          <p:cNvPr id="18" name="Text 14"/>
          <p:cNvSpPr/>
          <p:nvPr/>
        </p:nvSpPr>
        <p:spPr>
          <a:xfrm>
            <a:off x="16907991" y="9491663"/>
            <a:ext cx="217959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2026-06-20T13:28:46Z</dcterms:created>
  <dcterms:modified xsi:type="dcterms:W3CDTF">2026-06-20T13:28:46Z</dcterms:modified>
</cp:coreProperties>
</file>