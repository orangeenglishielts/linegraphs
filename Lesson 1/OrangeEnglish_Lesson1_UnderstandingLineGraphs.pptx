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5.svg" ContentType="image/svg+xml"/>
  <Override PartName="/ppt/media/image-3-5.svg" ContentType="image/svg+xml"/>
  <Override PartName="/ppt/media/image-4-4.svg" ContentType="image/svg+xml"/>
  <Override PartName="/ppt/media/image-4-7.svg" ContentType="image/svg+xml"/>
  <Override PartName="/ppt/media/image-5-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lesson introduces line graphs and what IELTS Writing Task 1 asks you to do with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what students will be able to do by the end of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a line graph and note that it is the most common Task 1 chart 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 line versus multiple line graphs, and the staging language for describing a trend.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Examiner Mode. Walk through the five labelled parts and remind students to always include units.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things every Task 1 instruction asks: select, describe, compare. Then the common mistake of repeating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five things to look for in any line graph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Activity. Students drag each term to match its definition.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four takeaways. Preview the next lesson: Vocabulary for Trends.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0" y="857250"/>
            <a:ext cx="1428750" cy="17214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 rot="-120000">
            <a:off x="1238250" y="1143000"/>
            <a:ext cx="1628584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50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Lesson 1 · Writing</a:t>
            </a:r>
            <a:endParaRPr lang="en-US" sz="3450" dirty="0"/>
          </a:p>
        </p:txBody>
      </p:sp>
      <p:sp>
        <p:nvSpPr>
          <p:cNvPr id="6" name="Text 2"/>
          <p:cNvSpPr/>
          <p:nvPr/>
        </p:nvSpPr>
        <p:spPr>
          <a:xfrm>
            <a:off x="1238250" y="1852612"/>
            <a:ext cx="8043282" cy="1243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8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Understanding</a:t>
            </a:r>
            <a:endParaRPr lang="en-US" sz="7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1085850" y="3012877"/>
            <a:ext cx="6080150" cy="103167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38250" y="2922389"/>
            <a:ext cx="6352885" cy="12430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8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line graphs</a:t>
            </a:r>
            <a:endParaRPr lang="en-US" sz="7800" dirty="0"/>
          </a:p>
        </p:txBody>
      </p:sp>
      <p:sp>
        <p:nvSpPr>
          <p:cNvPr id="9" name="Text 4"/>
          <p:cNvSpPr/>
          <p:nvPr/>
        </p:nvSpPr>
        <p:spPr>
          <a:xfrm>
            <a:off x="7013600" y="2922389"/>
            <a:ext cx="336128" cy="1243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8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7800" dirty="0"/>
          </a:p>
        </p:txBody>
      </p:sp>
      <p:sp>
        <p:nvSpPr>
          <p:cNvPr id="10" name="Text 5"/>
          <p:cNvSpPr/>
          <p:nvPr/>
        </p:nvSpPr>
        <p:spPr>
          <a:xfrm>
            <a:off x="1238250" y="4863703"/>
            <a:ext cx="1020318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7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line graphs are, how to read them, and what IELTS Writing Task 1 asks you to do with them.</a:t>
            </a:r>
            <a:endParaRPr lang="en-US" sz="27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>
            <a:alphaModFix amt="95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15600" y="6705600"/>
            <a:ext cx="6858000" cy="2705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9650" y="609600"/>
            <a:ext cx="1123950" cy="13541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38250" y="914400"/>
            <a:ext cx="173926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5FB2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LEARNING OBJECTIVES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238250" y="1323975"/>
            <a:ext cx="12753975" cy="12648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By the end of this lesson, you will be able to:</a:t>
            </a:r>
            <a:endParaRPr lang="en-US" sz="4200" dirty="0"/>
          </a:p>
        </p:txBody>
      </p:sp>
      <p:sp>
        <p:nvSpPr>
          <p:cNvPr id="7" name="Text 3"/>
          <p:cNvSpPr/>
          <p:nvPr/>
        </p:nvSpPr>
        <p:spPr>
          <a:xfrm>
            <a:off x="1238250" y="3255615"/>
            <a:ext cx="556320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5FB27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01</a:t>
            </a:r>
            <a:endParaRPr lang="en-US" sz="4200" dirty="0"/>
          </a:p>
        </p:txBody>
      </p:sp>
      <p:sp>
        <p:nvSpPr>
          <p:cNvPr id="8" name="Text 4"/>
          <p:cNvSpPr/>
          <p:nvPr/>
        </p:nvSpPr>
        <p:spPr>
          <a:xfrm>
            <a:off x="1985070" y="3255615"/>
            <a:ext cx="5992557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7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the key parts of a line graph.</a:t>
            </a:r>
            <a:endParaRPr lang="en-US" sz="2475" dirty="0"/>
          </a:p>
        </p:txBody>
      </p:sp>
      <p:sp>
        <p:nvSpPr>
          <p:cNvPr id="9" name="Text 5"/>
          <p:cNvSpPr/>
          <p:nvPr/>
        </p:nvSpPr>
        <p:spPr>
          <a:xfrm>
            <a:off x="8763000" y="3255615"/>
            <a:ext cx="556320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5FB27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02</a:t>
            </a:r>
            <a:endParaRPr lang="en-US" sz="4200" dirty="0"/>
          </a:p>
        </p:txBody>
      </p:sp>
      <p:sp>
        <p:nvSpPr>
          <p:cNvPr id="10" name="Text 6"/>
          <p:cNvSpPr/>
          <p:nvPr/>
        </p:nvSpPr>
        <p:spPr>
          <a:xfrm>
            <a:off x="9509820" y="3255615"/>
            <a:ext cx="6196408" cy="94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7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Recognise the difference between single and multiple line graphs.</a:t>
            </a:r>
            <a:endParaRPr lang="en-US" sz="2475" dirty="0"/>
          </a:p>
        </p:txBody>
      </p:sp>
      <p:sp>
        <p:nvSpPr>
          <p:cNvPr id="11" name="Text 7"/>
          <p:cNvSpPr/>
          <p:nvPr/>
        </p:nvSpPr>
        <p:spPr>
          <a:xfrm>
            <a:off x="1238250" y="4567089"/>
            <a:ext cx="556320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5FB27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03</a:t>
            </a:r>
            <a:endParaRPr lang="en-US" sz="4200" dirty="0"/>
          </a:p>
        </p:txBody>
      </p:sp>
      <p:sp>
        <p:nvSpPr>
          <p:cNvPr id="12" name="Text 8"/>
          <p:cNvSpPr/>
          <p:nvPr/>
        </p:nvSpPr>
        <p:spPr>
          <a:xfrm>
            <a:off x="1985070" y="4567089"/>
            <a:ext cx="6196408" cy="94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7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 what IELTS Writing Task 1 asks you to do.</a:t>
            </a:r>
            <a:endParaRPr lang="en-US" sz="2475" dirty="0"/>
          </a:p>
        </p:txBody>
      </p:sp>
      <p:sp>
        <p:nvSpPr>
          <p:cNvPr id="13" name="Text 9"/>
          <p:cNvSpPr/>
          <p:nvPr/>
        </p:nvSpPr>
        <p:spPr>
          <a:xfrm>
            <a:off x="8763000" y="4567089"/>
            <a:ext cx="556320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5FB27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04</a:t>
            </a:r>
            <a:endParaRPr lang="en-US" sz="4200" dirty="0"/>
          </a:p>
        </p:txBody>
      </p:sp>
      <p:sp>
        <p:nvSpPr>
          <p:cNvPr id="14" name="Text 10"/>
          <p:cNvSpPr/>
          <p:nvPr/>
        </p:nvSpPr>
        <p:spPr>
          <a:xfrm>
            <a:off x="9509820" y="4567089"/>
            <a:ext cx="6196408" cy="94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7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the key features to include in your answer.</a:t>
            </a:r>
            <a:endParaRPr lang="en-US" sz="2475" dirty="0"/>
          </a:p>
        </p:txBody>
      </p:sp>
      <p:sp>
        <p:nvSpPr>
          <p:cNvPr id="15" name="Text 11"/>
          <p:cNvSpPr/>
          <p:nvPr/>
        </p:nvSpPr>
        <p:spPr>
          <a:xfrm>
            <a:off x="1238250" y="9491663"/>
            <a:ext cx="579872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1 · IELTS Writing Task 1 · orangeenglish.nl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16910298" y="9491663"/>
            <a:ext cx="21565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9650" y="609600"/>
            <a:ext cx="1123950" cy="13541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38250" y="3408611"/>
            <a:ext cx="99536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5FB2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A LINE GRAPH?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238250" y="3856286"/>
            <a:ext cx="9208852" cy="2057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4350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line graph shows how something </a:t>
            </a:r>
            <a:endParaRPr lang="en-US" sz="4350" dirty="0"/>
            <a:r>
              <a:rPr lang="en-US" sz="4350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changes over time</a:t>
            </a:r>
            <a:r>
              <a:rPr lang="en-US" sz="4350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plotted as a continuous line.</a:t>
            </a:r>
          </a:p>
        </p:txBody>
      </p:sp>
      <p:sp>
        <p:nvSpPr>
          <p:cNvPr id="10" name="Text 5"/>
          <p:cNvSpPr/>
          <p:nvPr/>
        </p:nvSpPr>
        <p:spPr>
          <a:xfrm>
            <a:off x="1238250" y="6392540"/>
            <a:ext cx="995362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It's one of the </a:t>
            </a:r>
            <a:pPr algn="l" indent="0" marL="0">
              <a:lnSpc>
                <a:spcPct val="150000"/>
              </a:lnSpc>
              <a:buNone/>
            </a:pPr>
            <a:r>
              <a:rPr lang="en-US" sz="255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common chart types </a:t>
            </a:r>
            <a:pPr algn="l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IELTS Writing Task 1.</a:t>
            </a:r>
            <a:endParaRPr lang="en-US" sz="2550" dirty="0"/>
          </a:p>
        </p:txBody>
      </p:sp>
      <p:sp>
        <p:nvSpPr>
          <p:cNvPr id="11" name="Shape 6"/>
          <p:cNvSpPr/>
          <p:nvPr/>
        </p:nvSpPr>
        <p:spPr>
          <a:xfrm>
            <a:off x="11144250" y="3000375"/>
            <a:ext cx="5905500" cy="4286250"/>
          </a:xfrm>
          <a:prstGeom prst="roundRect">
            <a:avLst>
              <a:gd name="adj" fmla="val 4444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10975" y="3467100"/>
            <a:ext cx="4972050" cy="33147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8250" y="9491663"/>
            <a:ext cx="579872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1 · IELTS Writing Task 1 · orangeenglish.nl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16908512" y="9491663"/>
            <a:ext cx="217438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9650" y="609600"/>
            <a:ext cx="1123950" cy="13541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38250" y="914400"/>
            <a:ext cx="173926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5FB2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TYPES OF LINE GRAPHS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238250" y="1323975"/>
            <a:ext cx="13620750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9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Single or multiple, read them differently.</a:t>
            </a:r>
            <a:endParaRPr lang="en-US" sz="3900" dirty="0"/>
          </a:p>
        </p:txBody>
      </p:sp>
      <p:sp>
        <p:nvSpPr>
          <p:cNvPr id="7" name="Shape 3"/>
          <p:cNvSpPr/>
          <p:nvPr/>
        </p:nvSpPr>
        <p:spPr>
          <a:xfrm>
            <a:off x="1238250" y="2369790"/>
            <a:ext cx="7600950" cy="4276725"/>
          </a:xfrm>
          <a:prstGeom prst="roundRect">
            <a:avLst>
              <a:gd name="adj" fmla="val 4454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85925" y="2779365"/>
            <a:ext cx="6705600" cy="110490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5">
            <a:alphaModFix amt="95000"/>
          </a:blip>
          <a:stretch>
            <a:fillRect/>
          </a:stretch>
        </p:blipFill>
        <p:spPr>
          <a:xfrm>
            <a:off x="1514475" y="4179540"/>
            <a:ext cx="2533055" cy="51435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685925" y="4170015"/>
            <a:ext cx="240917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Single line</a:t>
            </a:r>
            <a:endParaRPr lang="en-US" sz="3150" dirty="0"/>
          </a:p>
        </p:txBody>
      </p:sp>
      <p:sp>
        <p:nvSpPr>
          <p:cNvPr id="11" name="Text 5"/>
          <p:cNvSpPr/>
          <p:nvPr/>
        </p:nvSpPr>
        <p:spPr>
          <a:xfrm>
            <a:off x="1685925" y="4827240"/>
            <a:ext cx="690676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Tracks one category over time, no comparison needed. Focus on the </a:t>
            </a:r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shape and stages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the trend.</a:t>
            </a:r>
            <a:endParaRPr lang="en-US" sz="2100" dirty="0"/>
          </a:p>
        </p:txBody>
      </p:sp>
      <p:sp>
        <p:nvSpPr>
          <p:cNvPr id="12" name="Text 6"/>
          <p:cNvSpPr/>
          <p:nvPr/>
        </p:nvSpPr>
        <p:spPr>
          <a:xfrm>
            <a:off x="1685925" y="5836890"/>
            <a:ext cx="737616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625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"rose steadily, then plateaued, before climbing sharply"</a:t>
            </a:r>
            <a:endParaRPr lang="en-US" sz="2625" dirty="0"/>
          </a:p>
        </p:txBody>
      </p:sp>
      <p:sp>
        <p:nvSpPr>
          <p:cNvPr id="13" name="Shape 7"/>
          <p:cNvSpPr/>
          <p:nvPr/>
        </p:nvSpPr>
        <p:spPr>
          <a:xfrm>
            <a:off x="9448800" y="2369790"/>
            <a:ext cx="7600950" cy="4276725"/>
          </a:xfrm>
          <a:prstGeom prst="roundRect">
            <a:avLst>
              <a:gd name="adj" fmla="val 4454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96475" y="2779365"/>
            <a:ext cx="6705600" cy="1104900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>
            <a:alphaModFix amt="95000"/>
          </a:blip>
          <a:stretch>
            <a:fillRect/>
          </a:stretch>
        </p:blipFill>
        <p:spPr>
          <a:xfrm>
            <a:off x="9725025" y="4179540"/>
            <a:ext cx="3159621" cy="51435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896475" y="4170015"/>
            <a:ext cx="309839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Multiple lines</a:t>
            </a:r>
            <a:endParaRPr lang="en-US" sz="3150" dirty="0"/>
          </a:p>
        </p:txBody>
      </p:sp>
      <p:sp>
        <p:nvSpPr>
          <p:cNvPr id="17" name="Text 9"/>
          <p:cNvSpPr/>
          <p:nvPr/>
        </p:nvSpPr>
        <p:spPr>
          <a:xfrm>
            <a:off x="9896475" y="4827240"/>
            <a:ext cx="690676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Several trends to compare. Focus on </a:t>
            </a:r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similarities, differences,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the </a:t>
            </a:r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crossover points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between lines.</a:t>
            </a:r>
            <a:endParaRPr lang="en-US" sz="2100" dirty="0"/>
          </a:p>
        </p:txBody>
      </p:sp>
      <p:sp>
        <p:nvSpPr>
          <p:cNvPr id="18" name="Text 10"/>
          <p:cNvSpPr/>
          <p:nvPr/>
        </p:nvSpPr>
        <p:spPr>
          <a:xfrm>
            <a:off x="9896475" y="5836890"/>
            <a:ext cx="737616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625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"tea sales overtook coffee sales in 2015"</a:t>
            </a:r>
            <a:endParaRPr lang="en-US" sz="2625" dirty="0"/>
          </a:p>
        </p:txBody>
      </p:sp>
      <p:sp>
        <p:nvSpPr>
          <p:cNvPr id="19" name="Text 11"/>
          <p:cNvSpPr/>
          <p:nvPr/>
        </p:nvSpPr>
        <p:spPr>
          <a:xfrm>
            <a:off x="1238250" y="9491663"/>
            <a:ext cx="579872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1 · IELTS Writing Task 1 · orangeenglish.nl</a:t>
            </a:r>
            <a:endParaRPr lang="en-US" sz="1800" dirty="0"/>
          </a:p>
        </p:txBody>
      </p:sp>
      <p:sp>
        <p:nvSpPr>
          <p:cNvPr id="20" name="Text 12"/>
          <p:cNvSpPr/>
          <p:nvPr/>
        </p:nvSpPr>
        <p:spPr>
          <a:xfrm>
            <a:off x="16902038" y="9491663"/>
            <a:ext cx="22391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4900" y="571500"/>
            <a:ext cx="1028700" cy="123936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38250" y="857250"/>
            <a:ext cx="79629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5FB2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PARTS OF A LINE GRAPH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238250" y="1266825"/>
            <a:ext cx="7456170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75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Know every part before you write.</a:t>
            </a:r>
            <a:endParaRPr lang="en-US" sz="3750" dirty="0"/>
          </a:p>
        </p:txBody>
      </p:sp>
      <p:sp>
        <p:nvSpPr>
          <p:cNvPr id="7" name="Shape 3"/>
          <p:cNvSpPr/>
          <p:nvPr/>
        </p:nvSpPr>
        <p:spPr>
          <a:xfrm>
            <a:off x="1238250" y="2657475"/>
            <a:ext cx="7239000" cy="6772275"/>
          </a:xfrm>
          <a:prstGeom prst="roundRect">
            <a:avLst>
              <a:gd name="adj" fmla="val 2813"/>
            </a:avLst>
          </a:prstGeom>
          <a:solidFill>
            <a:srgbClr val="FFFFFF">
              <a:alpha val="60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90675" y="3009900"/>
            <a:ext cx="6534150" cy="606742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042345" y="2914650"/>
            <a:ext cx="3993892" cy="4191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92929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Internet users by age, 2010–2020</a:t>
            </a:r>
            <a:endParaRPr lang="en-US" sz="2400" dirty="0"/>
          </a:p>
        </p:txBody>
      </p:sp>
      <p:sp>
        <p:nvSpPr>
          <p:cNvPr id="10" name="Shape 5"/>
          <p:cNvSpPr/>
          <p:nvPr/>
        </p:nvSpPr>
        <p:spPr>
          <a:xfrm>
            <a:off x="2952750" y="2838450"/>
            <a:ext cx="381000" cy="381000"/>
          </a:xfrm>
          <a:prstGeom prst="ellipse">
            <a:avLst/>
          </a:prstGeom>
          <a:solidFill>
            <a:srgbClr val="5FB27B"/>
          </a:solidFill>
          <a:ln/>
        </p:spPr>
        <p:txBody>
          <a:bodyPr/>
          <a:p/>
        </p:txBody>
      </p:sp>
      <p:sp>
        <p:nvSpPr>
          <p:cNvPr id="11" name="Text 6"/>
          <p:cNvSpPr/>
          <p:nvPr/>
        </p:nvSpPr>
        <p:spPr>
          <a:xfrm>
            <a:off x="2914650" y="2838450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50" dirty="0"/>
          </a:p>
        </p:txBody>
      </p:sp>
      <p:sp>
        <p:nvSpPr>
          <p:cNvPr id="12" name="Shape 7"/>
          <p:cNvSpPr/>
          <p:nvPr/>
        </p:nvSpPr>
        <p:spPr>
          <a:xfrm>
            <a:off x="1495425" y="5638354"/>
            <a:ext cx="381000" cy="381000"/>
          </a:xfrm>
          <a:prstGeom prst="ellipse">
            <a:avLst/>
          </a:prstGeom>
          <a:solidFill>
            <a:srgbClr val="5FB27B"/>
          </a:solidFill>
          <a:ln/>
        </p:spPr>
        <p:txBody>
          <a:bodyPr/>
          <a:p/>
        </p:txBody>
      </p:sp>
      <p:sp>
        <p:nvSpPr>
          <p:cNvPr id="13" name="Text 8"/>
          <p:cNvSpPr/>
          <p:nvPr/>
        </p:nvSpPr>
        <p:spPr>
          <a:xfrm>
            <a:off x="1457325" y="5638354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657975" y="8753475"/>
            <a:ext cx="381000" cy="381000"/>
          </a:xfrm>
          <a:prstGeom prst="ellipse">
            <a:avLst/>
          </a:prstGeom>
          <a:solidFill>
            <a:srgbClr val="5FB27B"/>
          </a:solidFill>
          <a:ln/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6619875" y="8753475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50" dirty="0"/>
          </a:p>
        </p:txBody>
      </p:sp>
      <p:sp>
        <p:nvSpPr>
          <p:cNvPr id="16" name="Shape 11"/>
          <p:cNvSpPr/>
          <p:nvPr/>
        </p:nvSpPr>
        <p:spPr>
          <a:xfrm>
            <a:off x="6943725" y="4827984"/>
            <a:ext cx="381000" cy="381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FB27B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/>
          <p:nvPr/>
        </p:nvSpPr>
        <p:spPr>
          <a:xfrm>
            <a:off x="6934200" y="4856559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FB2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1628775" y="8486775"/>
            <a:ext cx="381000" cy="381000"/>
          </a:xfrm>
          <a:prstGeom prst="ellipse">
            <a:avLst/>
          </a:prstGeom>
          <a:solidFill>
            <a:srgbClr val="F88B48"/>
          </a:solidFill>
          <a:ln/>
        </p:spPr>
        <p:txBody>
          <a:bodyPr/>
          <a:p/>
        </p:txBody>
      </p:sp>
      <p:sp>
        <p:nvSpPr>
          <p:cNvPr id="19" name="Text 14"/>
          <p:cNvSpPr/>
          <p:nvPr/>
        </p:nvSpPr>
        <p:spPr>
          <a:xfrm>
            <a:off x="1590675" y="8486775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 rot="-120000">
            <a:off x="9182100" y="2880196"/>
            <a:ext cx="8103679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examiner mode</a:t>
            </a:r>
            <a:endParaRPr lang="en-US" sz="3000" dirty="0"/>
          </a:p>
        </p:txBody>
      </p:sp>
      <p:sp>
        <p:nvSpPr>
          <p:cNvPr id="21" name="Text 16"/>
          <p:cNvSpPr/>
          <p:nvPr/>
        </p:nvSpPr>
        <p:spPr>
          <a:xfrm>
            <a:off x="9182100" y="3654103"/>
            <a:ext cx="4000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5FB2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950" dirty="0"/>
          </a:p>
        </p:txBody>
      </p:sp>
      <p:sp>
        <p:nvSpPr>
          <p:cNvPr id="22" name="Text 17"/>
          <p:cNvSpPr/>
          <p:nvPr/>
        </p:nvSpPr>
        <p:spPr>
          <a:xfrm>
            <a:off x="9696450" y="3611240"/>
            <a:ext cx="4113647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Title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what's being measured.</a:t>
            </a:r>
            <a:endParaRPr lang="en-US" sz="2100" dirty="0"/>
          </a:p>
        </p:txBody>
      </p:sp>
      <p:sp>
        <p:nvSpPr>
          <p:cNvPr id="23" name="Text 18"/>
          <p:cNvSpPr/>
          <p:nvPr/>
        </p:nvSpPr>
        <p:spPr>
          <a:xfrm>
            <a:off x="9182100" y="4236988"/>
            <a:ext cx="4000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5FB2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950" dirty="0"/>
          </a:p>
        </p:txBody>
      </p:sp>
      <p:sp>
        <p:nvSpPr>
          <p:cNvPr id="24" name="Text 19"/>
          <p:cNvSpPr/>
          <p:nvPr/>
        </p:nvSpPr>
        <p:spPr>
          <a:xfrm>
            <a:off x="9696450" y="4194125"/>
            <a:ext cx="3252363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X-axis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the time period.</a:t>
            </a:r>
            <a:endParaRPr lang="en-US" sz="2100" dirty="0"/>
          </a:p>
        </p:txBody>
      </p:sp>
      <p:sp>
        <p:nvSpPr>
          <p:cNvPr id="25" name="Text 20"/>
          <p:cNvSpPr/>
          <p:nvPr/>
        </p:nvSpPr>
        <p:spPr>
          <a:xfrm>
            <a:off x="9182100" y="4819873"/>
            <a:ext cx="4000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5FB2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950" dirty="0"/>
          </a:p>
        </p:txBody>
      </p:sp>
      <p:sp>
        <p:nvSpPr>
          <p:cNvPr id="26" name="Text 21"/>
          <p:cNvSpPr/>
          <p:nvPr/>
        </p:nvSpPr>
        <p:spPr>
          <a:xfrm>
            <a:off x="9696450" y="4777011"/>
            <a:ext cx="8053514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Y-axis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the quantity measured, plus units (%, kg, millions).</a:t>
            </a:r>
            <a:endParaRPr lang="en-US" sz="2100" dirty="0"/>
          </a:p>
        </p:txBody>
      </p:sp>
      <p:sp>
        <p:nvSpPr>
          <p:cNvPr id="27" name="Text 22"/>
          <p:cNvSpPr/>
          <p:nvPr/>
        </p:nvSpPr>
        <p:spPr>
          <a:xfrm>
            <a:off x="9182100" y="5402759"/>
            <a:ext cx="4000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5FB2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950" dirty="0"/>
          </a:p>
        </p:txBody>
      </p:sp>
      <p:sp>
        <p:nvSpPr>
          <p:cNvPr id="28" name="Text 23"/>
          <p:cNvSpPr/>
          <p:nvPr/>
        </p:nvSpPr>
        <p:spPr>
          <a:xfrm>
            <a:off x="9696450" y="5359896"/>
            <a:ext cx="3921941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Legend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which line is which.</a:t>
            </a:r>
            <a:endParaRPr lang="en-US" sz="2100" dirty="0"/>
          </a:p>
        </p:txBody>
      </p:sp>
      <p:sp>
        <p:nvSpPr>
          <p:cNvPr id="29" name="Text 24"/>
          <p:cNvSpPr/>
          <p:nvPr/>
        </p:nvSpPr>
        <p:spPr>
          <a:xfrm>
            <a:off x="9182100" y="5985644"/>
            <a:ext cx="4000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5FB2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950" dirty="0"/>
          </a:p>
        </p:txBody>
      </p:sp>
      <p:sp>
        <p:nvSpPr>
          <p:cNvPr id="30" name="Text 25"/>
          <p:cNvSpPr/>
          <p:nvPr/>
        </p:nvSpPr>
        <p:spPr>
          <a:xfrm>
            <a:off x="9696450" y="5942781"/>
            <a:ext cx="59080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point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the exact value at a given time.</a:t>
            </a:r>
            <a:endParaRPr lang="en-US" sz="2100" dirty="0"/>
          </a:p>
        </p:txBody>
      </p:sp>
      <p:sp>
        <p:nvSpPr>
          <p:cNvPr id="31" name="Shape 26"/>
          <p:cNvSpPr/>
          <p:nvPr/>
        </p:nvSpPr>
        <p:spPr>
          <a:xfrm>
            <a:off x="9182100" y="6639967"/>
            <a:ext cx="7867650" cy="764381"/>
          </a:xfrm>
          <a:prstGeom prst="roundRect">
            <a:avLst>
              <a:gd name="adj" fmla="val 17445"/>
            </a:avLst>
          </a:prstGeom>
          <a:solidFill>
            <a:srgbClr val="F88B48">
              <a:alpha val="12000"/>
            </a:srgbClr>
          </a:solidFill>
          <a:ln/>
        </p:spPr>
        <p:txBody>
          <a:bodyPr/>
          <a:p/>
        </p:txBody>
      </p:sp>
      <p:sp>
        <p:nvSpPr>
          <p:cNvPr id="32" name="Text 27"/>
          <p:cNvSpPr/>
          <p:nvPr/>
        </p:nvSpPr>
        <p:spPr>
          <a:xfrm>
            <a:off x="9429750" y="6849517"/>
            <a:ext cx="94974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50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reminder</a:t>
            </a:r>
            <a:endParaRPr lang="en-US" sz="2250" dirty="0"/>
          </a:p>
        </p:txBody>
      </p:sp>
      <p:sp>
        <p:nvSpPr>
          <p:cNvPr id="33" name="Text 28"/>
          <p:cNvSpPr/>
          <p:nvPr/>
        </p:nvSpPr>
        <p:spPr>
          <a:xfrm>
            <a:off x="10455697" y="6849517"/>
            <a:ext cx="5637714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Always include </a:t>
            </a:r>
            <a:pPr algn="l" indent="0" marL="0">
              <a:lnSpc>
                <a:spcPct val="145000"/>
              </a:lnSpc>
              <a:buNone/>
            </a:pPr>
            <a:r>
              <a:rPr lang="en-US" sz="1875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units </a:t>
            </a:r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describing values.</a:t>
            </a:r>
            <a:endParaRPr lang="en-US" sz="1875" dirty="0"/>
          </a:p>
        </p:txBody>
      </p:sp>
      <p:sp>
        <p:nvSpPr>
          <p:cNvPr id="34" name="Text 29"/>
          <p:cNvSpPr/>
          <p:nvPr/>
        </p:nvSpPr>
        <p:spPr>
          <a:xfrm>
            <a:off x="1238250" y="9605963"/>
            <a:ext cx="579872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1 · IELTS Writing Task 1 · orangeenglish.nl</a:t>
            </a:r>
            <a:endParaRPr lang="en-US" sz="1800" dirty="0"/>
          </a:p>
        </p:txBody>
      </p:sp>
      <p:sp>
        <p:nvSpPr>
          <p:cNvPr id="35" name="Text 30"/>
          <p:cNvSpPr/>
          <p:nvPr/>
        </p:nvSpPr>
        <p:spPr>
          <a:xfrm>
            <a:off x="16914093" y="9605963"/>
            <a:ext cx="21185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4900" y="571500"/>
            <a:ext cx="1028700" cy="123936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38250" y="857250"/>
            <a:ext cx="173926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5FB2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TASK 1 ASKS YOU TO DO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238250" y="1266825"/>
            <a:ext cx="10769888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instruction always asks three things: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 rot="-120000">
            <a:off x="11257322" y="1381125"/>
            <a:ext cx="284988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50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follow the 3 steps →</a:t>
            </a:r>
            <a:endParaRPr lang="en-US" sz="2850" dirty="0"/>
          </a:p>
        </p:txBody>
      </p:sp>
      <p:sp>
        <p:nvSpPr>
          <p:cNvPr id="8" name="Text 4"/>
          <p:cNvSpPr/>
          <p:nvPr/>
        </p:nvSpPr>
        <p:spPr>
          <a:xfrm>
            <a:off x="1238250" y="2245965"/>
            <a:ext cx="542030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750" b="1" dirty="0">
                <a:solidFill>
                  <a:srgbClr val="5FB27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01</a:t>
            </a:r>
            <a:endParaRPr lang="en-US" sz="3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1047750" y="2836515"/>
            <a:ext cx="1798811" cy="552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8250" y="2798415"/>
            <a:ext cx="155959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Select</a:t>
            </a:r>
            <a:endParaRPr lang="en-US" sz="3450" dirty="0"/>
          </a:p>
        </p:txBody>
      </p:sp>
      <p:sp>
        <p:nvSpPr>
          <p:cNvPr id="11" name="Text 6"/>
          <p:cNvSpPr/>
          <p:nvPr/>
        </p:nvSpPr>
        <p:spPr>
          <a:xfrm>
            <a:off x="1238250" y="3560415"/>
            <a:ext cx="4984704" cy="785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7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the </a:t>
            </a:r>
            <a:endParaRPr lang="en-US" sz="2175" dirty="0"/>
            <a:r>
              <a:rPr lang="en-US" sz="2175" dirty="0" b="1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important</a:t>
            </a:r>
            <a:r>
              <a:rPr lang="en-US" sz="217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features. Don't describe everything.</a:t>
            </a:r>
          </a:p>
        </p:txBody>
      </p:sp>
      <p:sp>
        <p:nvSpPr>
          <p:cNvPr id="15" name="Text 9"/>
          <p:cNvSpPr/>
          <p:nvPr/>
        </p:nvSpPr>
        <p:spPr>
          <a:xfrm>
            <a:off x="6680150" y="2245965"/>
            <a:ext cx="542038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750" b="1" dirty="0">
                <a:solidFill>
                  <a:srgbClr val="5FB27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02</a:t>
            </a:r>
            <a:endParaRPr lang="en-US" sz="37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>
            <a:alphaModFix amt="95000"/>
          </a:blip>
          <a:stretch>
            <a:fillRect/>
          </a:stretch>
        </p:blipFill>
        <p:spPr>
          <a:xfrm>
            <a:off x="6489650" y="2836515"/>
            <a:ext cx="2409379" cy="5524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680150" y="2798415"/>
            <a:ext cx="223121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Describe</a:t>
            </a:r>
            <a:endParaRPr lang="en-US" sz="3450" dirty="0"/>
          </a:p>
        </p:txBody>
      </p:sp>
      <p:sp>
        <p:nvSpPr>
          <p:cNvPr id="18" name="Text 11"/>
          <p:cNvSpPr/>
          <p:nvPr/>
        </p:nvSpPr>
        <p:spPr>
          <a:xfrm>
            <a:off x="6680150" y="3560415"/>
            <a:ext cx="4835014" cy="785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7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the data </a:t>
            </a:r>
            <a:endParaRPr lang="en-US" sz="2175" dirty="0"/>
            <a:r>
              <a:rPr lang="en-US" sz="2175" dirty="0" b="1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accurately</a:t>
            </a:r>
            <a:r>
              <a:rPr lang="en-US" sz="217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with the right units.</a:t>
            </a:r>
          </a:p>
        </p:txBody>
      </p:sp>
      <p:sp>
        <p:nvSpPr>
          <p:cNvPr id="22" name="Text 14"/>
          <p:cNvSpPr/>
          <p:nvPr/>
        </p:nvSpPr>
        <p:spPr>
          <a:xfrm>
            <a:off x="12122125" y="2245965"/>
            <a:ext cx="542030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750" b="1" dirty="0">
                <a:solidFill>
                  <a:srgbClr val="5FB27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03</a:t>
            </a:r>
            <a:endParaRPr lang="en-US" sz="375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>
            <a:alphaModFix amt="95000"/>
          </a:blip>
          <a:stretch>
            <a:fillRect/>
          </a:stretch>
        </p:blipFill>
        <p:spPr>
          <a:xfrm>
            <a:off x="11931625" y="2836515"/>
            <a:ext cx="2467049" cy="55245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2122125" y="2798415"/>
            <a:ext cx="229465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Compare</a:t>
            </a:r>
            <a:endParaRPr lang="en-US" sz="3450" dirty="0"/>
          </a:p>
        </p:txBody>
      </p:sp>
      <p:sp>
        <p:nvSpPr>
          <p:cNvPr id="25" name="Text 16"/>
          <p:cNvSpPr/>
          <p:nvPr/>
        </p:nvSpPr>
        <p:spPr>
          <a:xfrm>
            <a:off x="12122125" y="3560415"/>
            <a:ext cx="4543834" cy="785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7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how the lines </a:t>
            </a:r>
            <a:endParaRPr lang="en-US" sz="2175" dirty="0"/>
            <a:r>
              <a:rPr lang="en-US" sz="2175" dirty="0" b="1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relate</a:t>
            </a:r>
            <a:r>
              <a:rPr lang="en-US" sz="217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each other.</a:t>
            </a:r>
          </a:p>
        </p:txBody>
      </p:sp>
      <p:sp>
        <p:nvSpPr>
          <p:cNvPr id="29" name="Shape 19"/>
          <p:cNvSpPr/>
          <p:nvPr/>
        </p:nvSpPr>
        <p:spPr>
          <a:xfrm>
            <a:off x="1238250" y="4903440"/>
            <a:ext cx="15811500" cy="1943100"/>
          </a:xfrm>
          <a:prstGeom prst="roundRect">
            <a:avLst>
              <a:gd name="adj" fmla="val 8824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0"/>
          <p:cNvSpPr/>
          <p:nvPr/>
        </p:nvSpPr>
        <p:spPr>
          <a:xfrm rot="-90000">
            <a:off x="1629296" y="4701034"/>
            <a:ext cx="4267200" cy="409575"/>
          </a:xfrm>
          <a:prstGeom prst="rect">
            <a:avLst/>
          </a:prstGeom>
          <a:solidFill>
            <a:srgbClr val="FAF8F3"/>
          </a:solidFill>
          <a:ln/>
        </p:spPr>
        <p:txBody>
          <a:bodyPr/>
          <a:p/>
        </p:txBody>
      </p:sp>
      <p:sp>
        <p:nvSpPr>
          <p:cNvPr id="31" name="Text 21"/>
          <p:cNvSpPr/>
          <p:nvPr/>
        </p:nvSpPr>
        <p:spPr>
          <a:xfrm rot="-90000">
            <a:off x="1762646" y="4701034"/>
            <a:ext cx="4427220" cy="4476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common mistake, repeating numbers</a:t>
            </a:r>
            <a:endParaRPr lang="en-US" sz="2550" dirty="0"/>
          </a:p>
        </p:txBody>
      </p:sp>
      <p:sp>
        <p:nvSpPr>
          <p:cNvPr id="32" name="Text 22"/>
          <p:cNvSpPr/>
          <p:nvPr/>
        </p:nvSpPr>
        <p:spPr>
          <a:xfrm>
            <a:off x="1666875" y="5332065"/>
            <a:ext cx="759618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50" kern="0" dirty="0">
                <a:solidFill>
                  <a:srgbClr val="6B6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WEAK</a:t>
            </a:r>
            <a:endParaRPr lang="en-US" sz="1650" dirty="0"/>
          </a:p>
        </p:txBody>
      </p:sp>
      <p:sp>
        <p:nvSpPr>
          <p:cNvPr id="33" name="Text 23"/>
          <p:cNvSpPr/>
          <p:nvPr/>
        </p:nvSpPr>
        <p:spPr>
          <a:xfrm>
            <a:off x="1666875" y="5741640"/>
            <a:ext cx="759618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9A8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number went up a lot.</a:t>
            </a:r>
            <a:endParaRPr lang="en-US" sz="2025" dirty="0"/>
          </a:p>
        </p:txBody>
      </p:sp>
      <p:sp>
        <p:nvSpPr>
          <p:cNvPr id="34" name="Text 24"/>
          <p:cNvSpPr/>
          <p:nvPr/>
        </p:nvSpPr>
        <p:spPr>
          <a:xfrm>
            <a:off x="1666875" y="6165503"/>
            <a:ext cx="759618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9A8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Lots of people used it.</a:t>
            </a:r>
            <a:endParaRPr lang="en-US" sz="2025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48700" y="5680695"/>
            <a:ext cx="990600" cy="445740"/>
          </a:xfrm>
          <a:prstGeom prst="rect">
            <a:avLst/>
          </a:prstGeom>
        </p:spPr>
      </p:pic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67850" y="5198715"/>
            <a:ext cx="1858342" cy="523875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9715500" y="5332065"/>
            <a:ext cx="149934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50" kern="0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STRONGER</a:t>
            </a:r>
            <a:endParaRPr lang="en-US" sz="1650" dirty="0"/>
          </a:p>
        </p:txBody>
      </p:sp>
      <p:sp>
        <p:nvSpPr>
          <p:cNvPr id="38" name="Text 26"/>
          <p:cNvSpPr/>
          <p:nvPr/>
        </p:nvSpPr>
        <p:spPr>
          <a:xfrm>
            <a:off x="9715500" y="5741640"/>
            <a:ext cx="759618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number </a:t>
            </a:r>
            <a:pPr algn="l" indent="0" marL="0">
              <a:buNone/>
            </a:pPr>
            <a:r>
              <a:rPr lang="en-US" sz="2025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increased sharply</a:t>
            </a:r>
            <a:pPr algn="l" indent="0" marL="0">
              <a:buNone/>
            </a:pPr>
            <a:r>
              <a:rPr lang="en-US" sz="2025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2025" dirty="0"/>
          </a:p>
        </p:txBody>
      </p:sp>
      <p:sp>
        <p:nvSpPr>
          <p:cNvPr id="39" name="Text 27"/>
          <p:cNvSpPr/>
          <p:nvPr/>
        </p:nvSpPr>
        <p:spPr>
          <a:xfrm>
            <a:off x="9715500" y="6165503"/>
            <a:ext cx="759618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pPr algn="l" indent="0" marL="0">
              <a:buNone/>
            </a:pPr>
            <a:r>
              <a:rPr lang="en-US" sz="2025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 proportion </a:t>
            </a:r>
            <a:pPr algn="l" indent="0" marL="0">
              <a:buNone/>
            </a:pPr>
            <a:r>
              <a:rPr lang="en-US" sz="2025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it.</a:t>
            </a:r>
            <a:endParaRPr lang="en-US" sz="2025" dirty="0"/>
          </a:p>
        </p:txBody>
      </p:sp>
      <p:sp>
        <p:nvSpPr>
          <p:cNvPr id="40" name="Text 28"/>
          <p:cNvSpPr/>
          <p:nvPr/>
        </p:nvSpPr>
        <p:spPr>
          <a:xfrm>
            <a:off x="1238250" y="9605963"/>
            <a:ext cx="579872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1 · IELTS Writing Task 1 · orangeenglish.nl</a:t>
            </a:r>
            <a:endParaRPr lang="en-US" sz="1800" dirty="0"/>
          </a:p>
        </p:txBody>
      </p:sp>
      <p:sp>
        <p:nvSpPr>
          <p:cNvPr id="41" name="Text 29"/>
          <p:cNvSpPr/>
          <p:nvPr/>
        </p:nvSpPr>
        <p:spPr>
          <a:xfrm>
            <a:off x="16907991" y="9605963"/>
            <a:ext cx="21795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9650" y="609600"/>
            <a:ext cx="1123950" cy="13541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38250" y="914400"/>
            <a:ext cx="173926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5FB2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FEATURES TO NOTICE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238250" y="1323975"/>
            <a:ext cx="13620750" cy="592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9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Before you write, look for these five things.</a:t>
            </a:r>
            <a:endParaRPr lang="en-US" sz="3900" dirty="0"/>
          </a:p>
        </p:txBody>
      </p:sp>
      <p:sp>
        <p:nvSpPr>
          <p:cNvPr id="7" name="Text 3"/>
          <p:cNvSpPr/>
          <p:nvPr/>
        </p:nvSpPr>
        <p:spPr>
          <a:xfrm>
            <a:off x="1238250" y="2412057"/>
            <a:ext cx="6477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750" b="1" dirty="0">
                <a:solidFill>
                  <a:srgbClr val="5FB27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01</a:t>
            </a:r>
            <a:endParaRPr lang="en-US" sz="3750" dirty="0"/>
          </a:p>
        </p:txBody>
      </p:sp>
      <p:sp>
        <p:nvSpPr>
          <p:cNvPr id="8" name="Text 4"/>
          <p:cNvSpPr/>
          <p:nvPr/>
        </p:nvSpPr>
        <p:spPr>
          <a:xfrm>
            <a:off x="2038350" y="2412057"/>
            <a:ext cx="513102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Overall trend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2038350" y="2821632"/>
            <a:ext cx="513102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it going up, down, or staying stable?</a:t>
            </a:r>
            <a:endParaRPr lang="en-US" sz="2025" dirty="0"/>
          </a:p>
        </p:txBody>
      </p:sp>
      <p:sp>
        <p:nvSpPr>
          <p:cNvPr id="10" name="Text 6"/>
          <p:cNvSpPr/>
          <p:nvPr/>
        </p:nvSpPr>
        <p:spPr>
          <a:xfrm>
            <a:off x="9048750" y="2412057"/>
            <a:ext cx="6477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750" b="1" dirty="0">
                <a:solidFill>
                  <a:srgbClr val="5FB27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02</a:t>
            </a:r>
            <a:endParaRPr lang="en-US" sz="3750" dirty="0"/>
          </a:p>
        </p:txBody>
      </p:sp>
      <p:sp>
        <p:nvSpPr>
          <p:cNvPr id="11" name="Text 7"/>
          <p:cNvSpPr/>
          <p:nvPr/>
        </p:nvSpPr>
        <p:spPr>
          <a:xfrm>
            <a:off x="9848850" y="2412057"/>
            <a:ext cx="491705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 and end points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9848850" y="2821632"/>
            <a:ext cx="491705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each line begins and finishes.</a:t>
            </a:r>
            <a:endParaRPr lang="en-US" sz="2025" dirty="0"/>
          </a:p>
        </p:txBody>
      </p:sp>
      <p:sp>
        <p:nvSpPr>
          <p:cNvPr id="13" name="Text 9"/>
          <p:cNvSpPr/>
          <p:nvPr/>
        </p:nvSpPr>
        <p:spPr>
          <a:xfrm>
            <a:off x="1238250" y="3505498"/>
            <a:ext cx="6477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750" b="1" dirty="0">
                <a:solidFill>
                  <a:srgbClr val="5FB27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03</a:t>
            </a:r>
            <a:endParaRPr lang="en-US" sz="3750" dirty="0"/>
          </a:p>
        </p:txBody>
      </p:sp>
      <p:sp>
        <p:nvSpPr>
          <p:cNvPr id="14" name="Text 10"/>
          <p:cNvSpPr/>
          <p:nvPr/>
        </p:nvSpPr>
        <p:spPr>
          <a:xfrm>
            <a:off x="2038350" y="3505498"/>
            <a:ext cx="364960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Significant changes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2038350" y="3915073"/>
            <a:ext cx="364960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Sharp rises or sudden falls.</a:t>
            </a:r>
            <a:endParaRPr lang="en-US" sz="2025" dirty="0"/>
          </a:p>
        </p:txBody>
      </p:sp>
      <p:sp>
        <p:nvSpPr>
          <p:cNvPr id="16" name="Text 12"/>
          <p:cNvSpPr/>
          <p:nvPr/>
        </p:nvSpPr>
        <p:spPr>
          <a:xfrm>
            <a:off x="9048750" y="3505498"/>
            <a:ext cx="6477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750" b="1" dirty="0">
                <a:solidFill>
                  <a:srgbClr val="5FB27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04</a:t>
            </a:r>
            <a:endParaRPr lang="en-US" sz="3750" dirty="0"/>
          </a:p>
        </p:txBody>
      </p:sp>
      <p:sp>
        <p:nvSpPr>
          <p:cNvPr id="17" name="Text 13"/>
          <p:cNvSpPr/>
          <p:nvPr/>
        </p:nvSpPr>
        <p:spPr>
          <a:xfrm>
            <a:off x="9848850" y="3505498"/>
            <a:ext cx="408098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Peaks and troughs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9848850" y="3915073"/>
            <a:ext cx="4080986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highest and lowest points.</a:t>
            </a:r>
            <a:endParaRPr lang="en-US" sz="2025" dirty="0"/>
          </a:p>
        </p:txBody>
      </p:sp>
      <p:sp>
        <p:nvSpPr>
          <p:cNvPr id="19" name="Text 15"/>
          <p:cNvSpPr/>
          <p:nvPr/>
        </p:nvSpPr>
        <p:spPr>
          <a:xfrm>
            <a:off x="1238250" y="4598938"/>
            <a:ext cx="6477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750" b="1" dirty="0">
                <a:solidFill>
                  <a:srgbClr val="5FB27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05</a:t>
            </a:r>
            <a:endParaRPr lang="en-US" sz="3750" dirty="0"/>
          </a:p>
        </p:txBody>
      </p:sp>
      <p:sp>
        <p:nvSpPr>
          <p:cNvPr id="20" name="Text 16"/>
          <p:cNvSpPr/>
          <p:nvPr/>
        </p:nvSpPr>
        <p:spPr>
          <a:xfrm>
            <a:off x="2038350" y="4598938"/>
            <a:ext cx="595490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Comparisons</a:t>
            </a:r>
            <a:endParaRPr lang="en-US" sz="2400" dirty="0"/>
          </a:p>
        </p:txBody>
      </p:sp>
      <p:sp>
        <p:nvSpPr>
          <p:cNvPr id="21" name="Text 17"/>
          <p:cNvSpPr/>
          <p:nvPr/>
        </p:nvSpPr>
        <p:spPr>
          <a:xfrm>
            <a:off x="2038350" y="5008513"/>
            <a:ext cx="5954903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line is highest, or whether lines cross.</a:t>
            </a:r>
            <a:endParaRPr lang="en-US" sz="2025" dirty="0"/>
          </a:p>
        </p:txBody>
      </p:sp>
      <p:sp>
        <p:nvSpPr>
          <p:cNvPr id="22" name="Text 18"/>
          <p:cNvSpPr/>
          <p:nvPr/>
        </p:nvSpPr>
        <p:spPr>
          <a:xfrm>
            <a:off x="1238250" y="9491663"/>
            <a:ext cx="579872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1 · IELTS Writing Task 1 · orangeenglish.nl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16920344" y="9491663"/>
            <a:ext cx="205606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9650" y="609600"/>
            <a:ext cx="1123950" cy="13541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38250" y="1028700"/>
            <a:ext cx="152676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5FB2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ACTIVITY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 rot="-120000">
            <a:off x="2854896" y="914400"/>
            <a:ext cx="149828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50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your turn!</a:t>
            </a:r>
            <a:endParaRPr lang="en-US" sz="3150" dirty="0"/>
          </a:p>
        </p:txBody>
      </p:sp>
      <p:sp>
        <p:nvSpPr>
          <p:cNvPr id="7" name="Text 3"/>
          <p:cNvSpPr/>
          <p:nvPr/>
        </p:nvSpPr>
        <p:spPr>
          <a:xfrm>
            <a:off x="1238250" y="1447800"/>
            <a:ext cx="17392650" cy="592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9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Match each term to its definition.</a:t>
            </a:r>
            <a:endParaRPr lang="en-US" sz="3900" dirty="0"/>
          </a:p>
        </p:txBody>
      </p:sp>
      <p:sp>
        <p:nvSpPr>
          <p:cNvPr id="8" name="Text 4"/>
          <p:cNvSpPr/>
          <p:nvPr/>
        </p:nvSpPr>
        <p:spPr>
          <a:xfrm>
            <a:off x="1238250" y="2116782"/>
            <a:ext cx="173926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Drag each term on the left to the meaning it belongs with on the right.</a:t>
            </a:r>
            <a:endParaRPr lang="en-US" sz="2250" dirty="0"/>
          </a:p>
        </p:txBody>
      </p:sp>
      <p:sp>
        <p:nvSpPr>
          <p:cNvPr id="9" name="Shape 5"/>
          <p:cNvSpPr/>
          <p:nvPr/>
        </p:nvSpPr>
        <p:spPr>
          <a:xfrm>
            <a:off x="1238250" y="2916882"/>
            <a:ext cx="3238500" cy="704850"/>
          </a:xfrm>
          <a:prstGeom prst="roundRect">
            <a:avLst>
              <a:gd name="adj" fmla="val 18919"/>
            </a:avLst>
          </a:prstGeom>
          <a:solidFill>
            <a:srgbClr val="5FB27B"/>
          </a:solidFill>
          <a:ln/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1456373" y="3107382"/>
            <a:ext cx="28022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Title</a:t>
            </a:r>
            <a:endParaRPr lang="en-US" sz="2100" dirty="0"/>
          </a:p>
        </p:txBody>
      </p:sp>
      <p:sp>
        <p:nvSpPr>
          <p:cNvPr id="11" name="Shape 7"/>
          <p:cNvSpPr/>
          <p:nvPr/>
        </p:nvSpPr>
        <p:spPr>
          <a:xfrm>
            <a:off x="1238250" y="3812232"/>
            <a:ext cx="3238500" cy="704850"/>
          </a:xfrm>
          <a:prstGeom prst="roundRect">
            <a:avLst>
              <a:gd name="adj" fmla="val 18919"/>
            </a:avLst>
          </a:prstGeom>
          <a:solidFill>
            <a:srgbClr val="5FB27B"/>
          </a:solidFill>
          <a:ln/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1456373" y="4002732"/>
            <a:ext cx="28022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X-axis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1238250" y="4707582"/>
            <a:ext cx="3238500" cy="704850"/>
          </a:xfrm>
          <a:prstGeom prst="roundRect">
            <a:avLst>
              <a:gd name="adj" fmla="val 18919"/>
            </a:avLst>
          </a:prstGeom>
          <a:solidFill>
            <a:srgbClr val="5FB27B"/>
          </a:solidFill>
          <a:ln/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1456373" y="4898082"/>
            <a:ext cx="28022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Y-axis</a:t>
            </a:r>
            <a:endParaRPr lang="en-US" sz="2100" dirty="0"/>
          </a:p>
        </p:txBody>
      </p:sp>
      <p:sp>
        <p:nvSpPr>
          <p:cNvPr id="15" name="Shape 11"/>
          <p:cNvSpPr/>
          <p:nvPr/>
        </p:nvSpPr>
        <p:spPr>
          <a:xfrm>
            <a:off x="1238250" y="5602932"/>
            <a:ext cx="3238500" cy="704850"/>
          </a:xfrm>
          <a:prstGeom prst="roundRect">
            <a:avLst>
              <a:gd name="adj" fmla="val 18919"/>
            </a:avLst>
          </a:prstGeom>
          <a:solidFill>
            <a:srgbClr val="5FB27B"/>
          </a:solidFill>
          <a:ln/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1456373" y="5793432"/>
            <a:ext cx="28022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Legend</a:t>
            </a:r>
            <a:endParaRPr lang="en-US" sz="2100" dirty="0"/>
          </a:p>
        </p:txBody>
      </p:sp>
      <p:sp>
        <p:nvSpPr>
          <p:cNvPr id="17" name="Shape 13"/>
          <p:cNvSpPr/>
          <p:nvPr/>
        </p:nvSpPr>
        <p:spPr>
          <a:xfrm>
            <a:off x="1238250" y="6498282"/>
            <a:ext cx="3238500" cy="704850"/>
          </a:xfrm>
          <a:prstGeom prst="roundRect">
            <a:avLst>
              <a:gd name="adj" fmla="val 18919"/>
            </a:avLst>
          </a:prstGeom>
          <a:solidFill>
            <a:srgbClr val="5FB27B"/>
          </a:solidFill>
          <a:ln/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1456373" y="6688782"/>
            <a:ext cx="28022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points</a:t>
            </a:r>
            <a:endParaRPr lang="en-US" sz="2100" dirty="0"/>
          </a:p>
        </p:txBody>
      </p:sp>
      <p:sp>
        <p:nvSpPr>
          <p:cNvPr id="19" name="Shape 15"/>
          <p:cNvSpPr/>
          <p:nvPr/>
        </p:nvSpPr>
        <p:spPr>
          <a:xfrm>
            <a:off x="1238250" y="7393632"/>
            <a:ext cx="3238500" cy="704850"/>
          </a:xfrm>
          <a:prstGeom prst="roundRect">
            <a:avLst>
              <a:gd name="adj" fmla="val 18919"/>
            </a:avLst>
          </a:prstGeom>
          <a:solidFill>
            <a:srgbClr val="5FB27B"/>
          </a:solidFill>
          <a:ln/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1456373" y="7584132"/>
            <a:ext cx="28022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Units</a:t>
            </a:r>
            <a:endParaRPr lang="en-US" sz="2100" dirty="0"/>
          </a:p>
        </p:txBody>
      </p:sp>
      <p:sp>
        <p:nvSpPr>
          <p:cNvPr id="21" name="Shape 17"/>
          <p:cNvSpPr/>
          <p:nvPr/>
        </p:nvSpPr>
        <p:spPr>
          <a:xfrm>
            <a:off x="5048250" y="2916882"/>
            <a:ext cx="12001500" cy="681038"/>
          </a:xfrm>
          <a:prstGeom prst="roundRect">
            <a:avLst>
              <a:gd name="adj" fmla="val 19580"/>
            </a:avLst>
          </a:prstGeom>
          <a:solidFill>
            <a:srgbClr val="FFFFFF">
              <a:alpha val="60000"/>
            </a:srgbClr>
          </a:solidFill>
          <a:ln w="19050">
            <a:solidFill>
              <a:srgbClr val="5FB27B">
                <a:alpha val="60000"/>
              </a:srgbClr>
            </a:solidFill>
            <a:prstDash val="dash"/>
          </a:ln>
        </p:spPr>
        <p:txBody>
          <a:bodyPr/>
          <a:p/>
        </p:txBody>
      </p:sp>
      <p:sp>
        <p:nvSpPr>
          <p:cNvPr id="22" name="Text 18"/>
          <p:cNvSpPr/>
          <p:nvPr/>
        </p:nvSpPr>
        <p:spPr>
          <a:xfrm>
            <a:off x="5314950" y="3107382"/>
            <a:ext cx="11828145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What's being measured, the heading of the graph.</a:t>
            </a:r>
            <a:endParaRPr lang="en-US" sz="1950" dirty="0"/>
          </a:p>
        </p:txBody>
      </p:sp>
      <p:sp>
        <p:nvSpPr>
          <p:cNvPr id="23" name="Shape 19"/>
          <p:cNvSpPr/>
          <p:nvPr/>
        </p:nvSpPr>
        <p:spPr>
          <a:xfrm>
            <a:off x="5048250" y="3769370"/>
            <a:ext cx="12001500" cy="681038"/>
          </a:xfrm>
          <a:prstGeom prst="roundRect">
            <a:avLst>
              <a:gd name="adj" fmla="val 19580"/>
            </a:avLst>
          </a:prstGeom>
          <a:solidFill>
            <a:srgbClr val="FFFFFF">
              <a:alpha val="60000"/>
            </a:srgbClr>
          </a:solidFill>
          <a:ln w="19050">
            <a:solidFill>
              <a:srgbClr val="5FB27B">
                <a:alpha val="60000"/>
              </a:srgbClr>
            </a:solidFill>
            <a:prstDash val="dash"/>
          </a:ln>
        </p:spPr>
        <p:txBody>
          <a:bodyPr/>
          <a:p/>
        </p:txBody>
      </p:sp>
      <p:sp>
        <p:nvSpPr>
          <p:cNvPr id="24" name="Text 20"/>
          <p:cNvSpPr/>
          <p:nvPr/>
        </p:nvSpPr>
        <p:spPr>
          <a:xfrm>
            <a:off x="5314950" y="3959870"/>
            <a:ext cx="11828145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time period running along the bottom.</a:t>
            </a:r>
            <a:endParaRPr lang="en-US" sz="1950" dirty="0"/>
          </a:p>
        </p:txBody>
      </p:sp>
      <p:sp>
        <p:nvSpPr>
          <p:cNvPr id="25" name="Shape 21"/>
          <p:cNvSpPr/>
          <p:nvPr/>
        </p:nvSpPr>
        <p:spPr>
          <a:xfrm>
            <a:off x="5048250" y="4621857"/>
            <a:ext cx="12001500" cy="681038"/>
          </a:xfrm>
          <a:prstGeom prst="roundRect">
            <a:avLst>
              <a:gd name="adj" fmla="val 19580"/>
            </a:avLst>
          </a:prstGeom>
          <a:solidFill>
            <a:srgbClr val="FFFFFF">
              <a:alpha val="60000"/>
            </a:srgbClr>
          </a:solidFill>
          <a:ln w="19050">
            <a:solidFill>
              <a:srgbClr val="5FB27B">
                <a:alpha val="60000"/>
              </a:srgbClr>
            </a:solidFill>
            <a:prstDash val="dash"/>
          </a:ln>
        </p:spPr>
        <p:txBody>
          <a:bodyPr/>
          <a:p/>
        </p:txBody>
      </p:sp>
      <p:sp>
        <p:nvSpPr>
          <p:cNvPr id="26" name="Text 22"/>
          <p:cNvSpPr/>
          <p:nvPr/>
        </p:nvSpPr>
        <p:spPr>
          <a:xfrm>
            <a:off x="5314950" y="4812357"/>
            <a:ext cx="11828145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quantity measured, running up the side.</a:t>
            </a:r>
            <a:endParaRPr lang="en-US" sz="1950" dirty="0"/>
          </a:p>
        </p:txBody>
      </p:sp>
      <p:sp>
        <p:nvSpPr>
          <p:cNvPr id="27" name="Shape 23"/>
          <p:cNvSpPr/>
          <p:nvPr/>
        </p:nvSpPr>
        <p:spPr>
          <a:xfrm>
            <a:off x="5048250" y="5474345"/>
            <a:ext cx="12001500" cy="681038"/>
          </a:xfrm>
          <a:prstGeom prst="roundRect">
            <a:avLst>
              <a:gd name="adj" fmla="val 19580"/>
            </a:avLst>
          </a:prstGeom>
          <a:solidFill>
            <a:srgbClr val="FFFFFF">
              <a:alpha val="60000"/>
            </a:srgbClr>
          </a:solidFill>
          <a:ln w="19050">
            <a:solidFill>
              <a:srgbClr val="5FB27B">
                <a:alpha val="60000"/>
              </a:srgbClr>
            </a:solidFill>
            <a:prstDash val="dash"/>
          </a:ln>
        </p:spPr>
        <p:txBody>
          <a:bodyPr/>
          <a:p/>
        </p:txBody>
      </p:sp>
      <p:sp>
        <p:nvSpPr>
          <p:cNvPr id="28" name="Text 24"/>
          <p:cNvSpPr/>
          <p:nvPr/>
        </p:nvSpPr>
        <p:spPr>
          <a:xfrm>
            <a:off x="5314950" y="5664845"/>
            <a:ext cx="11828145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key showing which line is which.</a:t>
            </a:r>
            <a:endParaRPr lang="en-US" sz="1950" dirty="0"/>
          </a:p>
        </p:txBody>
      </p:sp>
      <p:sp>
        <p:nvSpPr>
          <p:cNvPr id="29" name="Shape 25"/>
          <p:cNvSpPr/>
          <p:nvPr/>
        </p:nvSpPr>
        <p:spPr>
          <a:xfrm>
            <a:off x="5048250" y="6326832"/>
            <a:ext cx="12001500" cy="681038"/>
          </a:xfrm>
          <a:prstGeom prst="roundRect">
            <a:avLst>
              <a:gd name="adj" fmla="val 19580"/>
            </a:avLst>
          </a:prstGeom>
          <a:solidFill>
            <a:srgbClr val="FFFFFF">
              <a:alpha val="60000"/>
            </a:srgbClr>
          </a:solidFill>
          <a:ln w="19050">
            <a:solidFill>
              <a:srgbClr val="5FB27B">
                <a:alpha val="60000"/>
              </a:srgbClr>
            </a:solidFill>
            <a:prstDash val="dash"/>
          </a:ln>
        </p:spPr>
        <p:txBody>
          <a:bodyPr/>
          <a:p/>
        </p:txBody>
      </p:sp>
      <p:sp>
        <p:nvSpPr>
          <p:cNvPr id="30" name="Text 26"/>
          <p:cNvSpPr/>
          <p:nvPr/>
        </p:nvSpPr>
        <p:spPr>
          <a:xfrm>
            <a:off x="5314950" y="6517332"/>
            <a:ext cx="11828145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exact values plotted on each line.</a:t>
            </a:r>
            <a:endParaRPr lang="en-US" sz="1950" dirty="0"/>
          </a:p>
        </p:txBody>
      </p:sp>
      <p:sp>
        <p:nvSpPr>
          <p:cNvPr id="31" name="Shape 27"/>
          <p:cNvSpPr/>
          <p:nvPr/>
        </p:nvSpPr>
        <p:spPr>
          <a:xfrm>
            <a:off x="5048250" y="7179320"/>
            <a:ext cx="12001500" cy="681038"/>
          </a:xfrm>
          <a:prstGeom prst="roundRect">
            <a:avLst>
              <a:gd name="adj" fmla="val 19580"/>
            </a:avLst>
          </a:prstGeom>
          <a:solidFill>
            <a:srgbClr val="FFFFFF">
              <a:alpha val="60000"/>
            </a:srgbClr>
          </a:solidFill>
          <a:ln w="19050">
            <a:solidFill>
              <a:srgbClr val="5FB27B">
                <a:alpha val="60000"/>
              </a:srgbClr>
            </a:solidFill>
            <a:prstDash val="dash"/>
          </a:ln>
        </p:spPr>
        <p:txBody>
          <a:bodyPr/>
          <a:p/>
        </p:txBody>
      </p:sp>
      <p:sp>
        <p:nvSpPr>
          <p:cNvPr id="32" name="Text 28"/>
          <p:cNvSpPr/>
          <p:nvPr/>
        </p:nvSpPr>
        <p:spPr>
          <a:xfrm>
            <a:off x="5314950" y="7369820"/>
            <a:ext cx="11828145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values are counted, %, kg, millions.</a:t>
            </a:r>
            <a:endParaRPr lang="en-US" sz="1950" dirty="0"/>
          </a:p>
        </p:txBody>
      </p:sp>
      <p:sp>
        <p:nvSpPr>
          <p:cNvPr id="33" name="Text 29"/>
          <p:cNvSpPr/>
          <p:nvPr/>
        </p:nvSpPr>
        <p:spPr>
          <a:xfrm>
            <a:off x="1238250" y="9491663"/>
            <a:ext cx="579872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1 · IELTS Writing Task 1 · orangeenglish.nl</a:t>
            </a:r>
            <a:endParaRPr lang="en-US" sz="1800" dirty="0"/>
          </a:p>
        </p:txBody>
      </p:sp>
      <p:sp>
        <p:nvSpPr>
          <p:cNvPr id="34" name="Text 30"/>
          <p:cNvSpPr/>
          <p:nvPr/>
        </p:nvSpPr>
        <p:spPr>
          <a:xfrm>
            <a:off x="16908289" y="9491663"/>
            <a:ext cx="217661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9650" y="609600"/>
            <a:ext cx="1123950" cy="13541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38250" y="914400"/>
            <a:ext cx="173926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5FB2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238250" y="1323975"/>
            <a:ext cx="17392650" cy="614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05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to carry into your writing.</a:t>
            </a:r>
            <a:endParaRPr lang="en-US" sz="4050" dirty="0"/>
          </a:p>
        </p:txBody>
      </p:sp>
      <p:sp>
        <p:nvSpPr>
          <p:cNvPr id="7" name="Shape 3"/>
          <p:cNvSpPr/>
          <p:nvPr/>
        </p:nvSpPr>
        <p:spPr>
          <a:xfrm>
            <a:off x="1238250" y="2509614"/>
            <a:ext cx="171450" cy="171450"/>
          </a:xfrm>
          <a:prstGeom prst="ellipse">
            <a:avLst/>
          </a:prstGeom>
          <a:solidFill>
            <a:srgbClr val="5FB27B"/>
          </a:solidFill>
          <a:ln/>
        </p:spPr>
        <p:txBody>
          <a:bodyPr/>
          <a:p/>
        </p:txBody>
      </p:sp>
      <p:sp>
        <p:nvSpPr>
          <p:cNvPr id="8" name="Text 4"/>
          <p:cNvSpPr/>
          <p:nvPr/>
        </p:nvSpPr>
        <p:spPr>
          <a:xfrm>
            <a:off x="1657350" y="2376264"/>
            <a:ext cx="11705987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line graph shows </a:t>
            </a:r>
            <a:pPr algn="l" indent="0" marL="0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over time</a:t>
            </a:r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check the title, axes, and units first.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1238250" y="3218259"/>
            <a:ext cx="171450" cy="171450"/>
          </a:xfrm>
          <a:prstGeom prst="ellipse">
            <a:avLst/>
          </a:prstGeom>
          <a:solidFill>
            <a:srgbClr val="5FB27B"/>
          </a:solidFill>
          <a:ln/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1657350" y="3084909"/>
            <a:ext cx="9506285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Graphs can be </a:t>
            </a:r>
            <a:pPr algn="l" indent="0" marL="0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or multiple</a:t>
            </a:r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read each kind differently.</a:t>
            </a:r>
            <a:endParaRPr lang="en-US" sz="2400" dirty="0"/>
          </a:p>
        </p:txBody>
      </p:sp>
      <p:sp>
        <p:nvSpPr>
          <p:cNvPr id="11" name="Shape 7"/>
          <p:cNvSpPr/>
          <p:nvPr/>
        </p:nvSpPr>
        <p:spPr>
          <a:xfrm>
            <a:off x="1238250" y="3926904"/>
            <a:ext cx="171450" cy="171450"/>
          </a:xfrm>
          <a:prstGeom prst="ellipse">
            <a:avLst/>
          </a:prstGeom>
          <a:solidFill>
            <a:srgbClr val="5FB27B"/>
          </a:solidFill>
          <a:ln/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1657350" y="3793554"/>
            <a:ext cx="11904077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1 asks you to </a:t>
            </a:r>
            <a:pPr algn="l" indent="0" marL="0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select, describe, and compare</a:t>
            </a:r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not describe everything.</a:t>
            </a:r>
            <a:endParaRPr lang="en-US" sz="2400" dirty="0"/>
          </a:p>
        </p:txBody>
      </p:sp>
      <p:sp>
        <p:nvSpPr>
          <p:cNvPr id="13" name="Shape 9"/>
          <p:cNvSpPr/>
          <p:nvPr/>
        </p:nvSpPr>
        <p:spPr>
          <a:xfrm>
            <a:off x="1238250" y="4635550"/>
            <a:ext cx="171450" cy="171450"/>
          </a:xfrm>
          <a:prstGeom prst="ellipse">
            <a:avLst/>
          </a:prstGeom>
          <a:solidFill>
            <a:srgbClr val="5FB27B"/>
          </a:solidFill>
          <a:ln/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1657350" y="4502200"/>
            <a:ext cx="12429507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Look for the </a:t>
            </a:r>
            <a:pPr algn="l" indent="0" marL="0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trend, start/end points, peaks, troughs, </a:t>
            </a:r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comparisons.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 rot="-120000">
            <a:off x="13293609" y="8015288"/>
            <a:ext cx="375751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550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next up →</a:t>
            </a:r>
            <a:endParaRPr lang="en-US" sz="2550" dirty="0"/>
          </a:p>
        </p:txBody>
      </p:sp>
      <p:sp>
        <p:nvSpPr>
          <p:cNvPr id="16" name="Text 12"/>
          <p:cNvSpPr/>
          <p:nvPr/>
        </p:nvSpPr>
        <p:spPr>
          <a:xfrm>
            <a:off x="13039896" y="8482013"/>
            <a:ext cx="4009854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55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Vocabulary for Trends</a:t>
            </a:r>
            <a:endParaRPr lang="en-US" sz="2550" dirty="0"/>
          </a:p>
        </p:txBody>
      </p:sp>
      <p:sp>
        <p:nvSpPr>
          <p:cNvPr id="17" name="Text 13"/>
          <p:cNvSpPr/>
          <p:nvPr/>
        </p:nvSpPr>
        <p:spPr>
          <a:xfrm>
            <a:off x="1238250" y="9491663"/>
            <a:ext cx="633995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1 of 6 · IELTS Writing Task 1 · orangeenglish.nl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6907991" y="9491663"/>
            <a:ext cx="21795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2026-06-20T13:28:12Z</dcterms:created>
  <dcterms:modified xsi:type="dcterms:W3CDTF">2026-06-20T13:28:12Z</dcterms:modified>
</cp:coreProperties>
</file>