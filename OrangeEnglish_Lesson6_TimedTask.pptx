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final lesson. Everything comes together under real exam conditions: 20 minutes, one graph, one complete response.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Under a clock, students drop the structure, repeat simple verbs, and skip the overview. This lesson is about protecting the habits already learned when the pressure is on. Preview the four parts.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1. A simple budget for the 20 minutes: two to plan, fifteen to write, three to check. The timeline shows the proportions.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2. Aim for 150+ words, underlength answers are penalised regardless of quality. Use the rough per-paragraph guide so the total lands safely over the minimum.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3. Don't redraft mid-sentence. Keep planning notes to single words, write forward and fix at the end, and protect the last two to three minutes for checking.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Part 4. After finishing, score yourself against all four marking criteria. This mirrors exactly how the examiner reads your answer.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Examiner Mode. Twenty minutes well spent versus poorly spent. A weak answer stops mid-paragraph, skips the overview, and falls under 120 words. A strong one is complete, includes the overview, and finishes with time to spare.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Activity. Set a 20-minute timer and complete a full Task 1 response to the workbook prompt under real exam conditions, applying everything from Lessons 1 to 5.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course is complete. Students can now read, describe, and structure a Task 1 line graph response accurately, with a repeatable shape, a vocabulary and grammar toolkit, and the ability to finish inside 20 minutes. Congratulate them.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image" Target="../media/image-1-2.png"/><Relationship Id="rId3" Type="http://schemas.openxmlformats.org/officeDocument/2006/relationships/image" Target="../media/image-1-3.png"/><Relationship Id="rId4" Type="http://schemas.openxmlformats.org/officeDocument/2006/relationships/image" Target="../media/image-1-4.png"/><Relationship Id="rId5" Type="http://schemas.openxmlformats.org/officeDocument/2006/relationships/image" Target="../media/image-1-5.sv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image" Target="../media/image-2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image" Target="../media/image-3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image" Target="../media/image-5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image" Target="../media/image-8-2.png"/><Relationship Id="rId3" Type="http://schemas.openxmlformats.org/officeDocument/2006/relationships/image" Target="../media/image-8-3.png"/><Relationship Id="rId4" Type="http://schemas.openxmlformats.org/officeDocument/2006/relationships/image" Target="../media/image-8-4.sv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21000" y="857250"/>
            <a:ext cx="1428750" cy="1721421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11430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Lesson 6 · Writing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852612"/>
            <a:ext cx="336209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Timed</a:t>
            </a:r>
            <a:endParaRPr lang="en-US" sz="78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4630415" y="1943100"/>
            <a:ext cx="2503661" cy="1031677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4782815" y="1852612"/>
            <a:ext cx="2418747" cy="12430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</a:t>
            </a:r>
            <a:endParaRPr lang="en-US" sz="7800" dirty="0"/>
          </a:p>
        </p:txBody>
      </p:sp>
      <p:sp>
        <p:nvSpPr>
          <p:cNvPr id="9" name="Text 4"/>
          <p:cNvSpPr/>
          <p:nvPr/>
        </p:nvSpPr>
        <p:spPr>
          <a:xfrm>
            <a:off x="6981676" y="1852612"/>
            <a:ext cx="336128" cy="12430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78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.</a:t>
            </a:r>
            <a:endParaRPr lang="en-US" sz="7800" dirty="0"/>
          </a:p>
        </p:txBody>
      </p:sp>
      <p:sp>
        <p:nvSpPr>
          <p:cNvPr id="10" name="Text 5"/>
          <p:cNvSpPr/>
          <p:nvPr/>
        </p:nvSpPr>
        <p:spPr>
          <a:xfrm>
            <a:off x="1238250" y="3755827"/>
            <a:ext cx="10988040" cy="10668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7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it all together under real exam conditions: 20 minutes, one graph, one response.</a:t>
            </a:r>
            <a:endParaRPr lang="en-US" sz="2700" dirty="0"/>
          </a:p>
        </p:txBody>
      </p:sp>
      <p:pic>
        <p:nvPicPr>
          <p:cNvPr id="11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811250" y="6286500"/>
            <a:ext cx="2857500" cy="2857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WHY THIS MATTERS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5716250" cy="62954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05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Time pressure is where good habits get abandoned.</a:t>
            </a:r>
            <a:endParaRPr lang="en-US" sz="4050" dirty="0"/>
          </a:p>
        </p:txBody>
      </p:sp>
      <p:sp>
        <p:nvSpPr>
          <p:cNvPr id="7" name="Text 3"/>
          <p:cNvSpPr/>
          <p:nvPr/>
        </p:nvSpPr>
        <p:spPr>
          <a:xfrm>
            <a:off x="1238250" y="2334518"/>
            <a:ext cx="14716125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 a clock, students drop the structure, repeat simple verbs, and skip the overview. This lesson is about </a:t>
            </a:r>
            <a:pPr algn="l" indent="0" marL="0">
              <a:lnSpc>
                <a:spcPct val="150000"/>
              </a:lnSpc>
              <a:buNone/>
            </a:pPr>
            <a:r>
              <a:rPr lang="en-US" sz="255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protecting everything you've already learned </a:t>
            </a:r>
            <a:pPr algn="l" indent="0" marL="0">
              <a:lnSpc>
                <a:spcPct val="150000"/>
              </a:lnSpc>
              <a:buNone/>
            </a:pPr>
            <a:r>
              <a:rPr lang="en-US" sz="255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when the pressure is on.</a:t>
            </a:r>
            <a:endParaRPr lang="en-US" sz="2550" dirty="0"/>
          </a:p>
        </p:txBody>
      </p:sp>
      <p:sp>
        <p:nvSpPr>
          <p:cNvPr id="8" name="Text 4"/>
          <p:cNvSpPr/>
          <p:nvPr/>
        </p:nvSpPr>
        <p:spPr>
          <a:xfrm rot="-90000">
            <a:off x="1238250" y="3875187"/>
            <a:ext cx="16285845" cy="5238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0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in this lesson →</a:t>
            </a:r>
            <a:endParaRPr lang="en-US" sz="3000" dirty="0"/>
          </a:p>
        </p:txBody>
      </p:sp>
      <p:sp>
        <p:nvSpPr>
          <p:cNvPr id="9" name="Text 5"/>
          <p:cNvSpPr/>
          <p:nvPr/>
        </p:nvSpPr>
        <p:spPr>
          <a:xfrm>
            <a:off x="1238250" y="4606230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200" dirty="0"/>
          </a:p>
        </p:txBody>
      </p:sp>
      <p:sp>
        <p:nvSpPr>
          <p:cNvPr id="10" name="Text 6"/>
          <p:cNvSpPr/>
          <p:nvPr/>
        </p:nvSpPr>
        <p:spPr>
          <a:xfrm>
            <a:off x="1985070" y="4606230"/>
            <a:ext cx="2563304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 budgeting</a:t>
            </a:r>
            <a:endParaRPr lang="en-US" sz="2475" dirty="0"/>
          </a:p>
        </p:txBody>
      </p:sp>
      <p:sp>
        <p:nvSpPr>
          <p:cNvPr id="11" name="Text 7"/>
          <p:cNvSpPr/>
          <p:nvPr/>
        </p:nvSpPr>
        <p:spPr>
          <a:xfrm>
            <a:off x="8763000" y="4606230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200" dirty="0"/>
          </a:p>
        </p:txBody>
      </p:sp>
      <p:sp>
        <p:nvSpPr>
          <p:cNvPr id="12" name="Text 8"/>
          <p:cNvSpPr/>
          <p:nvPr/>
        </p:nvSpPr>
        <p:spPr>
          <a:xfrm>
            <a:off x="9509820" y="4606230"/>
            <a:ext cx="2947943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Word count target</a:t>
            </a:r>
            <a:endParaRPr lang="en-US" sz="2475" dirty="0"/>
          </a:p>
        </p:txBody>
      </p:sp>
      <p:sp>
        <p:nvSpPr>
          <p:cNvPr id="13" name="Text 9"/>
          <p:cNvSpPr/>
          <p:nvPr/>
        </p:nvSpPr>
        <p:spPr>
          <a:xfrm>
            <a:off x="1238250" y="5410126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200" dirty="0"/>
          </a:p>
        </p:txBody>
      </p:sp>
      <p:sp>
        <p:nvSpPr>
          <p:cNvPr id="14" name="Text 10"/>
          <p:cNvSpPr/>
          <p:nvPr/>
        </p:nvSpPr>
        <p:spPr>
          <a:xfrm>
            <a:off x="1985070" y="5410126"/>
            <a:ext cx="369241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Pacing under pressure</a:t>
            </a:r>
            <a:endParaRPr lang="en-US" sz="2475" dirty="0"/>
          </a:p>
        </p:txBody>
      </p:sp>
      <p:sp>
        <p:nvSpPr>
          <p:cNvPr id="15" name="Text 11"/>
          <p:cNvSpPr/>
          <p:nvPr/>
        </p:nvSpPr>
        <p:spPr>
          <a:xfrm>
            <a:off x="8763000" y="5410126"/>
            <a:ext cx="556320" cy="5181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90000"/>
              </a:lnSpc>
              <a:buNone/>
            </a:pPr>
            <a:r>
              <a:rPr lang="en-US" sz="420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04</a:t>
            </a:r>
            <a:endParaRPr lang="en-US" sz="4200" dirty="0"/>
          </a:p>
        </p:txBody>
      </p:sp>
      <p:sp>
        <p:nvSpPr>
          <p:cNvPr id="16" name="Text 12"/>
          <p:cNvSpPr/>
          <p:nvPr/>
        </p:nvSpPr>
        <p:spPr>
          <a:xfrm>
            <a:off x="9509820" y="5410126"/>
            <a:ext cx="2732008" cy="4938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Self-assessment</a:t>
            </a:r>
            <a:endParaRPr lang="en-US" sz="2475" dirty="0"/>
          </a:p>
        </p:txBody>
      </p:sp>
      <p:sp>
        <p:nvSpPr>
          <p:cNvPr id="17" name="Text 13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6910298" y="9491663"/>
            <a:ext cx="21565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1 · THE 20 MINUTES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 simple time budget.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492871"/>
            <a:ext cx="15621000" cy="4099247"/>
          </a:xfrm>
          <a:prstGeom prst="roundRect">
            <a:avLst>
              <a:gd name="adj" fmla="val 4182"/>
            </a:avLst>
          </a:prstGeom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1247775" y="2502396"/>
            <a:ext cx="2089770" cy="4080197"/>
          </a:xfrm>
          <a:prstGeom prst="rect">
            <a:avLst/>
          </a:prstGeom>
          <a:solidFill>
            <a:srgbClr val="5FB27B">
              <a:alpha val="18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3308970" y="2502396"/>
            <a:ext cx="28575" cy="4080197"/>
          </a:xfrm>
          <a:prstGeom prst="rect">
            <a:avLst/>
          </a:prstGeom>
          <a:solidFill>
            <a:srgbClr val="FAF8F3"/>
          </a:solidFill>
          <a:ln/>
        </p:spPr>
      </p:sp>
      <p:sp>
        <p:nvSpPr>
          <p:cNvPr id="10" name="Text 6"/>
          <p:cNvSpPr/>
          <p:nvPr/>
        </p:nvSpPr>
        <p:spPr>
          <a:xfrm>
            <a:off x="1609725" y="2883396"/>
            <a:ext cx="1471025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</a:t>
            </a:r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6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</a:t>
            </a:r>
            <a:endParaRPr lang="en-US" sz="4050" dirty="0"/>
          </a:p>
        </p:txBody>
      </p:sp>
      <p:sp>
        <p:nvSpPr>
          <p:cNvPr id="11" name="Text 7"/>
          <p:cNvSpPr/>
          <p:nvPr/>
        </p:nvSpPr>
        <p:spPr>
          <a:xfrm>
            <a:off x="1609725" y="3588246"/>
            <a:ext cx="1413495" cy="2651447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 the question, plan the overview and paragraph grouping.</a:t>
            </a:r>
            <a:endParaRPr lang="en-US" sz="2100" dirty="0"/>
          </a:p>
        </p:txBody>
      </p:sp>
      <p:sp>
        <p:nvSpPr>
          <p:cNvPr id="12" name="Shape 8"/>
          <p:cNvSpPr/>
          <p:nvPr/>
        </p:nvSpPr>
        <p:spPr>
          <a:xfrm>
            <a:off x="3337545" y="2502396"/>
            <a:ext cx="10782300" cy="4080197"/>
          </a:xfrm>
          <a:prstGeom prst="rect">
            <a:avLst/>
          </a:prstGeom>
          <a:solidFill>
            <a:srgbClr val="5FB27B">
              <a:alpha val="32000"/>
            </a:srgbClr>
          </a:solidFill>
          <a:ln/>
        </p:spPr>
      </p:sp>
      <p:sp>
        <p:nvSpPr>
          <p:cNvPr id="13" name="Shape 9"/>
          <p:cNvSpPr/>
          <p:nvPr/>
        </p:nvSpPr>
        <p:spPr>
          <a:xfrm>
            <a:off x="14091270" y="2502396"/>
            <a:ext cx="28575" cy="4080197"/>
          </a:xfrm>
          <a:prstGeom prst="rect">
            <a:avLst/>
          </a:prstGeom>
          <a:solidFill>
            <a:srgbClr val="FAF8F3"/>
          </a:solidFill>
          <a:ln/>
        </p:spPr>
      </p:sp>
      <p:sp>
        <p:nvSpPr>
          <p:cNvPr id="14" name="Text 10"/>
          <p:cNvSpPr/>
          <p:nvPr/>
        </p:nvSpPr>
        <p:spPr>
          <a:xfrm>
            <a:off x="3699495" y="2883396"/>
            <a:ext cx="1103280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3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</a:t>
            </a:r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6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</a:t>
            </a:r>
            <a:endParaRPr lang="en-US" sz="4050" dirty="0"/>
          </a:p>
        </p:txBody>
      </p:sp>
      <p:sp>
        <p:nvSpPr>
          <p:cNvPr id="15" name="Text 11"/>
          <p:cNvSpPr/>
          <p:nvPr/>
        </p:nvSpPr>
        <p:spPr>
          <a:xfrm>
            <a:off x="3699495" y="3588246"/>
            <a:ext cx="11032808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3A4A4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the full response, introduction, overview, two body paragraphs.</a:t>
            </a:r>
            <a:endParaRPr lang="en-US" sz="2100" dirty="0"/>
          </a:p>
        </p:txBody>
      </p:sp>
      <p:sp>
        <p:nvSpPr>
          <p:cNvPr id="16" name="Shape 12"/>
          <p:cNvSpPr/>
          <p:nvPr/>
        </p:nvSpPr>
        <p:spPr>
          <a:xfrm>
            <a:off x="14119845" y="2502396"/>
            <a:ext cx="2729880" cy="4080197"/>
          </a:xfrm>
          <a:prstGeom prst="rect">
            <a:avLst/>
          </a:prstGeom>
          <a:solidFill>
            <a:srgbClr val="F88B48">
              <a:alpha val="22000"/>
            </a:srgbClr>
          </a:solidFill>
          <a:ln/>
        </p:spPr>
      </p:sp>
      <p:sp>
        <p:nvSpPr>
          <p:cNvPr id="17" name="Text 13"/>
          <p:cNvSpPr/>
          <p:nvPr/>
        </p:nvSpPr>
        <p:spPr>
          <a:xfrm>
            <a:off x="14481795" y="2883396"/>
            <a:ext cx="2206578" cy="5524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4050" b="1" dirty="0">
                <a:solidFill>
                  <a:srgbClr val="F88B48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3</a:t>
            </a:r>
            <a:pPr algn="l" indent="0" marL="0">
              <a:lnSpc>
                <a:spcPct val="100000"/>
              </a:lnSpc>
              <a:buNone/>
            </a:pPr>
            <a:r>
              <a:rPr lang="en-US" sz="2100" b="1" dirty="0">
                <a:solidFill>
                  <a:srgbClr val="6B62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min</a:t>
            </a:r>
            <a:endParaRPr lang="en-US" sz="4050" dirty="0"/>
          </a:p>
        </p:txBody>
      </p:sp>
      <p:sp>
        <p:nvSpPr>
          <p:cNvPr id="18" name="Text 14"/>
          <p:cNvSpPr/>
          <p:nvPr/>
        </p:nvSpPr>
        <p:spPr>
          <a:xfrm>
            <a:off x="14481795" y="3588246"/>
            <a:ext cx="2082180" cy="115810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Check tense, overview, and word count.</a:t>
            </a:r>
            <a:endParaRPr lang="en-US" sz="2100" dirty="0"/>
          </a:p>
        </p:txBody>
      </p:sp>
      <p:sp>
        <p:nvSpPr>
          <p:cNvPr id="19" name="Text 15"/>
          <p:cNvSpPr/>
          <p:nvPr/>
        </p:nvSpPr>
        <p:spPr>
          <a:xfrm>
            <a:off x="1238250" y="6763569"/>
            <a:ext cx="491133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plan</a:t>
            </a:r>
            <a:endParaRPr lang="en-US" sz="2250" dirty="0"/>
          </a:p>
        </p:txBody>
      </p:sp>
      <p:sp>
        <p:nvSpPr>
          <p:cNvPr id="20" name="Text 16"/>
          <p:cNvSpPr/>
          <p:nvPr/>
        </p:nvSpPr>
        <p:spPr>
          <a:xfrm>
            <a:off x="8737029" y="6763569"/>
            <a:ext cx="571128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write</a:t>
            </a:r>
            <a:endParaRPr lang="en-US" sz="2250" dirty="0"/>
          </a:p>
        </p:txBody>
      </p:sp>
      <p:sp>
        <p:nvSpPr>
          <p:cNvPr id="21" name="Text 17"/>
          <p:cNvSpPr/>
          <p:nvPr/>
        </p:nvSpPr>
        <p:spPr>
          <a:xfrm>
            <a:off x="16315730" y="6763569"/>
            <a:ext cx="619720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check</a:t>
            </a:r>
            <a:endParaRPr lang="en-US" sz="2250" dirty="0"/>
          </a:p>
        </p:txBody>
      </p:sp>
      <p:sp>
        <p:nvSpPr>
          <p:cNvPr id="22" name="Text 18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23" name="Text 19"/>
          <p:cNvSpPr/>
          <p:nvPr/>
        </p:nvSpPr>
        <p:spPr>
          <a:xfrm>
            <a:off x="16908512" y="9491663"/>
            <a:ext cx="217438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2 · LENGTH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295400"/>
            <a:ext cx="213799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Aim for</a:t>
            </a:r>
            <a:endParaRPr lang="en-US" sz="4200" dirty="0"/>
          </a:p>
        </p:txBody>
      </p:sp>
      <p:pic>
        <p:nvPicPr>
          <p:cNvPr id="7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3336727" y="1323975"/>
            <a:ext cx="3308524" cy="616446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3451027" y="1295400"/>
            <a:ext cx="3387916" cy="685800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150+ words</a:t>
            </a:r>
            <a:endParaRPr lang="en-US" sz="4200" dirty="0"/>
          </a:p>
        </p:txBody>
      </p:sp>
      <p:sp>
        <p:nvSpPr>
          <p:cNvPr id="9" name="Text 4"/>
          <p:cNvSpPr/>
          <p:nvPr/>
        </p:nvSpPr>
        <p:spPr>
          <a:xfrm>
            <a:off x="6530950" y="1295400"/>
            <a:ext cx="480366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, not a word less.</a:t>
            </a:r>
            <a:endParaRPr lang="en-US" sz="4200" dirty="0"/>
          </a:p>
        </p:txBody>
      </p:sp>
      <p:sp>
        <p:nvSpPr>
          <p:cNvPr id="10" name="Text 5"/>
          <p:cNvSpPr/>
          <p:nvPr/>
        </p:nvSpPr>
        <p:spPr>
          <a:xfrm>
            <a:off x="1238250" y="2130921"/>
            <a:ext cx="1634490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Underlength answers are penalised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regardless of quality. Rough paragraph guide:</a:t>
            </a:r>
            <a:endParaRPr lang="en-US" sz="2400" dirty="0"/>
          </a:p>
        </p:txBody>
      </p:sp>
      <p:sp>
        <p:nvSpPr>
          <p:cNvPr id="11" name="Shape 6"/>
          <p:cNvSpPr/>
          <p:nvPr/>
        </p:nvSpPr>
        <p:spPr>
          <a:xfrm>
            <a:off x="1238250" y="3049116"/>
            <a:ext cx="7448550" cy="1095375"/>
          </a:xfrm>
          <a:prstGeom prst="roundRect">
            <a:avLst>
              <a:gd name="adj" fmla="val 1391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2" name="Text 7"/>
          <p:cNvSpPr/>
          <p:nvPr/>
        </p:nvSpPr>
        <p:spPr>
          <a:xfrm>
            <a:off x="1628775" y="3411066"/>
            <a:ext cx="2173999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Introduction</a:t>
            </a:r>
            <a:endParaRPr lang="en-US" sz="2400" dirty="0"/>
          </a:p>
        </p:txBody>
      </p:sp>
      <p:sp>
        <p:nvSpPr>
          <p:cNvPr id="13" name="Text 8"/>
          <p:cNvSpPr/>
          <p:nvPr/>
        </p:nvSpPr>
        <p:spPr>
          <a:xfrm>
            <a:off x="6510784" y="3344391"/>
            <a:ext cx="19640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25–30 words</a:t>
            </a:r>
            <a:endParaRPr lang="en-US" sz="3150" dirty="0"/>
          </a:p>
        </p:txBody>
      </p:sp>
      <p:sp>
        <p:nvSpPr>
          <p:cNvPr id="14" name="Shape 9"/>
          <p:cNvSpPr/>
          <p:nvPr/>
        </p:nvSpPr>
        <p:spPr>
          <a:xfrm>
            <a:off x="9220200" y="3049116"/>
            <a:ext cx="7448550" cy="1095375"/>
          </a:xfrm>
          <a:prstGeom prst="roundRect">
            <a:avLst>
              <a:gd name="adj" fmla="val 1391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5" name="Text 10"/>
          <p:cNvSpPr/>
          <p:nvPr/>
        </p:nvSpPr>
        <p:spPr>
          <a:xfrm>
            <a:off x="9610725" y="3411066"/>
            <a:ext cx="1629251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Overview</a:t>
            </a:r>
            <a:endParaRPr lang="en-US" sz="2400" dirty="0"/>
          </a:p>
        </p:txBody>
      </p:sp>
      <p:sp>
        <p:nvSpPr>
          <p:cNvPr id="16" name="Text 11"/>
          <p:cNvSpPr/>
          <p:nvPr/>
        </p:nvSpPr>
        <p:spPr>
          <a:xfrm>
            <a:off x="14486334" y="3344391"/>
            <a:ext cx="197108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30–40 words</a:t>
            </a:r>
            <a:endParaRPr lang="en-US" sz="3150" dirty="0"/>
          </a:p>
        </p:txBody>
      </p:sp>
      <p:sp>
        <p:nvSpPr>
          <p:cNvPr id="17" name="Shape 12"/>
          <p:cNvSpPr/>
          <p:nvPr/>
        </p:nvSpPr>
        <p:spPr>
          <a:xfrm>
            <a:off x="1238250" y="4430241"/>
            <a:ext cx="7448550" cy="1095375"/>
          </a:xfrm>
          <a:prstGeom prst="roundRect">
            <a:avLst>
              <a:gd name="adj" fmla="val 1391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8" name="Text 13"/>
          <p:cNvSpPr/>
          <p:nvPr/>
        </p:nvSpPr>
        <p:spPr>
          <a:xfrm>
            <a:off x="1628775" y="4792191"/>
            <a:ext cx="2991817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paragraph 1</a:t>
            </a:r>
            <a:endParaRPr lang="en-US" sz="2400" dirty="0"/>
          </a:p>
        </p:txBody>
      </p:sp>
      <p:sp>
        <p:nvSpPr>
          <p:cNvPr id="19" name="Text 14"/>
          <p:cNvSpPr/>
          <p:nvPr/>
        </p:nvSpPr>
        <p:spPr>
          <a:xfrm>
            <a:off x="6510784" y="4725516"/>
            <a:ext cx="19640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40–50 words</a:t>
            </a:r>
            <a:endParaRPr lang="en-US" sz="3150" dirty="0"/>
          </a:p>
        </p:txBody>
      </p:sp>
      <p:sp>
        <p:nvSpPr>
          <p:cNvPr id="20" name="Shape 15"/>
          <p:cNvSpPr/>
          <p:nvPr/>
        </p:nvSpPr>
        <p:spPr>
          <a:xfrm>
            <a:off x="9220200" y="4430241"/>
            <a:ext cx="7448550" cy="1095375"/>
          </a:xfrm>
          <a:prstGeom prst="roundRect">
            <a:avLst>
              <a:gd name="adj" fmla="val 13913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21" name="Text 16"/>
          <p:cNvSpPr/>
          <p:nvPr/>
        </p:nvSpPr>
        <p:spPr>
          <a:xfrm>
            <a:off x="9610725" y="4792191"/>
            <a:ext cx="3059348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Body paragraph 2</a:t>
            </a:r>
            <a:endParaRPr lang="en-US" sz="2400" dirty="0"/>
          </a:p>
        </p:txBody>
      </p:sp>
      <p:sp>
        <p:nvSpPr>
          <p:cNvPr id="22" name="Text 17"/>
          <p:cNvSpPr/>
          <p:nvPr/>
        </p:nvSpPr>
        <p:spPr>
          <a:xfrm>
            <a:off x="14492734" y="4725516"/>
            <a:ext cx="1964040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40–50 words</a:t>
            </a:r>
            <a:endParaRPr lang="en-US" sz="3150" dirty="0"/>
          </a:p>
        </p:txBody>
      </p:sp>
      <p:sp>
        <p:nvSpPr>
          <p:cNvPr id="23" name="Text 18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24" name="Text 19"/>
          <p:cNvSpPr/>
          <p:nvPr/>
        </p:nvSpPr>
        <p:spPr>
          <a:xfrm>
            <a:off x="16902038" y="9491663"/>
            <a:ext cx="223912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3 · STAYING ON TRACK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Don't redraft mid-sentence.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454771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47825" y="2788146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01</a:t>
            </a:r>
            <a:endParaRPr lang="en-US" sz="4350" dirty="0"/>
          </a:p>
        </p:txBody>
      </p:sp>
      <p:sp>
        <p:nvSpPr>
          <p:cNvPr id="9" name="Text 5"/>
          <p:cNvSpPr/>
          <p:nvPr/>
        </p:nvSpPr>
        <p:spPr>
          <a:xfrm>
            <a:off x="2466975" y="2821484"/>
            <a:ext cx="3401264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Keep planning notes to</a:t>
            </a:r>
            <a:endParaRPr lang="en-US" sz="240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5778698" y="2788146"/>
            <a:ext cx="3789015" cy="460995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5854898" y="2821484"/>
            <a:ext cx="4000277" cy="4048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single words or numbers</a:t>
            </a:r>
            <a:endParaRPr lang="en-US" sz="2400" dirty="0"/>
          </a:p>
        </p:txBody>
      </p:sp>
      <p:sp>
        <p:nvSpPr>
          <p:cNvPr id="12" name="Text 7"/>
          <p:cNvSpPr/>
          <p:nvPr/>
        </p:nvSpPr>
        <p:spPr>
          <a:xfrm>
            <a:off x="9491514" y="2821484"/>
            <a:ext cx="2906588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not full sentences.</a:t>
            </a:r>
            <a:endParaRPr lang="en-US" sz="2400" dirty="0"/>
          </a:p>
        </p:txBody>
      </p:sp>
      <p:sp>
        <p:nvSpPr>
          <p:cNvPr id="13" name="Shape 8"/>
          <p:cNvSpPr/>
          <p:nvPr/>
        </p:nvSpPr>
        <p:spPr>
          <a:xfrm>
            <a:off x="1238250" y="3914924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4" name="Text 9"/>
          <p:cNvSpPr/>
          <p:nvPr/>
        </p:nvSpPr>
        <p:spPr>
          <a:xfrm>
            <a:off x="1647825" y="4248299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02</a:t>
            </a:r>
            <a:endParaRPr lang="en-US" sz="4350" dirty="0"/>
          </a:p>
        </p:txBody>
      </p:sp>
      <p:pic>
        <p:nvPicPr>
          <p:cNvPr id="15" name="Image 3" descr="preencoded.png">    </p:cNvPr>
          <p:cNvPicPr>
            <a:picLocks noChangeAspect="1"/>
          </p:cNvPicPr>
          <p:nvPr/>
        </p:nvPicPr>
        <p:blipFill>
          <a:blip r:embed="rId4">
            <a:alphaModFix amt="95000"/>
          </a:blip>
          <a:stretch>
            <a:fillRect/>
          </a:stretch>
        </p:blipFill>
        <p:spPr>
          <a:xfrm>
            <a:off x="2390775" y="4248299"/>
            <a:ext cx="2172444" cy="460995"/>
          </a:xfrm>
          <a:prstGeom prst="rect">
            <a:avLst/>
          </a:prstGeom>
        </p:spPr>
      </p:pic>
      <p:sp>
        <p:nvSpPr>
          <p:cNvPr id="16" name="Text 10"/>
          <p:cNvSpPr/>
          <p:nvPr/>
        </p:nvSpPr>
        <p:spPr>
          <a:xfrm>
            <a:off x="2466975" y="4281636"/>
            <a:ext cx="2222049" cy="4048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forward</a:t>
            </a:r>
            <a:endParaRPr lang="en-US" sz="2400" dirty="0"/>
          </a:p>
        </p:txBody>
      </p:sp>
      <p:sp>
        <p:nvSpPr>
          <p:cNvPr id="17" name="Text 11"/>
          <p:cNvSpPr/>
          <p:nvPr/>
        </p:nvSpPr>
        <p:spPr>
          <a:xfrm>
            <a:off x="4487019" y="4281636"/>
            <a:ext cx="8896357" cy="4048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fix small errors at the end, not while you're mid-paragraph.</a:t>
            </a:r>
            <a:endParaRPr lang="en-US" sz="2400" dirty="0"/>
          </a:p>
        </p:txBody>
      </p:sp>
      <p:sp>
        <p:nvSpPr>
          <p:cNvPr id="18" name="Shape 12"/>
          <p:cNvSpPr/>
          <p:nvPr/>
        </p:nvSpPr>
        <p:spPr>
          <a:xfrm>
            <a:off x="1238250" y="5375077"/>
            <a:ext cx="15430500" cy="1136303"/>
          </a:xfrm>
          <a:prstGeom prst="roundRect">
            <a:avLst>
              <a:gd name="adj" fmla="val 15088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19" name="Text 13"/>
          <p:cNvSpPr/>
          <p:nvPr/>
        </p:nvSpPr>
        <p:spPr>
          <a:xfrm>
            <a:off x="1647825" y="5708452"/>
            <a:ext cx="609600" cy="50765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85000"/>
              </a:lnSpc>
              <a:buNone/>
            </a:pPr>
            <a:r>
              <a:rPr lang="en-US" sz="4350" b="1" dirty="0">
                <a:solidFill>
                  <a:srgbClr val="5FB27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03</a:t>
            </a:r>
            <a:endParaRPr lang="en-US" sz="4350" dirty="0"/>
          </a:p>
        </p:txBody>
      </p:sp>
      <p:sp>
        <p:nvSpPr>
          <p:cNvPr id="20" name="Text 14"/>
          <p:cNvSpPr/>
          <p:nvPr/>
        </p:nvSpPr>
        <p:spPr>
          <a:xfrm>
            <a:off x="2466975" y="5708452"/>
            <a:ext cx="13267053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 the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last 2–3 minutes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checking, even if it means cutting a sentence short.</a:t>
            </a:r>
            <a:endParaRPr lang="en-US" sz="2400" dirty="0"/>
          </a:p>
        </p:txBody>
      </p:sp>
      <p:sp>
        <p:nvSpPr>
          <p:cNvPr id="21" name="Text 15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22" name="Text 16"/>
          <p:cNvSpPr/>
          <p:nvPr/>
        </p:nvSpPr>
        <p:spPr>
          <a:xfrm>
            <a:off x="16914093" y="9491663"/>
            <a:ext cx="21185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5</a:t>
            </a:r>
            <a:endParaRPr lang="en-US" sz="1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914400"/>
            <a:ext cx="17392650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PART 4 · AFTER YOU FINISH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>
            <a:off x="1238250" y="13239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Score yourself against all four criteria.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397621"/>
            <a:ext cx="7543800" cy="1956346"/>
          </a:xfrm>
          <a:prstGeom prst="roundRect">
            <a:avLst>
              <a:gd name="adj" fmla="val 9738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8" name="Shape 4"/>
          <p:cNvSpPr/>
          <p:nvPr/>
        </p:nvSpPr>
        <p:spPr>
          <a:xfrm>
            <a:off x="1238250" y="4344442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9" name="Shape 5"/>
          <p:cNvSpPr/>
          <p:nvPr/>
        </p:nvSpPr>
        <p:spPr>
          <a:xfrm>
            <a:off x="1238250" y="2397621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0" name="Shape 6"/>
          <p:cNvSpPr/>
          <p:nvPr/>
        </p:nvSpPr>
        <p:spPr>
          <a:xfrm>
            <a:off x="1238250" y="2397621"/>
            <a:ext cx="76200" cy="1956346"/>
          </a:xfrm>
          <a:prstGeom prst="rect">
            <a:avLst/>
          </a:prstGeom>
          <a:solidFill>
            <a:srgbClr val="5FB27B"/>
          </a:solidFill>
          <a:ln/>
        </p:spPr>
      </p:sp>
      <p:sp>
        <p:nvSpPr>
          <p:cNvPr id="11" name="Shape 7"/>
          <p:cNvSpPr/>
          <p:nvPr/>
        </p:nvSpPr>
        <p:spPr>
          <a:xfrm>
            <a:off x="8772525" y="2397621"/>
            <a:ext cx="9525" cy="1956346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2" name="Text 8"/>
          <p:cNvSpPr/>
          <p:nvPr/>
        </p:nvSpPr>
        <p:spPr>
          <a:xfrm>
            <a:off x="1714500" y="2750046"/>
            <a:ext cx="73237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Task Achievement</a:t>
            </a:r>
            <a:endParaRPr lang="en-US" sz="2400" dirty="0"/>
          </a:p>
        </p:txBody>
      </p:sp>
      <p:sp>
        <p:nvSpPr>
          <p:cNvPr id="13" name="Text 9"/>
          <p:cNvSpPr/>
          <p:nvPr/>
        </p:nvSpPr>
        <p:spPr>
          <a:xfrm>
            <a:off x="1714500" y="3254871"/>
            <a:ext cx="6857714" cy="78477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Every category covered, overview included, 150+ words.</a:t>
            </a:r>
            <a:endParaRPr lang="en-US" sz="2100" dirty="0"/>
          </a:p>
        </p:txBody>
      </p:sp>
      <p:sp>
        <p:nvSpPr>
          <p:cNvPr id="14" name="Shape 10"/>
          <p:cNvSpPr/>
          <p:nvPr/>
        </p:nvSpPr>
        <p:spPr>
          <a:xfrm>
            <a:off x="9315450" y="2397621"/>
            <a:ext cx="7543800" cy="1956346"/>
          </a:xfrm>
          <a:prstGeom prst="roundRect">
            <a:avLst>
              <a:gd name="adj" fmla="val 9738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15" name="Shape 11"/>
          <p:cNvSpPr/>
          <p:nvPr/>
        </p:nvSpPr>
        <p:spPr>
          <a:xfrm>
            <a:off x="9315450" y="4344442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6" name="Shape 12"/>
          <p:cNvSpPr/>
          <p:nvPr/>
        </p:nvSpPr>
        <p:spPr>
          <a:xfrm>
            <a:off x="9315450" y="2397621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7" name="Shape 13"/>
          <p:cNvSpPr/>
          <p:nvPr/>
        </p:nvSpPr>
        <p:spPr>
          <a:xfrm>
            <a:off x="9315450" y="2397621"/>
            <a:ext cx="76200" cy="1956346"/>
          </a:xfrm>
          <a:prstGeom prst="rect">
            <a:avLst/>
          </a:prstGeom>
          <a:solidFill>
            <a:srgbClr val="5FB27B"/>
          </a:solidFill>
          <a:ln/>
        </p:spPr>
      </p:sp>
      <p:sp>
        <p:nvSpPr>
          <p:cNvPr id="18" name="Shape 14"/>
          <p:cNvSpPr/>
          <p:nvPr/>
        </p:nvSpPr>
        <p:spPr>
          <a:xfrm>
            <a:off x="16849725" y="2397621"/>
            <a:ext cx="9525" cy="1956346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19" name="Text 15"/>
          <p:cNvSpPr/>
          <p:nvPr/>
        </p:nvSpPr>
        <p:spPr>
          <a:xfrm>
            <a:off x="9791700" y="2750046"/>
            <a:ext cx="73237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Coherence &amp; Cohesion</a:t>
            </a:r>
            <a:endParaRPr lang="en-US" sz="2400" dirty="0"/>
          </a:p>
        </p:txBody>
      </p:sp>
      <p:sp>
        <p:nvSpPr>
          <p:cNvPr id="20" name="Text 16"/>
          <p:cNvSpPr/>
          <p:nvPr/>
        </p:nvSpPr>
        <p:spPr>
          <a:xfrm>
            <a:off x="9791700" y="3254871"/>
            <a:ext cx="732377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Clear four-part structure, linking words used.</a:t>
            </a:r>
            <a:endParaRPr lang="en-US" sz="2100" dirty="0"/>
          </a:p>
        </p:txBody>
      </p:sp>
      <p:sp>
        <p:nvSpPr>
          <p:cNvPr id="21" name="Shape 17"/>
          <p:cNvSpPr/>
          <p:nvPr/>
        </p:nvSpPr>
        <p:spPr>
          <a:xfrm>
            <a:off x="1238250" y="4677817"/>
            <a:ext cx="7543800" cy="1583010"/>
          </a:xfrm>
          <a:prstGeom prst="roundRect">
            <a:avLst>
              <a:gd name="adj" fmla="val 12034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22" name="Shape 18"/>
          <p:cNvSpPr/>
          <p:nvPr/>
        </p:nvSpPr>
        <p:spPr>
          <a:xfrm>
            <a:off x="1238250" y="6251302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23" name="Shape 19"/>
          <p:cNvSpPr/>
          <p:nvPr/>
        </p:nvSpPr>
        <p:spPr>
          <a:xfrm>
            <a:off x="1238250" y="4677817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24" name="Shape 20"/>
          <p:cNvSpPr/>
          <p:nvPr/>
        </p:nvSpPr>
        <p:spPr>
          <a:xfrm>
            <a:off x="1238250" y="4677817"/>
            <a:ext cx="76200" cy="1583010"/>
          </a:xfrm>
          <a:prstGeom prst="rect">
            <a:avLst/>
          </a:prstGeom>
          <a:solidFill>
            <a:srgbClr val="F88B48"/>
          </a:solidFill>
          <a:ln/>
        </p:spPr>
      </p:sp>
      <p:sp>
        <p:nvSpPr>
          <p:cNvPr id="25" name="Shape 21"/>
          <p:cNvSpPr/>
          <p:nvPr/>
        </p:nvSpPr>
        <p:spPr>
          <a:xfrm>
            <a:off x="8772525" y="4677817"/>
            <a:ext cx="9525" cy="1583010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26" name="Text 22"/>
          <p:cNvSpPr/>
          <p:nvPr/>
        </p:nvSpPr>
        <p:spPr>
          <a:xfrm>
            <a:off x="1714500" y="5030242"/>
            <a:ext cx="73237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Lexical Resource</a:t>
            </a:r>
            <a:endParaRPr lang="en-US" sz="2400" dirty="0"/>
          </a:p>
        </p:txBody>
      </p:sp>
      <p:sp>
        <p:nvSpPr>
          <p:cNvPr id="27" name="Text 23"/>
          <p:cNvSpPr/>
          <p:nvPr/>
        </p:nvSpPr>
        <p:spPr>
          <a:xfrm>
            <a:off x="1714500" y="5535067"/>
            <a:ext cx="732377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Varied verbs and adverbs, no repetition.</a:t>
            </a:r>
            <a:endParaRPr lang="en-US" sz="2100" dirty="0"/>
          </a:p>
        </p:txBody>
      </p:sp>
      <p:sp>
        <p:nvSpPr>
          <p:cNvPr id="28" name="Shape 24"/>
          <p:cNvSpPr/>
          <p:nvPr/>
        </p:nvSpPr>
        <p:spPr>
          <a:xfrm>
            <a:off x="9315450" y="4677817"/>
            <a:ext cx="7543800" cy="1583010"/>
          </a:xfrm>
          <a:prstGeom prst="roundRect">
            <a:avLst>
              <a:gd name="adj" fmla="val 12034"/>
            </a:avLst>
          </a:prstGeom>
          <a:solidFill>
            <a:srgbClr val="FFFFFF">
              <a:alpha val="55000"/>
            </a:srgbClr>
          </a:solidFill>
          <a:ln/>
        </p:spPr>
      </p:sp>
      <p:sp>
        <p:nvSpPr>
          <p:cNvPr id="29" name="Shape 25"/>
          <p:cNvSpPr/>
          <p:nvPr/>
        </p:nvSpPr>
        <p:spPr>
          <a:xfrm>
            <a:off x="9315450" y="6251302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30" name="Shape 26"/>
          <p:cNvSpPr/>
          <p:nvPr/>
        </p:nvSpPr>
        <p:spPr>
          <a:xfrm>
            <a:off x="9315450" y="4677817"/>
            <a:ext cx="7543800" cy="9525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31" name="Shape 27"/>
          <p:cNvSpPr/>
          <p:nvPr/>
        </p:nvSpPr>
        <p:spPr>
          <a:xfrm>
            <a:off x="9315450" y="4677817"/>
            <a:ext cx="76200" cy="1583010"/>
          </a:xfrm>
          <a:prstGeom prst="rect">
            <a:avLst/>
          </a:prstGeom>
          <a:solidFill>
            <a:srgbClr val="F88B48"/>
          </a:solidFill>
          <a:ln/>
        </p:spPr>
      </p:sp>
      <p:sp>
        <p:nvSpPr>
          <p:cNvPr id="32" name="Shape 28"/>
          <p:cNvSpPr/>
          <p:nvPr/>
        </p:nvSpPr>
        <p:spPr>
          <a:xfrm>
            <a:off x="16849725" y="4677817"/>
            <a:ext cx="9525" cy="1583010"/>
          </a:xfrm>
          <a:prstGeom prst="rect">
            <a:avLst/>
          </a:prstGeom>
          <a:solidFill>
            <a:srgbClr val="292929">
              <a:alpha val="8000"/>
            </a:srgbClr>
          </a:solidFill>
          <a:ln/>
        </p:spPr>
      </p:sp>
      <p:sp>
        <p:nvSpPr>
          <p:cNvPr id="33" name="Text 29"/>
          <p:cNvSpPr/>
          <p:nvPr/>
        </p:nvSpPr>
        <p:spPr>
          <a:xfrm>
            <a:off x="9791700" y="5030242"/>
            <a:ext cx="7323773" cy="4095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4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Grammatical Range &amp; Accuracy</a:t>
            </a:r>
            <a:endParaRPr lang="en-US" sz="2400" dirty="0"/>
          </a:p>
        </p:txBody>
      </p:sp>
      <p:sp>
        <p:nvSpPr>
          <p:cNvPr id="34" name="Text 30"/>
          <p:cNvSpPr/>
          <p:nvPr/>
        </p:nvSpPr>
        <p:spPr>
          <a:xfrm>
            <a:off x="9791700" y="5535067"/>
            <a:ext cx="7323773" cy="4114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21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Consistent tense, correct comparatives.</a:t>
            </a:r>
            <a:endParaRPr lang="en-US" sz="2100" dirty="0"/>
          </a:p>
        </p:txBody>
      </p:sp>
      <p:sp>
        <p:nvSpPr>
          <p:cNvPr id="35" name="Text 31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36" name="Text 32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</a:t>
            </a:r>
            <a:endParaRPr lang="en-US" sz="1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914400"/>
            <a:ext cx="16285845" cy="5429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examiner mode</a:t>
            </a:r>
            <a:endParaRPr lang="en-US" sz="3150" dirty="0"/>
          </a:p>
        </p:txBody>
      </p:sp>
      <p:sp>
        <p:nvSpPr>
          <p:cNvPr id="6" name="Text 2"/>
          <p:cNvSpPr/>
          <p:nvPr/>
        </p:nvSpPr>
        <p:spPr>
          <a:xfrm>
            <a:off x="1238250" y="1514475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20 minutes, well spent vs. poorly spent.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645271"/>
            <a:ext cx="15430500" cy="2240756"/>
          </a:xfrm>
          <a:prstGeom prst="roundRect">
            <a:avLst>
              <a:gd name="adj" fmla="val 7651"/>
            </a:avLst>
          </a:prstGeom>
          <a:solidFill>
            <a:srgbClr val="FFFFFF">
              <a:alpha val="50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sp>
        <p:nvSpPr>
          <p:cNvPr id="8" name="Text 4"/>
          <p:cNvSpPr/>
          <p:nvPr/>
        </p:nvSpPr>
        <p:spPr>
          <a:xfrm>
            <a:off x="1666875" y="3016746"/>
            <a:ext cx="239316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✗</a:t>
            </a:r>
            <a:endParaRPr lang="en-US" sz="2250" dirty="0"/>
          </a:p>
        </p:txBody>
      </p:sp>
      <p:sp>
        <p:nvSpPr>
          <p:cNvPr id="9" name="Text 5"/>
          <p:cNvSpPr/>
          <p:nvPr/>
        </p:nvSpPr>
        <p:spPr>
          <a:xfrm>
            <a:off x="2001441" y="3052465"/>
            <a:ext cx="901675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B0421F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WEAK</a:t>
            </a:r>
            <a:endParaRPr lang="en-US" sz="1800" dirty="0"/>
          </a:p>
        </p:txBody>
      </p:sp>
      <p:sp>
        <p:nvSpPr>
          <p:cNvPr id="10" name="Text 6"/>
          <p:cNvSpPr/>
          <p:nvPr/>
        </p:nvSpPr>
        <p:spPr>
          <a:xfrm>
            <a:off x="1666875" y="3535859"/>
            <a:ext cx="16030575" cy="52149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625" dirty="0">
                <a:solidFill>
                  <a:srgbClr val="9A8F8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Answer stops mid-body paragraph, no overview, under 120 words.</a:t>
            </a:r>
            <a:endParaRPr lang="en-US" sz="2625" dirty="0"/>
          </a:p>
        </p:txBody>
      </p:sp>
      <p:sp>
        <p:nvSpPr>
          <p:cNvPr id="11" name="Text 7"/>
          <p:cNvSpPr/>
          <p:nvPr/>
        </p:nvSpPr>
        <p:spPr>
          <a:xfrm>
            <a:off x="1666875" y="4152602"/>
            <a:ext cx="160305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B0421F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ran out of time, no plan, no check</a:t>
            </a:r>
            <a:endParaRPr lang="en-US" sz="2250" dirty="0"/>
          </a:p>
        </p:txBody>
      </p:sp>
      <p:sp>
        <p:nvSpPr>
          <p:cNvPr id="12" name="Shape 8"/>
          <p:cNvSpPr/>
          <p:nvPr/>
        </p:nvSpPr>
        <p:spPr>
          <a:xfrm>
            <a:off x="1238250" y="5267027"/>
            <a:ext cx="15430500" cy="2724150"/>
          </a:xfrm>
          <a:prstGeom prst="roundRect">
            <a:avLst>
              <a:gd name="adj" fmla="val 6294"/>
            </a:avLst>
          </a:prstGeom>
          <a:solidFill>
            <a:srgbClr val="5FB27B">
              <a:alpha val="10000"/>
            </a:srgbClr>
          </a:solidFill>
          <a:ln w="9525">
            <a:solidFill>
              <a:srgbClr val="5FB27B">
                <a:alpha val="35000"/>
              </a:srgbClr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1666875" y="5638502"/>
            <a:ext cx="294605" cy="385763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✓</a:t>
            </a:r>
            <a:endParaRPr lang="en-US" sz="2250" dirty="0"/>
          </a:p>
        </p:txBody>
      </p:sp>
      <p:sp>
        <p:nvSpPr>
          <p:cNvPr id="14" name="Text 10"/>
          <p:cNvSpPr/>
          <p:nvPr/>
        </p:nvSpPr>
        <p:spPr>
          <a:xfrm>
            <a:off x="2056730" y="5674221"/>
            <a:ext cx="1620411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150" kern="0" dirty="0">
                <a:solidFill>
                  <a:srgbClr val="3F8A5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STRONGER</a:t>
            </a:r>
            <a:endParaRPr lang="en-US" sz="1800" dirty="0"/>
          </a:p>
        </p:txBody>
      </p:sp>
      <p:pic>
        <p:nvPicPr>
          <p:cNvPr id="15" name="Image 2" descr="preencoded.png">    </p:cNvPr>
          <p:cNvPicPr>
            <a:picLocks noChangeAspect="1"/>
          </p:cNvPicPr>
          <p:nvPr/>
        </p:nvPicPr>
        <p:blipFill>
          <a:blip r:embed="rId3">
            <a:alphaModFix amt="95000"/>
          </a:blip>
          <a:stretch>
            <a:fillRect/>
          </a:stretch>
        </p:blipFill>
        <p:spPr>
          <a:xfrm>
            <a:off x="1590675" y="6157615"/>
            <a:ext cx="5842471" cy="502444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1666875" y="6195715"/>
            <a:ext cx="6259078" cy="442913"/>
          </a:xfrm>
          <a:prstGeom prst="rect">
            <a:avLst/>
          </a:prstGeom>
          <a:noFill/>
          <a:ln/>
        </p:spPr>
        <p:txBody>
          <a:bodyPr wrap="non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62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Complete four-paragraph response</a:t>
            </a:r>
            <a:endParaRPr lang="en-US" sz="2625" dirty="0"/>
          </a:p>
        </p:txBody>
      </p:sp>
      <p:sp>
        <p:nvSpPr>
          <p:cNvPr id="17" name="Text 12"/>
          <p:cNvSpPr/>
          <p:nvPr/>
        </p:nvSpPr>
        <p:spPr>
          <a:xfrm>
            <a:off x="1666875" y="6195715"/>
            <a:ext cx="14418737" cy="92630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625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overview included, 165 words, finished with time to spare.</a:t>
            </a:r>
            <a:endParaRPr lang="en-US" sz="2625" dirty="0"/>
          </a:p>
        </p:txBody>
      </p:sp>
      <p:sp>
        <p:nvSpPr>
          <p:cNvPr id="18" name="Text 13"/>
          <p:cNvSpPr/>
          <p:nvPr/>
        </p:nvSpPr>
        <p:spPr>
          <a:xfrm>
            <a:off x="1666875" y="7257752"/>
            <a:ext cx="16030575" cy="4000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250" b="1" dirty="0">
                <a:solidFill>
                  <a:srgbClr val="3F8A5B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planned, paced, and checked</a:t>
            </a:r>
            <a:endParaRPr lang="en-US" sz="2250" dirty="0"/>
          </a:p>
        </p:txBody>
      </p:sp>
      <p:sp>
        <p:nvSpPr>
          <p:cNvPr id="19" name="Text 14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20" name="Text 15"/>
          <p:cNvSpPr/>
          <p:nvPr/>
        </p:nvSpPr>
        <p:spPr>
          <a:xfrm>
            <a:off x="16920344" y="9491663"/>
            <a:ext cx="205606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7</a:t>
            </a:r>
            <a:endParaRPr lang="en-US" sz="1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1238250" y="1028700"/>
            <a:ext cx="1526768" cy="31432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b="1" spc="300" kern="0" dirty="0">
                <a:solidFill>
                  <a:srgbClr val="5FB27B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ACTIVITY</a:t>
            </a:r>
            <a:endParaRPr lang="en-US" sz="1800" dirty="0"/>
          </a:p>
        </p:txBody>
      </p:sp>
      <p:sp>
        <p:nvSpPr>
          <p:cNvPr id="6" name="Text 2"/>
          <p:cNvSpPr/>
          <p:nvPr/>
        </p:nvSpPr>
        <p:spPr>
          <a:xfrm rot="-120000">
            <a:off x="2854896" y="914400"/>
            <a:ext cx="1498283" cy="4381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1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your turn!</a:t>
            </a:r>
            <a:endParaRPr lang="en-US" sz="3150" dirty="0"/>
          </a:p>
        </p:txBody>
      </p:sp>
      <p:sp>
        <p:nvSpPr>
          <p:cNvPr id="7" name="Text 3"/>
          <p:cNvSpPr/>
          <p:nvPr/>
        </p:nvSpPr>
        <p:spPr>
          <a:xfrm>
            <a:off x="1238250" y="1447800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Set a timer for 20 minutes.</a:t>
            </a:r>
            <a:endParaRPr lang="en-US" sz="4200" dirty="0"/>
          </a:p>
        </p:txBody>
      </p:sp>
      <p:sp>
        <p:nvSpPr>
          <p:cNvPr id="8" name="Text 4"/>
          <p:cNvSpPr/>
          <p:nvPr/>
        </p:nvSpPr>
        <p:spPr>
          <a:xfrm>
            <a:off x="1238250" y="2197596"/>
            <a:ext cx="15304770" cy="140523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Using the graph prompt in your workbook, complete a full Task 1 response under real timed conditions. Apply everything from Lessons 1–5, </a:t>
            </a:r>
            <a:pPr algn="l" indent="0" marL="0">
              <a:lnSpc>
                <a:spcPct val="145000"/>
              </a:lnSpc>
              <a:buNone/>
            </a:pPr>
            <a:r>
              <a:rPr lang="en-US" sz="2475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vocabulary, grammar, structure, </a:t>
            </a:r>
            <a:pPr algn="l" indent="0" marL="0">
              <a:lnSpc>
                <a:spcPct val="145000"/>
              </a:lnSpc>
              <a:buNone/>
            </a:pPr>
            <a:r>
              <a:rPr lang="en-US" sz="2475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and your self-editing checklist.</a:t>
            </a:r>
            <a:endParaRPr lang="en-US" sz="2475" dirty="0"/>
          </a:p>
        </p:txBody>
      </p:sp>
      <p:sp>
        <p:nvSpPr>
          <p:cNvPr id="9" name="Shape 5"/>
          <p:cNvSpPr/>
          <p:nvPr/>
        </p:nvSpPr>
        <p:spPr>
          <a:xfrm>
            <a:off x="1238250" y="4040981"/>
            <a:ext cx="14859000" cy="2876550"/>
          </a:xfrm>
          <a:prstGeom prst="roundRect">
            <a:avLst>
              <a:gd name="adj" fmla="val 7947"/>
            </a:avLst>
          </a:prstGeom>
          <a:solidFill>
            <a:srgbClr val="FFFFFF">
              <a:alpha val="55000"/>
            </a:srgbClr>
          </a:solidFill>
          <a:ln w="9525">
            <a:solidFill>
              <a:srgbClr val="292929">
                <a:alpha val="8000"/>
              </a:srgbClr>
            </a:solidFill>
            <a:prstDash val="solid"/>
          </a:ln>
        </p:spPr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819275" y="4526756"/>
            <a:ext cx="1905000" cy="1905000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4238625" y="4925392"/>
            <a:ext cx="6499979" cy="54099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0000"/>
              </a:lnSpc>
              <a:buNone/>
            </a:pPr>
            <a:r>
              <a:rPr lang="en-US" sz="36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2 plan · 15 write · 3 check</a:t>
            </a:r>
            <a:endParaRPr lang="en-US" sz="3600" dirty="0"/>
          </a:p>
        </p:txBody>
      </p:sp>
      <p:sp>
        <p:nvSpPr>
          <p:cNvPr id="12" name="Text 7"/>
          <p:cNvSpPr/>
          <p:nvPr/>
        </p:nvSpPr>
        <p:spPr>
          <a:xfrm>
            <a:off x="4238625" y="5599733"/>
            <a:ext cx="6499979" cy="4714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270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this is the real thing, good luck!</a:t>
            </a:r>
            <a:endParaRPr lang="en-US" sz="2700" dirty="0"/>
          </a:p>
        </p:txBody>
      </p:sp>
      <p:sp>
        <p:nvSpPr>
          <p:cNvPr id="13" name="Text 8"/>
          <p:cNvSpPr/>
          <p:nvPr/>
        </p:nvSpPr>
        <p:spPr>
          <a:xfrm>
            <a:off x="1238250" y="9491663"/>
            <a:ext cx="6393567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IELTS Writing Task 1 · orangeenglish.nl</a:t>
            </a:r>
            <a:endParaRPr lang="en-US" sz="1800" dirty="0"/>
          </a:p>
        </p:txBody>
      </p:sp>
      <p:sp>
        <p:nvSpPr>
          <p:cNvPr id="14" name="Text 9"/>
          <p:cNvSpPr/>
          <p:nvPr/>
        </p:nvSpPr>
        <p:spPr>
          <a:xfrm>
            <a:off x="16908289" y="9491663"/>
            <a:ext cx="217661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</a:t>
            </a:r>
            <a:endParaRPr lang="en-US" sz="1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8288000" cy="10287000"/>
          </a:xfrm>
          <a:prstGeom prst="rect">
            <a:avLst/>
          </a:prstGeom>
          <a:solidFill>
            <a:srgbClr val="FAF8F3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18288000" cy="10287000"/>
          </a:xfrm>
          <a:prstGeom prst="rect">
            <a:avLst/>
          </a:prstGeom>
        </p:spPr>
      </p:pic>
      <p:pic>
        <p:nvPicPr>
          <p:cNvPr id="4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249650" y="609600"/>
            <a:ext cx="1123950" cy="1354187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 rot="-120000">
            <a:off x="1238250" y="914400"/>
            <a:ext cx="16285845" cy="4762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00000"/>
              </a:lnSpc>
              <a:buNone/>
            </a:pPr>
            <a:r>
              <a:rPr lang="en-US" sz="3450" b="1" dirty="0">
                <a:solidFill>
                  <a:srgbClr val="F88B48"/>
                </a:solidFill>
                <a:latin typeface="Caveat" pitchFamily="34" charset="0"/>
                <a:ea typeface="Caveat" pitchFamily="34" charset="-122"/>
                <a:cs typeface="Caveat" pitchFamily="34" charset="-120"/>
              </a:rPr>
              <a:t>course complete!</a:t>
            </a:r>
            <a:endParaRPr lang="en-US" sz="3450" dirty="0"/>
          </a:p>
        </p:txBody>
      </p:sp>
      <p:sp>
        <p:nvSpPr>
          <p:cNvPr id="6" name="Text 2"/>
          <p:cNvSpPr/>
          <p:nvPr/>
        </p:nvSpPr>
        <p:spPr>
          <a:xfrm>
            <a:off x="1238250" y="1447800"/>
            <a:ext cx="17392650" cy="635496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12000"/>
              </a:lnSpc>
              <a:buNone/>
            </a:pPr>
            <a:r>
              <a:rPr lang="en-US" sz="4200" b="1" dirty="0">
                <a:solidFill>
                  <a:srgbClr val="292929"/>
                </a:solidFill>
                <a:latin typeface="Montserrat" pitchFamily="34" charset="0"/>
                <a:ea typeface="Montserrat" pitchFamily="34" charset="-122"/>
                <a:cs typeface="Montserrat" pitchFamily="34" charset="-120"/>
              </a:rPr>
              <a:t>You can now do all of this.</a:t>
            </a:r>
            <a:endParaRPr lang="en-US" sz="4200" dirty="0"/>
          </a:p>
        </p:txBody>
      </p:sp>
      <p:sp>
        <p:nvSpPr>
          <p:cNvPr id="7" name="Shape 3"/>
          <p:cNvSpPr/>
          <p:nvPr/>
        </p:nvSpPr>
        <p:spPr>
          <a:xfrm>
            <a:off x="1238250" y="2559546"/>
            <a:ext cx="323850" cy="3238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8" name="Text 4"/>
          <p:cNvSpPr/>
          <p:nvPr/>
        </p:nvSpPr>
        <p:spPr>
          <a:xfrm>
            <a:off x="1200150" y="255954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9" name="Text 5"/>
          <p:cNvSpPr/>
          <p:nvPr/>
        </p:nvSpPr>
        <p:spPr>
          <a:xfrm>
            <a:off x="1809750" y="2521446"/>
            <a:ext cx="11194390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Read, describe, and structure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Task 1 line graph response accurately.</a:t>
            </a:r>
            <a:endParaRPr lang="en-US" sz="2400" dirty="0"/>
          </a:p>
        </p:txBody>
      </p:sp>
      <p:sp>
        <p:nvSpPr>
          <p:cNvPr id="10" name="Shape 6"/>
          <p:cNvSpPr/>
          <p:nvPr/>
        </p:nvSpPr>
        <p:spPr>
          <a:xfrm>
            <a:off x="1238250" y="3268191"/>
            <a:ext cx="323850" cy="3238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1" name="Text 7"/>
          <p:cNvSpPr/>
          <p:nvPr/>
        </p:nvSpPr>
        <p:spPr>
          <a:xfrm>
            <a:off x="1200150" y="326819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12" name="Text 8"/>
          <p:cNvSpPr/>
          <p:nvPr/>
        </p:nvSpPr>
        <p:spPr>
          <a:xfrm>
            <a:off x="1809750" y="3230091"/>
            <a:ext cx="8811578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Apply a repeatable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four-paragraph shape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 any graph.</a:t>
            </a:r>
            <a:endParaRPr lang="en-US" sz="2400" dirty="0"/>
          </a:p>
        </p:txBody>
      </p:sp>
      <p:sp>
        <p:nvSpPr>
          <p:cNvPr id="13" name="Shape 9"/>
          <p:cNvSpPr/>
          <p:nvPr/>
        </p:nvSpPr>
        <p:spPr>
          <a:xfrm>
            <a:off x="1238250" y="3976836"/>
            <a:ext cx="323850" cy="3238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4" name="Text 10"/>
          <p:cNvSpPr/>
          <p:nvPr/>
        </p:nvSpPr>
        <p:spPr>
          <a:xfrm>
            <a:off x="1200150" y="3976836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15" name="Text 11"/>
          <p:cNvSpPr/>
          <p:nvPr/>
        </p:nvSpPr>
        <p:spPr>
          <a:xfrm>
            <a:off x="1809750" y="3938736"/>
            <a:ext cx="11330925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vocabulary and grammar toolkit 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for describing change precisely.</a:t>
            </a:r>
            <a:endParaRPr lang="en-US" sz="2400" dirty="0"/>
          </a:p>
        </p:txBody>
      </p:sp>
      <p:sp>
        <p:nvSpPr>
          <p:cNvPr id="16" name="Shape 12"/>
          <p:cNvSpPr/>
          <p:nvPr/>
        </p:nvSpPr>
        <p:spPr>
          <a:xfrm>
            <a:off x="1238250" y="4685481"/>
            <a:ext cx="323850" cy="323850"/>
          </a:xfrm>
          <a:prstGeom prst="ellipse">
            <a:avLst/>
          </a:prstGeom>
          <a:solidFill>
            <a:srgbClr val="5FB27B"/>
          </a:solidFill>
          <a:ln/>
        </p:spPr>
      </p:sp>
      <p:sp>
        <p:nvSpPr>
          <p:cNvPr id="17" name="Text 13"/>
          <p:cNvSpPr/>
          <p:nvPr/>
        </p:nvSpPr>
        <p:spPr>
          <a:xfrm>
            <a:off x="1200150" y="4685481"/>
            <a:ext cx="400050" cy="3619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>
            <a:normAutofit/>
          </a:bodyPr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✓</a:t>
            </a:r>
            <a:endParaRPr lang="en-US" sz="1800" dirty="0"/>
          </a:p>
        </p:txBody>
      </p:sp>
      <p:sp>
        <p:nvSpPr>
          <p:cNvPr id="18" name="Text 14"/>
          <p:cNvSpPr/>
          <p:nvPr/>
        </p:nvSpPr>
        <p:spPr>
          <a:xfrm>
            <a:off x="1809750" y="4647381"/>
            <a:ext cx="10107841" cy="48004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a complete, accurate response inside the </a:t>
            </a:r>
            <a:pPr algn="l" indent="0" marL="0">
              <a:lnSpc>
                <a:spcPct val="145000"/>
              </a:lnSpc>
              <a:buNone/>
            </a:pPr>
            <a:r>
              <a:rPr lang="en-US" sz="2400" b="1" dirty="0">
                <a:solidFill>
                  <a:srgbClr val="292929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20-minute limit</a:t>
            </a:r>
            <a:pPr algn="l" indent="0" marL="0">
              <a:lnSpc>
                <a:spcPct val="145000"/>
              </a:lnSpc>
              <a:buNone/>
            </a:pPr>
            <a:r>
              <a:rPr lang="en-US" sz="24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</a:t>
            </a:r>
            <a:endParaRPr lang="en-US" sz="2400" dirty="0"/>
          </a:p>
        </p:txBody>
      </p:sp>
      <p:sp>
        <p:nvSpPr>
          <p:cNvPr id="19" name="Text 15"/>
          <p:cNvSpPr/>
          <p:nvPr/>
        </p:nvSpPr>
        <p:spPr>
          <a:xfrm>
            <a:off x="1238250" y="9491663"/>
            <a:ext cx="7477415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Lesson 6 of 8 · Orange English, Line Graph Success, complete.</a:t>
            </a:r>
            <a:endParaRPr lang="en-US" sz="1800" dirty="0"/>
          </a:p>
        </p:txBody>
      </p:sp>
      <p:sp>
        <p:nvSpPr>
          <p:cNvPr id="20" name="Text 16"/>
          <p:cNvSpPr/>
          <p:nvPr/>
        </p:nvSpPr>
        <p:spPr>
          <a:xfrm>
            <a:off x="16907991" y="9491663"/>
            <a:ext cx="217959" cy="31908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1800" dirty="0">
                <a:solidFill>
                  <a:srgbClr val="6B625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2026-06-20T14:30:09Z</dcterms:created>
  <dcterms:modified xsi:type="dcterms:W3CDTF">2026-06-20T14:30:09Z</dcterms:modified>
</cp:coreProperties>
</file>