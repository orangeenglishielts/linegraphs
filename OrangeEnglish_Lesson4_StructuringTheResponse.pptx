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4. Every Task 1 answer follows the same four-part shape. Once you know it, structure becomes automatic, and it earns marks under two of the four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is rewarded under both Task Achievement and Coherence and Cohesion. A clear four-stage shape is the easiest structure to learn, and burying the overview is a common, costly mistake. Preview the four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The introduction is one sentence that paraphrases the prompt, changed structure and some vocabulary, but every category kept. Walk through how the paraphrase reworks the task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The overview comes right after the introduction and contains no numbers. One or two sentences summarising the two or three biggest patterns, in general terms. Every figure is saved for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Body paragraphs group the supporting detail, two logical groups, one per paragraph, each backed with figures. Group by category or by time period, whichever makes the comparison clearest.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The whole answer, top to bottom: introduction, overview, body paragraph 1, body paragraph 2. This is the shape every Task 1 response should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Examiner Mode. The most common structure mistake is putting figures in the overview. Keep the overview to the general pattern; save specific numbers for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Students decide whether each fragment belongs in the introduction, the overview, or a body paragraph, and write the section name on the line. Do the first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takeaways: the fixed four-part shape, paraphrasing the introduction, keeping the overview number-free, and grouping body paragraphs logically. Preview Lesson 5: Writing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5621000" y="857250"/>
            <a:ext cx="1428750" cy="1721421"/>
          </a:xfrm>
          <a:prstGeom prst="rect">
            <a:avLst/>
          </a:prstGeom>
        </p:spPr>
      </p:pic>
      <p:sp>
        <p:nvSpPr>
          <p:cNvPr id="5" name="Text 1"/>
          <p:cNvSpPr/>
          <p:nvPr/>
        </p:nvSpPr>
        <p:spPr>
          <a:xfrm rot="-120000">
            <a:off x="1238250" y="1143000"/>
            <a:ext cx="16285845"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dirty="0">
                <a:solidFill>
                  <a:srgbClr val="F88B48"/>
                </a:solidFill>
                <a:latin typeface="Caveat" pitchFamily="34" charset="0"/>
                <a:ea typeface="Caveat" pitchFamily="34" charset="-122"/>
                <a:cs typeface="Caveat" pitchFamily="34" charset="-120"/>
              </a:rPr>
              <a:t>Lesson 4 · Writing</a:t>
            </a:r>
            <a:endParaRPr lang="en-US" sz="3450" dirty="0"/>
          </a:p>
        </p:txBody>
      </p:sp>
      <p:sp>
        <p:nvSpPr>
          <p:cNvPr id="6" name="Text 2"/>
          <p:cNvSpPr/>
          <p:nvPr/>
        </p:nvSpPr>
        <p:spPr>
          <a:xfrm>
            <a:off x="1238250" y="1857375"/>
            <a:ext cx="7608773" cy="1152525"/>
          </a:xfrm>
          <a:prstGeom prst="rect">
            <a:avLst/>
          </a:prstGeom>
          <a:noFill/>
          <a:ln/>
        </p:spPr>
        <p:txBody>
          <a:bodyPr wrap="square" lIns="0" tIns="0" rIns="0" bIns="0" rtlCol="0" anchor="t">
            <a:normAutofit/>
          </a:bodyPr>
          <a:lstStyle/>
          <a:p>
            <a:pPr algn="l" indent="0" marL="0">
              <a:lnSpc>
                <a:spcPct val="108000"/>
              </a:lnSpc>
              <a:buNone/>
            </a:pPr>
            <a:r>
              <a:rPr lang="en-US" sz="7200" b="1" dirty="0">
                <a:solidFill>
                  <a:srgbClr val="292929"/>
                </a:solidFill>
                <a:latin typeface="Montserrat" pitchFamily="34" charset="0"/>
                <a:ea typeface="Montserrat" pitchFamily="34" charset="-122"/>
                <a:cs typeface="Montserrat" pitchFamily="34" charset="-120"/>
              </a:rPr>
              <a:t>Structuring the</a:t>
            </a:r>
            <a:endParaRPr lang="en-US" sz="7200" dirty="0"/>
          </a:p>
        </p:txBody>
      </p:sp>
      <p:pic>
        <p:nvPicPr>
          <p:cNvPr id="7" name="Image 2" descr="preencoded.png">    </p:cNvPr>
          <p:cNvPicPr>
            <a:picLocks noChangeAspect="1"/>
          </p:cNvPicPr>
          <p:nvPr/>
        </p:nvPicPr>
        <p:blipFill>
          <a:blip r:embed="rId3">
            <a:alphaModFix amt="95000"/>
          </a:blip>
          <a:stretch>
            <a:fillRect/>
          </a:stretch>
        </p:blipFill>
        <p:spPr>
          <a:xfrm>
            <a:off x="8731895" y="1943100"/>
            <a:ext cx="4677817" cy="949449"/>
          </a:xfrm>
          <a:prstGeom prst="rect">
            <a:avLst/>
          </a:prstGeom>
        </p:spPr>
      </p:pic>
      <p:sp>
        <p:nvSpPr>
          <p:cNvPr id="8" name="Text 3"/>
          <p:cNvSpPr/>
          <p:nvPr/>
        </p:nvSpPr>
        <p:spPr>
          <a:xfrm>
            <a:off x="8884295" y="1857375"/>
            <a:ext cx="4810318" cy="1152525"/>
          </a:xfrm>
          <a:prstGeom prst="rect">
            <a:avLst/>
          </a:prstGeom>
          <a:noFill/>
          <a:ln/>
        </p:spPr>
        <p:txBody>
          <a:bodyPr wrap="none" lIns="25400" tIns="25400" rIns="25400" bIns="25400" rtlCol="0" anchor="t">
            <a:normAutofit/>
          </a:bodyPr>
          <a:lstStyle/>
          <a:p>
            <a:pPr algn="l" indent="0" marL="0">
              <a:lnSpc>
                <a:spcPct val="108000"/>
              </a:lnSpc>
              <a:buNone/>
            </a:pPr>
            <a:r>
              <a:rPr lang="en-US" sz="7200" b="1" dirty="0">
                <a:solidFill>
                  <a:srgbClr val="292929"/>
                </a:solidFill>
                <a:latin typeface="Montserrat" pitchFamily="34" charset="0"/>
                <a:ea typeface="Montserrat" pitchFamily="34" charset="-122"/>
                <a:cs typeface="Montserrat" pitchFamily="34" charset="-120"/>
              </a:rPr>
              <a:t>response</a:t>
            </a:r>
            <a:endParaRPr lang="en-US" sz="7200" dirty="0"/>
          </a:p>
        </p:txBody>
      </p:sp>
      <p:sp>
        <p:nvSpPr>
          <p:cNvPr id="9" name="Text 4"/>
          <p:cNvSpPr/>
          <p:nvPr/>
        </p:nvSpPr>
        <p:spPr>
          <a:xfrm>
            <a:off x="13257312" y="1857375"/>
            <a:ext cx="316111" cy="1152525"/>
          </a:xfrm>
          <a:prstGeom prst="rect">
            <a:avLst/>
          </a:prstGeom>
          <a:noFill/>
          <a:ln/>
        </p:spPr>
        <p:txBody>
          <a:bodyPr wrap="square" lIns="0" tIns="0" rIns="0" bIns="0" rtlCol="0" anchor="t">
            <a:normAutofit/>
          </a:bodyPr>
          <a:lstStyle/>
          <a:p>
            <a:pPr algn="l" indent="0" marL="0">
              <a:lnSpc>
                <a:spcPct val="108000"/>
              </a:lnSpc>
              <a:buNone/>
            </a:pPr>
            <a:r>
              <a:rPr lang="en-US" sz="7200" b="1" dirty="0">
                <a:solidFill>
                  <a:srgbClr val="292929"/>
                </a:solidFill>
                <a:latin typeface="Montserrat" pitchFamily="34" charset="0"/>
                <a:ea typeface="Montserrat" pitchFamily="34" charset="-122"/>
                <a:cs typeface="Montserrat" pitchFamily="34" charset="-120"/>
              </a:rPr>
              <a:t>.</a:t>
            </a:r>
            <a:endParaRPr lang="en-US" sz="7200" dirty="0"/>
          </a:p>
        </p:txBody>
      </p:sp>
      <p:sp>
        <p:nvSpPr>
          <p:cNvPr id="10" name="Text 5"/>
          <p:cNvSpPr/>
          <p:nvPr/>
        </p:nvSpPr>
        <p:spPr>
          <a:xfrm>
            <a:off x="1238250" y="3673599"/>
            <a:ext cx="10595610" cy="1066800"/>
          </a:xfrm>
          <a:prstGeom prst="rect">
            <a:avLst/>
          </a:prstGeom>
          <a:noFill/>
          <a:ln/>
        </p:spPr>
        <p:txBody>
          <a:bodyPr wrap="square" lIns="25400" tIns="25400" rIns="25400" bIns="25400" rtlCol="0" anchor="t">
            <a:normAutofit/>
          </a:bodyPr>
          <a:lstStyle/>
          <a:p>
            <a:pPr algn="l" indent="0" marL="0">
              <a:lnSpc>
                <a:spcPct val="150000"/>
              </a:lnSpc>
              <a:buNone/>
            </a:pPr>
            <a:r>
              <a:rPr lang="en-US" sz="2700" dirty="0">
                <a:solidFill>
                  <a:srgbClr val="6B625B"/>
                </a:solidFill>
                <a:latin typeface="Inter" pitchFamily="34" charset="0"/>
                <a:ea typeface="Inter" pitchFamily="34" charset="-122"/>
                <a:cs typeface="Inter" pitchFamily="34" charset="-120"/>
              </a:rPr>
              <a:t>The four-part shape examiners expect from every Task 1 answer.</a:t>
            </a:r>
            <a:endParaRPr lang="en-US" sz="2700" dirty="0"/>
          </a:p>
        </p:txBody>
      </p:sp>
      <p:pic>
        <p:nvPicPr>
          <p:cNvPr id="11" name="Image 3" descr="preencoded.png">    </p:cNvPr>
          <p:cNvPicPr>
            <a:picLocks noChangeAspect="1"/>
          </p:cNvPicPr>
          <p:nvPr/>
        </p:nvPicPr>
        <p:blipFill>
          <a:blip r:embed="rId4">
            <a:alphaModFix amt="96000"/>
            <a:extLst>
              <a:ext uri="{96DAC541-7B7A-43D3-8B79-37D633B846F1}">
                <asvg:svgBlip xmlns:asvg="http://schemas.microsoft.com/office/drawing/2016/SVG/main" r:embed="rId5"/>
              </a:ext>
            </a:extLst>
          </a:blip>
          <a:stretch>
            <a:fillRect/>
          </a:stretch>
        </p:blipFill>
        <p:spPr>
          <a:xfrm>
            <a:off x="10953750" y="6572250"/>
            <a:ext cx="6286500" cy="2800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249650" y="609600"/>
            <a:ext cx="1123950" cy="1354187"/>
          </a:xfrm>
          <a:prstGeom prst="rect">
            <a:avLst/>
          </a:prstGeom>
        </p:spPr>
      </p:pic>
      <p:sp>
        <p:nvSpPr>
          <p:cNvPr id="5" name="Text 1"/>
          <p:cNvSpPr/>
          <p:nvPr/>
        </p:nvSpPr>
        <p:spPr>
          <a:xfrm>
            <a:off x="1238250" y="914400"/>
            <a:ext cx="17392650"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WHY THIS MATTERS</a:t>
            </a:r>
            <a:endParaRPr lang="en-US" sz="1800" dirty="0"/>
          </a:p>
        </p:txBody>
      </p:sp>
      <p:sp>
        <p:nvSpPr>
          <p:cNvPr id="6" name="Text 2"/>
          <p:cNvSpPr/>
          <p:nvPr/>
        </p:nvSpPr>
        <p:spPr>
          <a:xfrm>
            <a:off x="1238250" y="1323975"/>
            <a:ext cx="15506700" cy="629543"/>
          </a:xfrm>
          <a:prstGeom prst="rect">
            <a:avLst/>
          </a:prstGeom>
          <a:noFill/>
          <a:ln/>
        </p:spPr>
        <p:txBody>
          <a:bodyPr wrap="square" lIns="25400" tIns="25400" rIns="25400" bIns="25400" rtlCol="0" anchor="t">
            <a:normAutofit/>
          </a:bodyPr>
          <a:lstStyle/>
          <a:p>
            <a:pPr algn="l" indent="0" marL="0">
              <a:lnSpc>
                <a:spcPct val="115000"/>
              </a:lnSpc>
              <a:buNone/>
            </a:pPr>
            <a:r>
              <a:rPr lang="en-US" sz="4050" b="1" dirty="0">
                <a:solidFill>
                  <a:srgbClr val="292929"/>
                </a:solidFill>
                <a:latin typeface="Montserrat" pitchFamily="34" charset="0"/>
                <a:ea typeface="Montserrat" pitchFamily="34" charset="-122"/>
                <a:cs typeface="Montserrat" pitchFamily="34" charset="-120"/>
              </a:rPr>
              <a:t>Structure is free marks, if you know the shape.</a:t>
            </a:r>
            <a:endParaRPr lang="en-US" sz="4050" dirty="0"/>
          </a:p>
        </p:txBody>
      </p:sp>
      <p:sp>
        <p:nvSpPr>
          <p:cNvPr id="7" name="Text 3"/>
          <p:cNvSpPr/>
          <p:nvPr/>
        </p:nvSpPr>
        <p:spPr>
          <a:xfrm>
            <a:off x="1238250" y="2334518"/>
            <a:ext cx="14716125" cy="1495425"/>
          </a:xfrm>
          <a:prstGeom prst="rect">
            <a:avLst/>
          </a:prstGeom>
          <a:noFill/>
          <a:ln/>
        </p:spPr>
        <p:txBody>
          <a:bodyPr wrap="square" lIns="25400" tIns="25400" rIns="25400" bIns="25400" rtlCol="0" anchor="t">
            <a:normAutofit/>
          </a:bodyPr>
          <a:lstStyle/>
          <a:p>
            <a:pPr algn="l" indent="0" marL="0">
              <a:lnSpc>
                <a:spcPct val="150000"/>
              </a:lnSpc>
              <a:buNone/>
            </a:pPr>
            <a:r>
              <a:rPr lang="en-US" sz="2550" b="1" dirty="0">
                <a:solidFill>
                  <a:srgbClr val="292929"/>
                </a:solidFill>
                <a:latin typeface="Inter" pitchFamily="34" charset="0"/>
                <a:ea typeface="Inter" pitchFamily="34" charset="-122"/>
                <a:cs typeface="Inter" pitchFamily="34" charset="-120"/>
              </a:rPr>
              <a:t>Task Achievement </a:t>
            </a:r>
            <a:pPr algn="l" indent="0" marL="0">
              <a:lnSpc>
                <a:spcPct val="150000"/>
              </a:lnSpc>
              <a:buNone/>
            </a:pPr>
            <a:r>
              <a:rPr lang="en-US" sz="2550" dirty="0">
                <a:solidFill>
                  <a:srgbClr val="6B625B"/>
                </a:solidFill>
                <a:latin typeface="Inter" pitchFamily="34" charset="0"/>
                <a:ea typeface="Inter" pitchFamily="34" charset="-122"/>
                <a:cs typeface="Inter" pitchFamily="34" charset="-120"/>
              </a:rPr>
              <a:t>and </a:t>
            </a:r>
            <a:pPr algn="l" indent="0" marL="0">
              <a:lnSpc>
                <a:spcPct val="150000"/>
              </a:lnSpc>
              <a:buNone/>
            </a:pPr>
            <a:r>
              <a:rPr lang="en-US" sz="2550" b="1" dirty="0">
                <a:solidFill>
                  <a:srgbClr val="292929"/>
                </a:solidFill>
                <a:latin typeface="Inter" pitchFamily="34" charset="0"/>
                <a:ea typeface="Inter" pitchFamily="34" charset="-122"/>
                <a:cs typeface="Inter" pitchFamily="34" charset="-120"/>
              </a:rPr>
              <a:t>Coherence &amp; Cohesion </a:t>
            </a:r>
            <a:pPr algn="l" indent="0" marL="0">
              <a:lnSpc>
                <a:spcPct val="150000"/>
              </a:lnSpc>
              <a:buNone/>
            </a:pPr>
            <a:r>
              <a:rPr lang="en-US" sz="2550" dirty="0">
                <a:solidFill>
                  <a:srgbClr val="6B625B"/>
                </a:solidFill>
                <a:latin typeface="Inter" pitchFamily="34" charset="0"/>
                <a:ea typeface="Inter" pitchFamily="34" charset="-122"/>
                <a:cs typeface="Inter" pitchFamily="34" charset="-120"/>
              </a:rPr>
              <a:t>both reward an answer organised into four clear stages. Strong vocabulary and grammar can't rescue a response that buries the overview in the middle of a paragraph.</a:t>
            </a:r>
            <a:endParaRPr lang="en-US" sz="2550" dirty="0"/>
          </a:p>
        </p:txBody>
      </p:sp>
      <p:sp>
        <p:nvSpPr>
          <p:cNvPr id="8" name="Text 4"/>
          <p:cNvSpPr/>
          <p:nvPr/>
        </p:nvSpPr>
        <p:spPr>
          <a:xfrm rot="-90000">
            <a:off x="1238250" y="4360962"/>
            <a:ext cx="16285845"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F88B48"/>
                </a:solidFill>
                <a:latin typeface="Caveat" pitchFamily="34" charset="0"/>
                <a:ea typeface="Caveat" pitchFamily="34" charset="-122"/>
                <a:cs typeface="Caveat" pitchFamily="34" charset="-120"/>
              </a:rPr>
              <a:t>in this lesson →</a:t>
            </a:r>
            <a:endParaRPr lang="en-US" sz="3000" dirty="0"/>
          </a:p>
        </p:txBody>
      </p:sp>
      <p:sp>
        <p:nvSpPr>
          <p:cNvPr id="9" name="Text 5"/>
          <p:cNvSpPr/>
          <p:nvPr/>
        </p:nvSpPr>
        <p:spPr>
          <a:xfrm>
            <a:off x="1238250" y="5092005"/>
            <a:ext cx="556320" cy="518145"/>
          </a:xfrm>
          <a:prstGeom prst="rect">
            <a:avLst/>
          </a:prstGeom>
          <a:noFill/>
          <a:ln/>
        </p:spPr>
        <p:txBody>
          <a:bodyPr wrap="square" lIns="25400" tIns="25400" rIns="25400" bIns="25400" rtlCol="0" anchor="t">
            <a:normAutofit/>
          </a:bodyPr>
          <a:lstStyle/>
          <a:p>
            <a:pPr algn="l" indent="0" marL="0">
              <a:lnSpc>
                <a:spcPct val="90000"/>
              </a:lnSpc>
              <a:buNone/>
            </a:pPr>
            <a:r>
              <a:rPr lang="en-US" sz="4200" b="1" dirty="0">
                <a:solidFill>
                  <a:srgbClr val="5FB27B"/>
                </a:solidFill>
                <a:latin typeface="Caveat" pitchFamily="34" charset="0"/>
                <a:ea typeface="Caveat" pitchFamily="34" charset="-122"/>
                <a:cs typeface="Caveat" pitchFamily="34" charset="-120"/>
              </a:rPr>
              <a:t>01</a:t>
            </a:r>
            <a:endParaRPr lang="en-US" sz="4200" dirty="0"/>
          </a:p>
        </p:txBody>
      </p:sp>
      <p:sp>
        <p:nvSpPr>
          <p:cNvPr id="10" name="Text 6"/>
          <p:cNvSpPr/>
          <p:nvPr/>
        </p:nvSpPr>
        <p:spPr>
          <a:xfrm>
            <a:off x="1985070" y="5092005"/>
            <a:ext cx="2681503" cy="493812"/>
          </a:xfrm>
          <a:prstGeom prst="rect">
            <a:avLst/>
          </a:prstGeom>
          <a:noFill/>
          <a:ln/>
        </p:spPr>
        <p:txBody>
          <a:bodyPr wrap="square" lIns="25400" tIns="25400" rIns="25400" bIns="25400" rtlCol="0" anchor="t">
            <a:normAutofit/>
          </a:bodyPr>
          <a:lstStyle/>
          <a:p>
            <a:pPr algn="l" indent="0" marL="0">
              <a:lnSpc>
                <a:spcPct val="145000"/>
              </a:lnSpc>
              <a:buNone/>
            </a:pPr>
            <a:r>
              <a:rPr lang="en-US" sz="2475" dirty="0">
                <a:solidFill>
                  <a:srgbClr val="6B625B"/>
                </a:solidFill>
                <a:latin typeface="Inter" pitchFamily="34" charset="0"/>
                <a:ea typeface="Inter" pitchFamily="34" charset="-122"/>
                <a:cs typeface="Inter" pitchFamily="34" charset="-120"/>
              </a:rPr>
              <a:t>The introduction</a:t>
            </a:r>
            <a:endParaRPr lang="en-US" sz="2475" dirty="0"/>
          </a:p>
        </p:txBody>
      </p:sp>
      <p:sp>
        <p:nvSpPr>
          <p:cNvPr id="11" name="Text 7"/>
          <p:cNvSpPr/>
          <p:nvPr/>
        </p:nvSpPr>
        <p:spPr>
          <a:xfrm>
            <a:off x="8763000" y="5092005"/>
            <a:ext cx="556320" cy="518145"/>
          </a:xfrm>
          <a:prstGeom prst="rect">
            <a:avLst/>
          </a:prstGeom>
          <a:noFill/>
          <a:ln/>
        </p:spPr>
        <p:txBody>
          <a:bodyPr wrap="square" lIns="25400" tIns="25400" rIns="25400" bIns="25400" rtlCol="0" anchor="t">
            <a:normAutofit/>
          </a:bodyPr>
          <a:lstStyle/>
          <a:p>
            <a:pPr algn="l" indent="0" marL="0">
              <a:lnSpc>
                <a:spcPct val="90000"/>
              </a:lnSpc>
              <a:buNone/>
            </a:pPr>
            <a:r>
              <a:rPr lang="en-US" sz="4200" b="1" dirty="0">
                <a:solidFill>
                  <a:srgbClr val="5FB27B"/>
                </a:solidFill>
                <a:latin typeface="Caveat" pitchFamily="34" charset="0"/>
                <a:ea typeface="Caveat" pitchFamily="34" charset="-122"/>
                <a:cs typeface="Caveat" pitchFamily="34" charset="-120"/>
              </a:rPr>
              <a:t>02</a:t>
            </a:r>
            <a:endParaRPr lang="en-US" sz="4200" dirty="0"/>
          </a:p>
        </p:txBody>
      </p:sp>
      <p:sp>
        <p:nvSpPr>
          <p:cNvPr id="12" name="Text 8"/>
          <p:cNvSpPr/>
          <p:nvPr/>
        </p:nvSpPr>
        <p:spPr>
          <a:xfrm>
            <a:off x="9509820" y="5092005"/>
            <a:ext cx="2208133" cy="493812"/>
          </a:xfrm>
          <a:prstGeom prst="rect">
            <a:avLst/>
          </a:prstGeom>
          <a:noFill/>
          <a:ln/>
        </p:spPr>
        <p:txBody>
          <a:bodyPr wrap="square" lIns="25400" tIns="25400" rIns="25400" bIns="25400" rtlCol="0" anchor="t">
            <a:normAutofit/>
          </a:bodyPr>
          <a:lstStyle/>
          <a:p>
            <a:pPr algn="l" indent="0" marL="0">
              <a:lnSpc>
                <a:spcPct val="145000"/>
              </a:lnSpc>
              <a:buNone/>
            </a:pPr>
            <a:r>
              <a:rPr lang="en-US" sz="2475" dirty="0">
                <a:solidFill>
                  <a:srgbClr val="6B625B"/>
                </a:solidFill>
                <a:latin typeface="Inter" pitchFamily="34" charset="0"/>
                <a:ea typeface="Inter" pitchFamily="34" charset="-122"/>
                <a:cs typeface="Inter" pitchFamily="34" charset="-120"/>
              </a:rPr>
              <a:t>The overview</a:t>
            </a:r>
            <a:endParaRPr lang="en-US" sz="2475" dirty="0"/>
          </a:p>
        </p:txBody>
      </p:sp>
      <p:sp>
        <p:nvSpPr>
          <p:cNvPr id="13" name="Text 9"/>
          <p:cNvSpPr/>
          <p:nvPr/>
        </p:nvSpPr>
        <p:spPr>
          <a:xfrm>
            <a:off x="1238250" y="5895901"/>
            <a:ext cx="556320" cy="518145"/>
          </a:xfrm>
          <a:prstGeom prst="rect">
            <a:avLst/>
          </a:prstGeom>
          <a:noFill/>
          <a:ln/>
        </p:spPr>
        <p:txBody>
          <a:bodyPr wrap="square" lIns="25400" tIns="25400" rIns="25400" bIns="25400" rtlCol="0" anchor="t">
            <a:normAutofit/>
          </a:bodyPr>
          <a:lstStyle/>
          <a:p>
            <a:pPr algn="l" indent="0" marL="0">
              <a:lnSpc>
                <a:spcPct val="90000"/>
              </a:lnSpc>
              <a:buNone/>
            </a:pPr>
            <a:r>
              <a:rPr lang="en-US" sz="4200" b="1" dirty="0">
                <a:solidFill>
                  <a:srgbClr val="5FB27B"/>
                </a:solidFill>
                <a:latin typeface="Caveat" pitchFamily="34" charset="0"/>
                <a:ea typeface="Caveat" pitchFamily="34" charset="-122"/>
                <a:cs typeface="Caveat" pitchFamily="34" charset="-120"/>
              </a:rPr>
              <a:t>03</a:t>
            </a:r>
            <a:endParaRPr lang="en-US" sz="4200" dirty="0"/>
          </a:p>
        </p:txBody>
      </p:sp>
      <p:sp>
        <p:nvSpPr>
          <p:cNvPr id="14" name="Text 10"/>
          <p:cNvSpPr/>
          <p:nvPr/>
        </p:nvSpPr>
        <p:spPr>
          <a:xfrm>
            <a:off x="1985070" y="5895901"/>
            <a:ext cx="2807151" cy="493812"/>
          </a:xfrm>
          <a:prstGeom prst="rect">
            <a:avLst/>
          </a:prstGeom>
          <a:noFill/>
          <a:ln/>
        </p:spPr>
        <p:txBody>
          <a:bodyPr wrap="square" lIns="25400" tIns="25400" rIns="25400" bIns="25400" rtlCol="0" anchor="t">
            <a:normAutofit/>
          </a:bodyPr>
          <a:lstStyle/>
          <a:p>
            <a:pPr algn="l" indent="0" marL="0">
              <a:lnSpc>
                <a:spcPct val="145000"/>
              </a:lnSpc>
              <a:buNone/>
            </a:pPr>
            <a:r>
              <a:rPr lang="en-US" sz="2475" dirty="0">
                <a:solidFill>
                  <a:srgbClr val="6B625B"/>
                </a:solidFill>
                <a:latin typeface="Inter" pitchFamily="34" charset="0"/>
                <a:ea typeface="Inter" pitchFamily="34" charset="-122"/>
                <a:cs typeface="Inter" pitchFamily="34" charset="-120"/>
              </a:rPr>
              <a:t>Body paragraphs</a:t>
            </a:r>
            <a:endParaRPr lang="en-US" sz="2475" dirty="0"/>
          </a:p>
        </p:txBody>
      </p:sp>
      <p:sp>
        <p:nvSpPr>
          <p:cNvPr id="15" name="Text 11"/>
          <p:cNvSpPr/>
          <p:nvPr/>
        </p:nvSpPr>
        <p:spPr>
          <a:xfrm>
            <a:off x="8763000" y="5895901"/>
            <a:ext cx="556320" cy="518145"/>
          </a:xfrm>
          <a:prstGeom prst="rect">
            <a:avLst/>
          </a:prstGeom>
          <a:noFill/>
          <a:ln/>
        </p:spPr>
        <p:txBody>
          <a:bodyPr wrap="square" lIns="25400" tIns="25400" rIns="25400" bIns="25400" rtlCol="0" anchor="t">
            <a:normAutofit/>
          </a:bodyPr>
          <a:lstStyle/>
          <a:p>
            <a:pPr algn="l" indent="0" marL="0">
              <a:lnSpc>
                <a:spcPct val="90000"/>
              </a:lnSpc>
              <a:buNone/>
            </a:pPr>
            <a:r>
              <a:rPr lang="en-US" sz="4200" b="1" dirty="0">
                <a:solidFill>
                  <a:srgbClr val="5FB27B"/>
                </a:solidFill>
                <a:latin typeface="Caveat" pitchFamily="34" charset="0"/>
                <a:ea typeface="Caveat" pitchFamily="34" charset="-122"/>
                <a:cs typeface="Caveat" pitchFamily="34" charset="-120"/>
              </a:rPr>
              <a:t>04</a:t>
            </a:r>
            <a:endParaRPr lang="en-US" sz="4200" dirty="0"/>
          </a:p>
        </p:txBody>
      </p:sp>
      <p:sp>
        <p:nvSpPr>
          <p:cNvPr id="16" name="Text 12"/>
          <p:cNvSpPr/>
          <p:nvPr/>
        </p:nvSpPr>
        <p:spPr>
          <a:xfrm>
            <a:off x="9509820" y="5895901"/>
            <a:ext cx="2922977" cy="493812"/>
          </a:xfrm>
          <a:prstGeom prst="rect">
            <a:avLst/>
          </a:prstGeom>
          <a:noFill/>
          <a:ln/>
        </p:spPr>
        <p:txBody>
          <a:bodyPr wrap="square" lIns="25400" tIns="25400" rIns="25400" bIns="25400" rtlCol="0" anchor="t">
            <a:normAutofit/>
          </a:bodyPr>
          <a:lstStyle/>
          <a:p>
            <a:pPr algn="l" indent="0" marL="0">
              <a:lnSpc>
                <a:spcPct val="145000"/>
              </a:lnSpc>
              <a:buNone/>
            </a:pPr>
            <a:r>
              <a:rPr lang="en-US" sz="2475" dirty="0">
                <a:solidFill>
                  <a:srgbClr val="6B625B"/>
                </a:solidFill>
                <a:latin typeface="Inter" pitchFamily="34" charset="0"/>
                <a:ea typeface="Inter" pitchFamily="34" charset="-122"/>
                <a:cs typeface="Inter" pitchFamily="34" charset="-120"/>
              </a:rPr>
              <a:t>Putting it together</a:t>
            </a:r>
            <a:endParaRPr lang="en-US" sz="2475" dirty="0"/>
          </a:p>
        </p:txBody>
      </p:sp>
      <p:sp>
        <p:nvSpPr>
          <p:cNvPr id="17" name="Text 13"/>
          <p:cNvSpPr/>
          <p:nvPr/>
        </p:nvSpPr>
        <p:spPr>
          <a:xfrm>
            <a:off x="1238250" y="94916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18" name="Text 14"/>
          <p:cNvSpPr/>
          <p:nvPr/>
        </p:nvSpPr>
        <p:spPr>
          <a:xfrm>
            <a:off x="16910298" y="9491663"/>
            <a:ext cx="215652"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249650" y="609600"/>
            <a:ext cx="1123950" cy="1354187"/>
          </a:xfrm>
          <a:prstGeom prst="rect">
            <a:avLst/>
          </a:prstGeom>
        </p:spPr>
      </p:pic>
      <p:sp>
        <p:nvSpPr>
          <p:cNvPr id="5" name="Text 1"/>
          <p:cNvSpPr/>
          <p:nvPr/>
        </p:nvSpPr>
        <p:spPr>
          <a:xfrm>
            <a:off x="1238250" y="857250"/>
            <a:ext cx="17392650"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PART 1 · THE INTRODUCTION</a:t>
            </a:r>
            <a:endParaRPr lang="en-US" sz="1800" dirty="0"/>
          </a:p>
        </p:txBody>
      </p:sp>
      <p:pic>
        <p:nvPicPr>
          <p:cNvPr id="6" name="Image 2" descr="preencoded.png">    </p:cNvPr>
          <p:cNvPicPr>
            <a:picLocks noChangeAspect="1"/>
          </p:cNvPicPr>
          <p:nvPr/>
        </p:nvPicPr>
        <p:blipFill>
          <a:blip r:embed="rId3">
            <a:alphaModFix amt="95000"/>
          </a:blip>
          <a:stretch>
            <a:fillRect/>
          </a:stretch>
        </p:blipFill>
        <p:spPr>
          <a:xfrm>
            <a:off x="1123950" y="1266825"/>
            <a:ext cx="3260080" cy="595089"/>
          </a:xfrm>
          <a:prstGeom prst="rect">
            <a:avLst/>
          </a:prstGeom>
        </p:spPr>
      </p:pic>
      <p:sp>
        <p:nvSpPr>
          <p:cNvPr id="7" name="Text 2"/>
          <p:cNvSpPr/>
          <p:nvPr/>
        </p:nvSpPr>
        <p:spPr>
          <a:xfrm>
            <a:off x="1238250" y="1238250"/>
            <a:ext cx="3334628" cy="666750"/>
          </a:xfrm>
          <a:prstGeom prst="rect">
            <a:avLst/>
          </a:prstGeom>
          <a:noFill/>
          <a:ln/>
        </p:spPr>
        <p:txBody>
          <a:bodyPr wrap="none" lIns="25400" tIns="25400" rIns="25400" bIns="25400" rtlCol="0" anchor="t">
            <a:normAutofit/>
          </a:bodyPr>
          <a:lstStyle/>
          <a:p>
            <a:pPr algn="l" indent="0" marL="0">
              <a:lnSpc>
                <a:spcPct val="112000"/>
              </a:lnSpc>
              <a:buNone/>
            </a:pPr>
            <a:r>
              <a:rPr lang="en-US" sz="4050" b="1" dirty="0">
                <a:solidFill>
                  <a:srgbClr val="292929"/>
                </a:solidFill>
                <a:latin typeface="Montserrat" pitchFamily="34" charset="0"/>
                <a:ea typeface="Montserrat" pitchFamily="34" charset="-122"/>
                <a:cs typeface="Montserrat" pitchFamily="34" charset="-120"/>
              </a:rPr>
              <a:t>Paraphrase</a:t>
            </a:r>
            <a:endParaRPr lang="en-US" sz="4050" dirty="0"/>
          </a:p>
        </p:txBody>
      </p:sp>
      <p:sp>
        <p:nvSpPr>
          <p:cNvPr id="8" name="Text 3"/>
          <p:cNvSpPr/>
          <p:nvPr/>
        </p:nvSpPr>
        <p:spPr>
          <a:xfrm>
            <a:off x="4415284" y="1238250"/>
            <a:ext cx="7417693" cy="666750"/>
          </a:xfrm>
          <a:prstGeom prst="rect">
            <a:avLst/>
          </a:prstGeom>
          <a:noFill/>
          <a:ln/>
        </p:spPr>
        <p:txBody>
          <a:bodyPr wrap="square" lIns="0" tIns="0" rIns="0" bIns="0" rtlCol="0" anchor="t">
            <a:normAutofit/>
          </a:bodyPr>
          <a:lstStyle/>
          <a:p>
            <a:pPr algn="l" indent="0" marL="0">
              <a:lnSpc>
                <a:spcPct val="112000"/>
              </a:lnSpc>
              <a:buNone/>
            </a:pPr>
            <a:r>
              <a:rPr lang="en-US" sz="4050" b="1" dirty="0">
                <a:solidFill>
                  <a:srgbClr val="292929"/>
                </a:solidFill>
                <a:latin typeface="Montserrat" pitchFamily="34" charset="0"/>
                <a:ea typeface="Montserrat" pitchFamily="34" charset="-122"/>
                <a:cs typeface="Montserrat" pitchFamily="34" charset="-120"/>
              </a:rPr>
              <a:t>the question, don't copy it.</a:t>
            </a:r>
            <a:endParaRPr lang="en-US" sz="4050" dirty="0"/>
          </a:p>
        </p:txBody>
      </p:sp>
      <p:sp>
        <p:nvSpPr>
          <p:cNvPr id="9" name="Text 4"/>
          <p:cNvSpPr/>
          <p:nvPr/>
        </p:nvSpPr>
        <p:spPr>
          <a:xfrm>
            <a:off x="1238250" y="2014314"/>
            <a:ext cx="14912340" cy="894308"/>
          </a:xfrm>
          <a:prstGeom prst="rect">
            <a:avLst/>
          </a:prstGeom>
          <a:noFill/>
          <a:ln/>
        </p:spPr>
        <p:txBody>
          <a:bodyPr wrap="square" lIns="25400" tIns="25400" rIns="25400" bIns="25400" rtlCol="0" anchor="t">
            <a:normAutofit/>
          </a:bodyPr>
          <a:lstStyle/>
          <a:p>
            <a:pPr algn="l" indent="0" marL="0">
              <a:lnSpc>
                <a:spcPct val="145000"/>
              </a:lnSpc>
              <a:buNone/>
            </a:pPr>
            <a:r>
              <a:rPr lang="en-US" sz="2325" dirty="0">
                <a:solidFill>
                  <a:srgbClr val="6B625B"/>
                </a:solidFill>
                <a:latin typeface="Inter" pitchFamily="34" charset="0"/>
                <a:ea typeface="Inter" pitchFamily="34" charset="-122"/>
                <a:cs typeface="Inter" pitchFamily="34" charset="-120"/>
              </a:rPr>
              <a:t>One sentence. Reword the task prompt, change the structure and some of the vocabulary, while keeping </a:t>
            </a:r>
            <a:pPr algn="l" indent="0" marL="0">
              <a:lnSpc>
                <a:spcPct val="145000"/>
              </a:lnSpc>
              <a:buNone/>
            </a:pPr>
            <a:r>
              <a:rPr lang="en-US" sz="2325" b="1" dirty="0">
                <a:solidFill>
                  <a:srgbClr val="292929"/>
                </a:solidFill>
                <a:latin typeface="Inter" pitchFamily="34" charset="0"/>
                <a:ea typeface="Inter" pitchFamily="34" charset="-122"/>
                <a:cs typeface="Inter" pitchFamily="34" charset="-120"/>
              </a:rPr>
              <a:t>every category </a:t>
            </a:r>
            <a:pPr algn="l" indent="0" marL="0">
              <a:lnSpc>
                <a:spcPct val="145000"/>
              </a:lnSpc>
              <a:buNone/>
            </a:pPr>
            <a:r>
              <a:rPr lang="en-US" sz="2325" dirty="0">
                <a:solidFill>
                  <a:srgbClr val="6B625B"/>
                </a:solidFill>
                <a:latin typeface="Inter" pitchFamily="34" charset="0"/>
                <a:ea typeface="Inter" pitchFamily="34" charset="-122"/>
                <a:cs typeface="Inter" pitchFamily="34" charset="-120"/>
              </a:rPr>
              <a:t>from the original graph.</a:t>
            </a:r>
            <a:endParaRPr lang="en-US" sz="2325" dirty="0"/>
          </a:p>
        </p:txBody>
      </p:sp>
      <p:sp>
        <p:nvSpPr>
          <p:cNvPr id="10" name="Shape 5"/>
          <p:cNvSpPr/>
          <p:nvPr/>
        </p:nvSpPr>
        <p:spPr>
          <a:xfrm>
            <a:off x="1238250" y="3251522"/>
            <a:ext cx="7400925" cy="2500313"/>
          </a:xfrm>
          <a:prstGeom prst="roundRect">
            <a:avLst>
              <a:gd name="adj" fmla="val 6857"/>
            </a:avLst>
          </a:prstGeom>
          <a:solidFill>
            <a:srgbClr val="FFFFFF">
              <a:alpha val="50000"/>
            </a:srgbClr>
          </a:solidFill>
          <a:ln w="9525">
            <a:solidFill>
              <a:srgbClr val="292929">
                <a:alpha val="8000"/>
              </a:srgbClr>
            </a:solidFill>
            <a:prstDash val="solid"/>
          </a:ln>
        </p:spPr>
      </p:sp>
      <p:sp>
        <p:nvSpPr>
          <p:cNvPr id="11" name="Text 6"/>
          <p:cNvSpPr/>
          <p:nvPr/>
        </p:nvSpPr>
        <p:spPr>
          <a:xfrm>
            <a:off x="1628775" y="3603947"/>
            <a:ext cx="7281862"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9A8F86"/>
                </a:solidFill>
                <a:latin typeface="Montserrat" pitchFamily="34" charset="0"/>
                <a:ea typeface="Montserrat" pitchFamily="34" charset="-122"/>
                <a:cs typeface="Montserrat" pitchFamily="34" charset="-120"/>
              </a:rPr>
              <a:t>TASK PROMPT</a:t>
            </a:r>
            <a:endParaRPr lang="en-US" sz="1800" dirty="0"/>
          </a:p>
        </p:txBody>
      </p:sp>
      <p:sp>
        <p:nvSpPr>
          <p:cNvPr id="12" name="Text 7"/>
          <p:cNvSpPr/>
          <p:nvPr/>
        </p:nvSpPr>
        <p:spPr>
          <a:xfrm>
            <a:off x="1628775" y="4070672"/>
            <a:ext cx="6818471" cy="1366838"/>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6B625B"/>
                </a:solidFill>
                <a:latin typeface="Inter" pitchFamily="34" charset="0"/>
                <a:ea typeface="Inter" pitchFamily="34" charset="-122"/>
                <a:cs typeface="Inter" pitchFamily="34" charset="-120"/>
              </a:rPr>
              <a:t>"The graph below shows the number of visitors to three museums in London between 1990 and 2020."</a:t>
            </a:r>
            <a:endParaRPr lang="en-US" sz="2325" dirty="0"/>
          </a:p>
        </p:txBody>
      </p:sp>
      <p:pic>
        <p:nvPicPr>
          <p:cNvPr id="13" name="Image 3" descr="preencoded.png">    </p:cNvPr>
          <p:cNvPicPr>
            <a:picLocks noChangeAspect="1"/>
          </p:cNvPicPr>
          <p:nvPr/>
        </p:nvPicPr>
        <p:blipFill>
          <a:blip r:embed="rId4"/>
          <a:stretch>
            <a:fillRect/>
          </a:stretch>
        </p:blipFill>
        <p:spPr>
          <a:xfrm>
            <a:off x="8743950" y="4321671"/>
            <a:ext cx="800100" cy="360015"/>
          </a:xfrm>
          <a:prstGeom prst="rect">
            <a:avLst/>
          </a:prstGeom>
        </p:spPr>
      </p:pic>
      <p:sp>
        <p:nvSpPr>
          <p:cNvPr id="14" name="Shape 8"/>
          <p:cNvSpPr/>
          <p:nvPr/>
        </p:nvSpPr>
        <p:spPr>
          <a:xfrm>
            <a:off x="9648825" y="3251522"/>
            <a:ext cx="7400925" cy="2500313"/>
          </a:xfrm>
          <a:prstGeom prst="roundRect">
            <a:avLst>
              <a:gd name="adj" fmla="val 6857"/>
            </a:avLst>
          </a:prstGeom>
          <a:solidFill>
            <a:srgbClr val="5FB27B">
              <a:alpha val="10000"/>
            </a:srgbClr>
          </a:solidFill>
          <a:ln w="9525">
            <a:solidFill>
              <a:srgbClr val="5FB27B">
                <a:alpha val="35000"/>
              </a:srgbClr>
            </a:solidFill>
            <a:prstDash val="solid"/>
          </a:ln>
        </p:spPr>
      </p:sp>
      <p:sp>
        <p:nvSpPr>
          <p:cNvPr id="15" name="Text 9"/>
          <p:cNvSpPr/>
          <p:nvPr/>
        </p:nvSpPr>
        <p:spPr>
          <a:xfrm>
            <a:off x="10039350" y="3603947"/>
            <a:ext cx="7281862"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3F8A5B"/>
                </a:solidFill>
                <a:latin typeface="Montserrat" pitchFamily="34" charset="0"/>
                <a:ea typeface="Montserrat" pitchFamily="34" charset="-122"/>
                <a:cs typeface="Montserrat" pitchFamily="34" charset="-120"/>
              </a:rPr>
              <a:t>YOUR PARAPHRASE</a:t>
            </a:r>
            <a:endParaRPr lang="en-US" sz="1800" dirty="0"/>
          </a:p>
        </p:txBody>
      </p:sp>
      <p:sp>
        <p:nvSpPr>
          <p:cNvPr id="16" name="Text 10"/>
          <p:cNvSpPr/>
          <p:nvPr/>
        </p:nvSpPr>
        <p:spPr>
          <a:xfrm>
            <a:off x="10039350" y="4070672"/>
            <a:ext cx="6818471" cy="1366838"/>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292929"/>
                </a:solidFill>
                <a:latin typeface="Inter" pitchFamily="34" charset="0"/>
                <a:ea typeface="Inter" pitchFamily="34" charset="-122"/>
                <a:cs typeface="Inter" pitchFamily="34" charset="-120"/>
              </a:rPr>
              <a:t>"The line graph illustrates how many people visited three London museums over the 30-year period from 1990 to 2020."</a:t>
            </a:r>
            <a:endParaRPr lang="en-US" sz="2325" dirty="0"/>
          </a:p>
        </p:txBody>
      </p:sp>
      <p:sp>
        <p:nvSpPr>
          <p:cNvPr id="17" name="Text 11"/>
          <p:cNvSpPr/>
          <p:nvPr/>
        </p:nvSpPr>
        <p:spPr>
          <a:xfrm>
            <a:off x="1238250" y="94916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18" name="Text 12"/>
          <p:cNvSpPr/>
          <p:nvPr/>
        </p:nvSpPr>
        <p:spPr>
          <a:xfrm>
            <a:off x="16908512" y="9491663"/>
            <a:ext cx="217438"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249650" y="609600"/>
            <a:ext cx="1123950" cy="1354187"/>
          </a:xfrm>
          <a:prstGeom prst="rect">
            <a:avLst/>
          </a:prstGeom>
        </p:spPr>
      </p:pic>
      <p:sp>
        <p:nvSpPr>
          <p:cNvPr id="5" name="Text 1"/>
          <p:cNvSpPr/>
          <p:nvPr/>
        </p:nvSpPr>
        <p:spPr>
          <a:xfrm>
            <a:off x="1238250" y="857250"/>
            <a:ext cx="17392650"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PART 2 · THE OVERVIEW</a:t>
            </a:r>
            <a:endParaRPr lang="en-US" sz="1800" dirty="0"/>
          </a:p>
        </p:txBody>
      </p:sp>
      <p:sp>
        <p:nvSpPr>
          <p:cNvPr id="6" name="Text 2"/>
          <p:cNvSpPr/>
          <p:nvPr/>
        </p:nvSpPr>
        <p:spPr>
          <a:xfrm>
            <a:off x="1238250" y="1238250"/>
            <a:ext cx="10449292" cy="642938"/>
          </a:xfrm>
          <a:prstGeom prst="rect">
            <a:avLst/>
          </a:prstGeom>
          <a:noFill/>
          <a:ln/>
        </p:spPr>
        <p:txBody>
          <a:bodyPr wrap="square" lIns="0" tIns="0" rIns="0" bIns="0" rtlCol="0" anchor="t">
            <a:normAutofit/>
          </a:bodyPr>
          <a:lstStyle/>
          <a:p>
            <a:pPr algn="l" indent="0" marL="0">
              <a:lnSpc>
                <a:spcPct val="112000"/>
              </a:lnSpc>
              <a:buNone/>
            </a:pPr>
            <a:r>
              <a:rPr lang="en-US" sz="3900" b="1" dirty="0">
                <a:solidFill>
                  <a:srgbClr val="292929"/>
                </a:solidFill>
                <a:latin typeface="Montserrat" pitchFamily="34" charset="0"/>
                <a:ea typeface="Montserrat" pitchFamily="34" charset="-122"/>
                <a:cs typeface="Montserrat" pitchFamily="34" charset="-120"/>
              </a:rPr>
              <a:t>The overview comes second, and it has</a:t>
            </a:r>
            <a:endParaRPr lang="en-US" sz="3900" dirty="0"/>
          </a:p>
        </p:txBody>
      </p:sp>
      <p:pic>
        <p:nvPicPr>
          <p:cNvPr id="7" name="Image 2" descr="preencoded.png">    </p:cNvPr>
          <p:cNvPicPr>
            <a:picLocks noChangeAspect="1"/>
          </p:cNvPicPr>
          <p:nvPr/>
        </p:nvPicPr>
        <p:blipFill>
          <a:blip r:embed="rId3">
            <a:alphaModFix amt="95000"/>
          </a:blip>
          <a:stretch>
            <a:fillRect/>
          </a:stretch>
        </p:blipFill>
        <p:spPr>
          <a:xfrm>
            <a:off x="11409090" y="1266825"/>
            <a:ext cx="3369990" cy="573732"/>
          </a:xfrm>
          <a:prstGeom prst="rect">
            <a:avLst/>
          </a:prstGeom>
        </p:spPr>
      </p:pic>
      <p:sp>
        <p:nvSpPr>
          <p:cNvPr id="8" name="Text 3"/>
          <p:cNvSpPr/>
          <p:nvPr/>
        </p:nvSpPr>
        <p:spPr>
          <a:xfrm>
            <a:off x="11523390" y="1238250"/>
            <a:ext cx="3455529" cy="642938"/>
          </a:xfrm>
          <a:prstGeom prst="rect">
            <a:avLst/>
          </a:prstGeom>
          <a:noFill/>
          <a:ln/>
        </p:spPr>
        <p:txBody>
          <a:bodyPr wrap="none" lIns="25400" tIns="25400" rIns="25400" bIns="25400" rtlCol="0" anchor="t">
            <a:normAutofit/>
          </a:bodyPr>
          <a:lstStyle/>
          <a:p>
            <a:pPr algn="l" indent="0" marL="0">
              <a:lnSpc>
                <a:spcPct val="112000"/>
              </a:lnSpc>
              <a:buNone/>
            </a:pPr>
            <a:r>
              <a:rPr lang="en-US" sz="3900" b="1" dirty="0">
                <a:solidFill>
                  <a:srgbClr val="292929"/>
                </a:solidFill>
                <a:latin typeface="Montserrat" pitchFamily="34" charset="0"/>
                <a:ea typeface="Montserrat" pitchFamily="34" charset="-122"/>
                <a:cs typeface="Montserrat" pitchFamily="34" charset="-120"/>
              </a:rPr>
              <a:t>no numbers</a:t>
            </a:r>
            <a:endParaRPr lang="en-US" sz="3900" dirty="0"/>
          </a:p>
        </p:txBody>
      </p:sp>
      <p:sp>
        <p:nvSpPr>
          <p:cNvPr id="9" name="Text 4"/>
          <p:cNvSpPr/>
          <p:nvPr/>
        </p:nvSpPr>
        <p:spPr>
          <a:xfrm>
            <a:off x="14664779" y="1238250"/>
            <a:ext cx="206201" cy="642938"/>
          </a:xfrm>
          <a:prstGeom prst="rect">
            <a:avLst/>
          </a:prstGeom>
          <a:noFill/>
          <a:ln/>
        </p:spPr>
        <p:txBody>
          <a:bodyPr wrap="square" lIns="0" tIns="0" rIns="0" bIns="0" rtlCol="0" anchor="t">
            <a:normAutofit/>
          </a:bodyPr>
          <a:lstStyle/>
          <a:p>
            <a:pPr algn="l" indent="0" marL="0">
              <a:lnSpc>
                <a:spcPct val="112000"/>
              </a:lnSpc>
              <a:buNone/>
            </a:pPr>
            <a:r>
              <a:rPr lang="en-US" sz="3900" b="1" dirty="0">
                <a:solidFill>
                  <a:srgbClr val="292929"/>
                </a:solidFill>
                <a:latin typeface="Montserrat" pitchFamily="34" charset="0"/>
                <a:ea typeface="Montserrat" pitchFamily="34" charset="-122"/>
                <a:cs typeface="Montserrat" pitchFamily="34" charset="-120"/>
              </a:rPr>
              <a:t>.</a:t>
            </a:r>
            <a:endParaRPr lang="en-US" sz="3900" dirty="0"/>
          </a:p>
        </p:txBody>
      </p:sp>
      <p:sp>
        <p:nvSpPr>
          <p:cNvPr id="10" name="Text 5"/>
          <p:cNvSpPr/>
          <p:nvPr/>
        </p:nvSpPr>
        <p:spPr>
          <a:xfrm>
            <a:off x="1238250" y="2012007"/>
            <a:ext cx="15304770" cy="894308"/>
          </a:xfrm>
          <a:prstGeom prst="rect">
            <a:avLst/>
          </a:prstGeom>
          <a:noFill/>
          <a:ln/>
        </p:spPr>
        <p:txBody>
          <a:bodyPr wrap="square" lIns="25400" tIns="25400" rIns="25400" bIns="25400" rtlCol="0" anchor="t">
            <a:normAutofit/>
          </a:bodyPr>
          <a:lstStyle/>
          <a:p>
            <a:pPr algn="l" indent="0" marL="0">
              <a:lnSpc>
                <a:spcPct val="145000"/>
              </a:lnSpc>
              <a:buNone/>
            </a:pPr>
            <a:r>
              <a:rPr lang="en-US" sz="2325" dirty="0">
                <a:solidFill>
                  <a:srgbClr val="6B625B"/>
                </a:solidFill>
                <a:latin typeface="Inter" pitchFamily="34" charset="0"/>
                <a:ea typeface="Inter" pitchFamily="34" charset="-122"/>
                <a:cs typeface="Inter" pitchFamily="34" charset="-120"/>
              </a:rPr>
              <a:t>One to two sentences, right after the introduction. Summarise the two or three biggest patterns, in general terms only. Save every figure for the body paragraphs.</a:t>
            </a:r>
            <a:endParaRPr lang="en-US" sz="2325" dirty="0"/>
          </a:p>
        </p:txBody>
      </p:sp>
      <p:sp>
        <p:nvSpPr>
          <p:cNvPr id="11" name="Shape 6"/>
          <p:cNvSpPr/>
          <p:nvPr/>
        </p:nvSpPr>
        <p:spPr>
          <a:xfrm>
            <a:off x="1238250" y="3344466"/>
            <a:ext cx="14859000" cy="3324225"/>
          </a:xfrm>
          <a:prstGeom prst="roundRect">
            <a:avLst>
              <a:gd name="adj" fmla="val 5731"/>
            </a:avLst>
          </a:prstGeom>
          <a:solidFill>
            <a:srgbClr val="FFFFFF">
              <a:alpha val="55000"/>
            </a:srgbClr>
          </a:solidFill>
          <a:ln w="9525">
            <a:solidFill>
              <a:srgbClr val="292929">
                <a:alpha val="8000"/>
              </a:srgbClr>
            </a:solidFill>
            <a:prstDash val="solid"/>
          </a:ln>
        </p:spPr>
      </p:sp>
      <p:sp>
        <p:nvSpPr>
          <p:cNvPr id="12" name="Shape 7"/>
          <p:cNvSpPr/>
          <p:nvPr/>
        </p:nvSpPr>
        <p:spPr>
          <a:xfrm rot="-90000">
            <a:off x="1668400" y="3142059"/>
            <a:ext cx="2181225" cy="409575"/>
          </a:xfrm>
          <a:prstGeom prst="rect">
            <a:avLst/>
          </a:prstGeom>
          <a:solidFill>
            <a:srgbClr val="FAF8F3"/>
          </a:solidFill>
          <a:ln/>
        </p:spPr>
      </p:sp>
      <p:sp>
        <p:nvSpPr>
          <p:cNvPr id="13" name="Text 8"/>
          <p:cNvSpPr/>
          <p:nvPr/>
        </p:nvSpPr>
        <p:spPr>
          <a:xfrm rot="-90000">
            <a:off x="1801750" y="3142059"/>
            <a:ext cx="2132648" cy="447675"/>
          </a:xfrm>
          <a:prstGeom prst="rect">
            <a:avLst/>
          </a:prstGeom>
          <a:noFill/>
          <a:ln/>
        </p:spPr>
        <p:txBody>
          <a:bodyPr wrap="none" lIns="25400" tIns="25400" rIns="25400" bIns="25400" rtlCol="0" anchor="t">
            <a:normAutofit/>
          </a:bodyPr>
          <a:lstStyle/>
          <a:p>
            <a:pPr algn="l" indent="0" marL="0">
              <a:buNone/>
            </a:pPr>
            <a:r>
              <a:rPr lang="en-US" sz="2550" b="1" dirty="0">
                <a:solidFill>
                  <a:srgbClr val="F88B48"/>
                </a:solidFill>
                <a:latin typeface="Caveat" pitchFamily="34" charset="0"/>
                <a:ea typeface="Caveat" pitchFamily="34" charset="-122"/>
                <a:cs typeface="Caveat" pitchFamily="34" charset="-120"/>
              </a:rPr>
              <a:t>a strong overview</a:t>
            </a:r>
            <a:endParaRPr lang="en-US" sz="2550" dirty="0"/>
          </a:p>
        </p:txBody>
      </p:sp>
      <p:sp>
        <p:nvSpPr>
          <p:cNvPr id="14" name="Text 9"/>
          <p:cNvSpPr/>
          <p:nvPr/>
        </p:nvSpPr>
        <p:spPr>
          <a:xfrm>
            <a:off x="1819275" y="3887391"/>
            <a:ext cx="14107859" cy="1666875"/>
          </a:xfrm>
          <a:prstGeom prst="rect">
            <a:avLst/>
          </a:prstGeom>
          <a:noFill/>
          <a:ln/>
        </p:spPr>
        <p:txBody>
          <a:bodyPr wrap="square" lIns="25400" tIns="25400" rIns="25400" bIns="25400" rtlCol="0" anchor="t">
            <a:normAutofit/>
          </a:bodyPr>
          <a:lstStyle/>
          <a:p>
            <a:pPr algn="l" indent="0" marL="0">
              <a:lnSpc>
                <a:spcPct val="150000"/>
              </a:lnSpc>
              <a:buNone/>
            </a:pPr>
            <a:r>
              <a:rPr lang="en-US" sz="2850" dirty="0">
                <a:solidFill>
                  <a:srgbClr val="292929"/>
                </a:solidFill>
                <a:latin typeface="Inter" pitchFamily="34" charset="0"/>
                <a:ea typeface="Inter" pitchFamily="34" charset="-122"/>
                <a:cs typeface="Inter" pitchFamily="34" charset="-120"/>
              </a:rPr>
              <a:t>"Overall, one museum attracted significantly more visitors than the other two throughout the period, while visitor numbers to all three venues increased considerably."</a:t>
            </a:r>
            <a:endParaRPr lang="en-US" sz="2850" dirty="0"/>
          </a:p>
        </p:txBody>
      </p:sp>
      <p:sp>
        <p:nvSpPr>
          <p:cNvPr id="15" name="Text 10"/>
          <p:cNvSpPr/>
          <p:nvPr/>
        </p:nvSpPr>
        <p:spPr>
          <a:xfrm>
            <a:off x="1819275" y="5785247"/>
            <a:ext cx="265509"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5FB27B"/>
                </a:solidFill>
                <a:latin typeface="Montserrat" pitchFamily="34" charset="0"/>
                <a:ea typeface="Montserrat" pitchFamily="34" charset="-122"/>
                <a:cs typeface="Montserrat" pitchFamily="34" charset="-120"/>
              </a:rPr>
              <a:t>✓</a:t>
            </a:r>
            <a:endParaRPr lang="en-US" sz="1950" dirty="0"/>
          </a:p>
        </p:txBody>
      </p:sp>
      <p:sp>
        <p:nvSpPr>
          <p:cNvPr id="16" name="Text 11"/>
          <p:cNvSpPr/>
          <p:nvPr/>
        </p:nvSpPr>
        <p:spPr>
          <a:xfrm>
            <a:off x="2141934" y="5744766"/>
            <a:ext cx="4676157"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3F8A5B"/>
                </a:solidFill>
                <a:latin typeface="Caveat" pitchFamily="34" charset="0"/>
                <a:ea typeface="Caveat" pitchFamily="34" charset="-122"/>
                <a:cs typeface="Caveat" pitchFamily="34" charset="-120"/>
              </a:rPr>
              <a:t>no specific figures, just the overall picture</a:t>
            </a:r>
            <a:endParaRPr lang="en-US" sz="2400" dirty="0"/>
          </a:p>
        </p:txBody>
      </p:sp>
      <p:sp>
        <p:nvSpPr>
          <p:cNvPr id="17" name="Text 12"/>
          <p:cNvSpPr/>
          <p:nvPr/>
        </p:nvSpPr>
        <p:spPr>
          <a:xfrm>
            <a:off x="1238250" y="94916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18" name="Text 13"/>
          <p:cNvSpPr/>
          <p:nvPr/>
        </p:nvSpPr>
        <p:spPr>
          <a:xfrm>
            <a:off x="16902038" y="9491663"/>
            <a:ext cx="223912"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344900" y="571500"/>
            <a:ext cx="1028700" cy="1239366"/>
          </a:xfrm>
          <a:prstGeom prst="rect">
            <a:avLst/>
          </a:prstGeom>
        </p:spPr>
      </p:pic>
      <p:sp>
        <p:nvSpPr>
          <p:cNvPr id="5" name="Text 1"/>
          <p:cNvSpPr/>
          <p:nvPr/>
        </p:nvSpPr>
        <p:spPr>
          <a:xfrm>
            <a:off x="1238250" y="838200"/>
            <a:ext cx="17392650"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PART 3 · BODY PARAGRAPHS</a:t>
            </a:r>
            <a:endParaRPr lang="en-US" sz="1800" dirty="0"/>
          </a:p>
        </p:txBody>
      </p:sp>
      <p:pic>
        <p:nvPicPr>
          <p:cNvPr id="6" name="Image 2" descr="preencoded.png">    </p:cNvPr>
          <p:cNvPicPr>
            <a:picLocks noChangeAspect="1"/>
          </p:cNvPicPr>
          <p:nvPr/>
        </p:nvPicPr>
        <p:blipFill>
          <a:blip r:embed="rId3">
            <a:alphaModFix amt="95000"/>
          </a:blip>
          <a:stretch>
            <a:fillRect/>
          </a:stretch>
        </p:blipFill>
        <p:spPr>
          <a:xfrm>
            <a:off x="1123950" y="1247775"/>
            <a:ext cx="1826196" cy="573732"/>
          </a:xfrm>
          <a:prstGeom prst="rect">
            <a:avLst/>
          </a:prstGeom>
        </p:spPr>
      </p:pic>
      <p:sp>
        <p:nvSpPr>
          <p:cNvPr id="7" name="Text 2"/>
          <p:cNvSpPr/>
          <p:nvPr/>
        </p:nvSpPr>
        <p:spPr>
          <a:xfrm>
            <a:off x="1238250" y="1219200"/>
            <a:ext cx="1757355" cy="642938"/>
          </a:xfrm>
          <a:prstGeom prst="rect">
            <a:avLst/>
          </a:prstGeom>
          <a:noFill/>
          <a:ln/>
        </p:spPr>
        <p:txBody>
          <a:bodyPr wrap="none" lIns="25400" tIns="25400" rIns="25400" bIns="25400" rtlCol="0" anchor="t">
            <a:normAutofit/>
          </a:bodyPr>
          <a:lstStyle/>
          <a:p>
            <a:pPr algn="l" indent="0" marL="0">
              <a:lnSpc>
                <a:spcPct val="112000"/>
              </a:lnSpc>
              <a:buNone/>
            </a:pPr>
            <a:r>
              <a:rPr lang="en-US" sz="3900" b="1" dirty="0">
                <a:solidFill>
                  <a:srgbClr val="292929"/>
                </a:solidFill>
                <a:latin typeface="Montserrat" pitchFamily="34" charset="0"/>
                <a:ea typeface="Montserrat" pitchFamily="34" charset="-122"/>
                <a:cs typeface="Montserrat" pitchFamily="34" charset="-120"/>
              </a:rPr>
              <a:t>Group</a:t>
            </a:r>
            <a:endParaRPr lang="en-US" sz="3900" dirty="0"/>
          </a:p>
        </p:txBody>
      </p:sp>
      <p:sp>
        <p:nvSpPr>
          <p:cNvPr id="8" name="Text 3"/>
          <p:cNvSpPr/>
          <p:nvPr/>
        </p:nvSpPr>
        <p:spPr>
          <a:xfrm>
            <a:off x="2976042" y="1219200"/>
            <a:ext cx="6642414" cy="642938"/>
          </a:xfrm>
          <a:prstGeom prst="rect">
            <a:avLst/>
          </a:prstGeom>
          <a:noFill/>
          <a:ln/>
        </p:spPr>
        <p:txBody>
          <a:bodyPr wrap="square" lIns="0" tIns="0" rIns="0" bIns="0" rtlCol="0" anchor="t">
            <a:normAutofit/>
          </a:bodyPr>
          <a:lstStyle/>
          <a:p>
            <a:pPr algn="l" indent="0" marL="0">
              <a:lnSpc>
                <a:spcPct val="112000"/>
              </a:lnSpc>
              <a:buNone/>
            </a:pPr>
            <a:r>
              <a:rPr lang="en-US" sz="3900" b="1" dirty="0">
                <a:solidFill>
                  <a:srgbClr val="292929"/>
                </a:solidFill>
                <a:latin typeface="Montserrat" pitchFamily="34" charset="0"/>
                <a:ea typeface="Montserrat" pitchFamily="34" charset="-122"/>
                <a:cs typeface="Montserrat" pitchFamily="34" charset="-120"/>
              </a:rPr>
              <a:t>the data, don't just list it.</a:t>
            </a:r>
            <a:endParaRPr lang="en-US" sz="3900" dirty="0"/>
          </a:p>
        </p:txBody>
      </p:sp>
      <p:sp>
        <p:nvSpPr>
          <p:cNvPr id="9" name="Text 4"/>
          <p:cNvSpPr/>
          <p:nvPr/>
        </p:nvSpPr>
        <p:spPr>
          <a:xfrm>
            <a:off x="1238250" y="1935807"/>
            <a:ext cx="15893415"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6B625B"/>
                </a:solidFill>
                <a:latin typeface="Inter" pitchFamily="34" charset="0"/>
                <a:ea typeface="Inter" pitchFamily="34" charset="-122"/>
                <a:cs typeface="Inter" pitchFamily="34" charset="-120"/>
              </a:rPr>
              <a:t>Split the supporting detail into two logical groups, one per paragraph. Each is backed with </a:t>
            </a:r>
            <a:pPr algn="l" indent="0" marL="0">
              <a:lnSpc>
                <a:spcPct val="140000"/>
              </a:lnSpc>
              <a:buNone/>
            </a:pPr>
            <a:r>
              <a:rPr lang="en-US" sz="2250" b="1" dirty="0">
                <a:solidFill>
                  <a:srgbClr val="292929"/>
                </a:solidFill>
                <a:latin typeface="Inter" pitchFamily="34" charset="0"/>
                <a:ea typeface="Inter" pitchFamily="34" charset="-122"/>
                <a:cs typeface="Inter" pitchFamily="34" charset="-120"/>
              </a:rPr>
              <a:t>specific figures </a:t>
            </a:r>
            <a:pPr algn="l" indent="0" marL="0">
              <a:lnSpc>
                <a:spcPct val="140000"/>
              </a:lnSpc>
              <a:buNone/>
            </a:pPr>
            <a:r>
              <a:rPr lang="en-US" sz="2250" dirty="0">
                <a:solidFill>
                  <a:srgbClr val="6B625B"/>
                </a:solidFill>
                <a:latin typeface="Inter" pitchFamily="34" charset="0"/>
                <a:ea typeface="Inter" pitchFamily="34" charset="-122"/>
                <a:cs typeface="Inter" pitchFamily="34" charset="-120"/>
              </a:rPr>
              <a:t>, this is where your numbers belong.</a:t>
            </a:r>
            <a:endParaRPr lang="en-US" sz="2250" dirty="0"/>
          </a:p>
        </p:txBody>
      </p:sp>
      <p:sp>
        <p:nvSpPr>
          <p:cNvPr id="10" name="Shape 5"/>
          <p:cNvSpPr/>
          <p:nvPr/>
        </p:nvSpPr>
        <p:spPr>
          <a:xfrm>
            <a:off x="1238250" y="3116907"/>
            <a:ext cx="7648575" cy="2357438"/>
          </a:xfrm>
          <a:prstGeom prst="roundRect">
            <a:avLst>
              <a:gd name="adj" fmla="val 8081"/>
            </a:avLst>
          </a:prstGeom>
          <a:solidFill>
            <a:srgbClr val="FFFFFF">
              <a:alpha val="55000"/>
            </a:srgbClr>
          </a:solidFill>
          <a:ln w="9525">
            <a:solidFill>
              <a:srgbClr val="292929">
                <a:alpha val="8000"/>
              </a:srgbClr>
            </a:solidFill>
            <a:prstDash val="solid"/>
          </a:ln>
        </p:spPr>
      </p:sp>
      <p:sp>
        <p:nvSpPr>
          <p:cNvPr id="11" name="Text 6"/>
          <p:cNvSpPr/>
          <p:nvPr/>
        </p:nvSpPr>
        <p:spPr>
          <a:xfrm>
            <a:off x="1647825" y="3488382"/>
            <a:ext cx="7512367"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292929"/>
                </a:solidFill>
                <a:latin typeface="Montserrat" pitchFamily="34" charset="0"/>
                <a:ea typeface="Montserrat" pitchFamily="34" charset="-122"/>
                <a:cs typeface="Montserrat" pitchFamily="34" charset="-120"/>
              </a:rPr>
              <a:t>Group by category</a:t>
            </a:r>
            <a:endParaRPr lang="en-US" sz="2550" dirty="0"/>
          </a:p>
        </p:txBody>
      </p:sp>
      <p:sp>
        <p:nvSpPr>
          <p:cNvPr id="12" name="Shape 7"/>
          <p:cNvSpPr/>
          <p:nvPr/>
        </p:nvSpPr>
        <p:spPr>
          <a:xfrm>
            <a:off x="1647825" y="4131320"/>
            <a:ext cx="400050" cy="400050"/>
          </a:xfrm>
          <a:prstGeom prst="roundRect">
            <a:avLst>
              <a:gd name="adj" fmla="val 23810"/>
            </a:avLst>
          </a:prstGeom>
          <a:solidFill>
            <a:srgbClr val="5FB27B"/>
          </a:solidFill>
          <a:ln/>
        </p:spPr>
      </p:sp>
      <p:sp>
        <p:nvSpPr>
          <p:cNvPr id="13" name="Text 8"/>
          <p:cNvSpPr/>
          <p:nvPr/>
        </p:nvSpPr>
        <p:spPr>
          <a:xfrm>
            <a:off x="1609725" y="4131320"/>
            <a:ext cx="476250" cy="4381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P1</a:t>
            </a:r>
            <a:endParaRPr lang="en-US" sz="1800" dirty="0"/>
          </a:p>
        </p:txBody>
      </p:sp>
      <p:sp>
        <p:nvSpPr>
          <p:cNvPr id="14" name="Text 9"/>
          <p:cNvSpPr/>
          <p:nvPr/>
        </p:nvSpPr>
        <p:spPr>
          <a:xfrm>
            <a:off x="2219325" y="4131320"/>
            <a:ext cx="4385980"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25B"/>
                </a:solidFill>
                <a:latin typeface="Inter" pitchFamily="34" charset="0"/>
                <a:ea typeface="Inter" pitchFamily="34" charset="-122"/>
                <a:cs typeface="Inter" pitchFamily="34" charset="-120"/>
              </a:rPr>
              <a:t>Museums with a </a:t>
            </a:r>
            <a:pPr algn="l" indent="0" marL="0">
              <a:lnSpc>
                <a:spcPct val="140000"/>
              </a:lnSpc>
              <a:buNone/>
            </a:pPr>
            <a:r>
              <a:rPr lang="en-US" sz="2100" b="1" dirty="0">
                <a:solidFill>
                  <a:srgbClr val="292929"/>
                </a:solidFill>
                <a:latin typeface="Inter" pitchFamily="34" charset="0"/>
                <a:ea typeface="Inter" pitchFamily="34" charset="-122"/>
                <a:cs typeface="Inter" pitchFamily="34" charset="-120"/>
              </a:rPr>
              <a:t>similar pattern</a:t>
            </a:r>
            <a:endParaRPr lang="en-US" sz="2100" dirty="0"/>
          </a:p>
        </p:txBody>
      </p:sp>
      <p:sp>
        <p:nvSpPr>
          <p:cNvPr id="15" name="Shape 10"/>
          <p:cNvSpPr/>
          <p:nvPr/>
        </p:nvSpPr>
        <p:spPr>
          <a:xfrm>
            <a:off x="1647825" y="4702820"/>
            <a:ext cx="400050" cy="400050"/>
          </a:xfrm>
          <a:prstGeom prst="roundRect">
            <a:avLst>
              <a:gd name="adj" fmla="val 23810"/>
            </a:avLst>
          </a:prstGeom>
          <a:solidFill>
            <a:srgbClr val="5FB27B"/>
          </a:solidFill>
          <a:ln/>
        </p:spPr>
      </p:sp>
      <p:sp>
        <p:nvSpPr>
          <p:cNvPr id="16" name="Text 11"/>
          <p:cNvSpPr/>
          <p:nvPr/>
        </p:nvSpPr>
        <p:spPr>
          <a:xfrm>
            <a:off x="1609725" y="4702820"/>
            <a:ext cx="476250" cy="4381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P2</a:t>
            </a:r>
            <a:endParaRPr lang="en-US" sz="1800" dirty="0"/>
          </a:p>
        </p:txBody>
      </p:sp>
      <p:sp>
        <p:nvSpPr>
          <p:cNvPr id="17" name="Text 12"/>
          <p:cNvSpPr/>
          <p:nvPr/>
        </p:nvSpPr>
        <p:spPr>
          <a:xfrm>
            <a:off x="2219325" y="4702820"/>
            <a:ext cx="4279076"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25B"/>
                </a:solidFill>
                <a:latin typeface="Inter" pitchFamily="34" charset="0"/>
                <a:ea typeface="Inter" pitchFamily="34" charset="-122"/>
                <a:cs typeface="Inter" pitchFamily="34" charset="-120"/>
              </a:rPr>
              <a:t>The museum that </a:t>
            </a:r>
            <a:pPr algn="l" indent="0" marL="0">
              <a:lnSpc>
                <a:spcPct val="140000"/>
              </a:lnSpc>
              <a:buNone/>
            </a:pPr>
            <a:r>
              <a:rPr lang="en-US" sz="2100" b="1" dirty="0">
                <a:solidFill>
                  <a:srgbClr val="292929"/>
                </a:solidFill>
                <a:latin typeface="Inter" pitchFamily="34" charset="0"/>
                <a:ea typeface="Inter" pitchFamily="34" charset="-122"/>
                <a:cs typeface="Inter" pitchFamily="34" charset="-120"/>
              </a:rPr>
              <a:t>stands apart</a:t>
            </a:r>
            <a:endParaRPr lang="en-US" sz="2100" dirty="0"/>
          </a:p>
        </p:txBody>
      </p:sp>
      <p:sp>
        <p:nvSpPr>
          <p:cNvPr id="18" name="Shape 13"/>
          <p:cNvSpPr/>
          <p:nvPr/>
        </p:nvSpPr>
        <p:spPr>
          <a:xfrm>
            <a:off x="9401175" y="3116907"/>
            <a:ext cx="7648575" cy="2357438"/>
          </a:xfrm>
          <a:prstGeom prst="roundRect">
            <a:avLst>
              <a:gd name="adj" fmla="val 8081"/>
            </a:avLst>
          </a:prstGeom>
          <a:solidFill>
            <a:srgbClr val="FFFFFF">
              <a:alpha val="55000"/>
            </a:srgbClr>
          </a:solidFill>
          <a:ln w="9525">
            <a:solidFill>
              <a:srgbClr val="292929">
                <a:alpha val="8000"/>
              </a:srgbClr>
            </a:solidFill>
            <a:prstDash val="solid"/>
          </a:ln>
        </p:spPr>
      </p:sp>
      <p:sp>
        <p:nvSpPr>
          <p:cNvPr id="19" name="Text 14"/>
          <p:cNvSpPr/>
          <p:nvPr/>
        </p:nvSpPr>
        <p:spPr>
          <a:xfrm>
            <a:off x="9810750" y="3488382"/>
            <a:ext cx="7512367"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292929"/>
                </a:solidFill>
                <a:latin typeface="Montserrat" pitchFamily="34" charset="0"/>
                <a:ea typeface="Montserrat" pitchFamily="34" charset="-122"/>
                <a:cs typeface="Montserrat" pitchFamily="34" charset="-120"/>
              </a:rPr>
              <a:t>Group by time period</a:t>
            </a:r>
            <a:endParaRPr lang="en-US" sz="2550" dirty="0"/>
          </a:p>
        </p:txBody>
      </p:sp>
      <p:sp>
        <p:nvSpPr>
          <p:cNvPr id="20" name="Shape 15"/>
          <p:cNvSpPr/>
          <p:nvPr/>
        </p:nvSpPr>
        <p:spPr>
          <a:xfrm>
            <a:off x="9810750" y="4131320"/>
            <a:ext cx="400050" cy="400050"/>
          </a:xfrm>
          <a:prstGeom prst="roundRect">
            <a:avLst>
              <a:gd name="adj" fmla="val 23810"/>
            </a:avLst>
          </a:prstGeom>
          <a:solidFill>
            <a:srgbClr val="F88B48"/>
          </a:solidFill>
          <a:ln/>
        </p:spPr>
      </p:sp>
      <p:sp>
        <p:nvSpPr>
          <p:cNvPr id="21" name="Text 16"/>
          <p:cNvSpPr/>
          <p:nvPr/>
        </p:nvSpPr>
        <p:spPr>
          <a:xfrm>
            <a:off x="9772650" y="4131320"/>
            <a:ext cx="476250" cy="4381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P1</a:t>
            </a:r>
            <a:endParaRPr lang="en-US" sz="1800" dirty="0"/>
          </a:p>
        </p:txBody>
      </p:sp>
      <p:sp>
        <p:nvSpPr>
          <p:cNvPr id="22" name="Text 17"/>
          <p:cNvSpPr/>
          <p:nvPr/>
        </p:nvSpPr>
        <p:spPr>
          <a:xfrm>
            <a:off x="10382250" y="4131320"/>
            <a:ext cx="1736973"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292929"/>
                </a:solidFill>
                <a:latin typeface="Inter" pitchFamily="34" charset="0"/>
                <a:ea typeface="Inter" pitchFamily="34" charset="-122"/>
                <a:cs typeface="Inter" pitchFamily="34" charset="-120"/>
              </a:rPr>
              <a:t>1990 – 2005</a:t>
            </a:r>
            <a:endParaRPr lang="en-US" sz="2100" dirty="0"/>
          </a:p>
        </p:txBody>
      </p:sp>
      <p:sp>
        <p:nvSpPr>
          <p:cNvPr id="23" name="Shape 18"/>
          <p:cNvSpPr/>
          <p:nvPr/>
        </p:nvSpPr>
        <p:spPr>
          <a:xfrm>
            <a:off x="9810750" y="4702820"/>
            <a:ext cx="400050" cy="400050"/>
          </a:xfrm>
          <a:prstGeom prst="roundRect">
            <a:avLst>
              <a:gd name="adj" fmla="val 23810"/>
            </a:avLst>
          </a:prstGeom>
          <a:solidFill>
            <a:srgbClr val="F88B48"/>
          </a:solidFill>
          <a:ln/>
        </p:spPr>
      </p:sp>
      <p:sp>
        <p:nvSpPr>
          <p:cNvPr id="24" name="Text 19"/>
          <p:cNvSpPr/>
          <p:nvPr/>
        </p:nvSpPr>
        <p:spPr>
          <a:xfrm>
            <a:off x="9772650" y="4702820"/>
            <a:ext cx="476250" cy="4381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P2</a:t>
            </a:r>
            <a:endParaRPr lang="en-US" sz="1800" dirty="0"/>
          </a:p>
        </p:txBody>
      </p:sp>
      <p:sp>
        <p:nvSpPr>
          <p:cNvPr id="25" name="Text 20"/>
          <p:cNvSpPr/>
          <p:nvPr/>
        </p:nvSpPr>
        <p:spPr>
          <a:xfrm>
            <a:off x="10382250" y="4702820"/>
            <a:ext cx="1796564"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292929"/>
                </a:solidFill>
                <a:latin typeface="Inter" pitchFamily="34" charset="0"/>
                <a:ea typeface="Inter" pitchFamily="34" charset="-122"/>
                <a:cs typeface="Inter" pitchFamily="34" charset="-120"/>
              </a:rPr>
              <a:t>2005 – 2020</a:t>
            </a:r>
            <a:endParaRPr lang="en-US" sz="2100" dirty="0"/>
          </a:p>
        </p:txBody>
      </p:sp>
      <p:sp>
        <p:nvSpPr>
          <p:cNvPr id="26" name="Shape 21"/>
          <p:cNvSpPr/>
          <p:nvPr/>
        </p:nvSpPr>
        <p:spPr>
          <a:xfrm>
            <a:off x="1238250" y="5798195"/>
            <a:ext cx="15430500" cy="779115"/>
          </a:xfrm>
          <a:prstGeom prst="roundRect">
            <a:avLst>
              <a:gd name="adj" fmla="val 17116"/>
            </a:avLst>
          </a:prstGeom>
          <a:solidFill>
            <a:srgbClr val="F88B48">
              <a:alpha val="12000"/>
            </a:srgbClr>
          </a:solidFill>
          <a:ln/>
        </p:spPr>
      </p:sp>
      <p:sp>
        <p:nvSpPr>
          <p:cNvPr id="27" name="Text 22"/>
          <p:cNvSpPr/>
          <p:nvPr/>
        </p:nvSpPr>
        <p:spPr>
          <a:xfrm>
            <a:off x="1504950" y="6035353"/>
            <a:ext cx="353616"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F88B48"/>
                </a:solidFill>
                <a:latin typeface="Caveat" pitchFamily="34" charset="0"/>
                <a:ea typeface="Caveat" pitchFamily="34" charset="-122"/>
                <a:cs typeface="Caveat" pitchFamily="34" charset="-120"/>
              </a:rPr>
              <a:t>tip</a:t>
            </a:r>
            <a:endParaRPr lang="en-US" sz="2400" dirty="0"/>
          </a:p>
        </p:txBody>
      </p:sp>
      <p:sp>
        <p:nvSpPr>
          <p:cNvPr id="28" name="Text 23"/>
          <p:cNvSpPr/>
          <p:nvPr/>
        </p:nvSpPr>
        <p:spPr>
          <a:xfrm>
            <a:off x="1934766" y="6007745"/>
            <a:ext cx="10791907"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6B625B"/>
                </a:solidFill>
                <a:latin typeface="Inter" pitchFamily="34" charset="0"/>
                <a:ea typeface="Inter" pitchFamily="34" charset="-122"/>
                <a:cs typeface="Inter" pitchFamily="34" charset="-120"/>
              </a:rPr>
              <a:t>Pick whichever grouping makes the comparison </a:t>
            </a:r>
            <a:pPr algn="l" indent="0" marL="0">
              <a:lnSpc>
                <a:spcPct val="140000"/>
              </a:lnSpc>
              <a:buNone/>
            </a:pPr>
            <a:r>
              <a:rPr lang="en-US" sz="2025" b="1" dirty="0">
                <a:solidFill>
                  <a:srgbClr val="292929"/>
                </a:solidFill>
                <a:latin typeface="Inter" pitchFamily="34" charset="0"/>
                <a:ea typeface="Inter" pitchFamily="34" charset="-122"/>
                <a:cs typeface="Inter" pitchFamily="34" charset="-120"/>
              </a:rPr>
              <a:t>clearest </a:t>
            </a:r>
            <a:pPr algn="l" indent="0" marL="0">
              <a:lnSpc>
                <a:spcPct val="140000"/>
              </a:lnSpc>
              <a:buNone/>
            </a:pPr>
            <a:r>
              <a:rPr lang="en-US" sz="2025" dirty="0">
                <a:solidFill>
                  <a:srgbClr val="6B625B"/>
                </a:solidFill>
                <a:latin typeface="Inter" pitchFamily="34" charset="0"/>
                <a:ea typeface="Inter" pitchFamily="34" charset="-122"/>
                <a:cs typeface="Inter" pitchFamily="34" charset="-120"/>
              </a:rPr>
              <a:t>for your specific graph.</a:t>
            </a:r>
            <a:endParaRPr lang="en-US" sz="2025" dirty="0"/>
          </a:p>
        </p:txBody>
      </p:sp>
      <p:sp>
        <p:nvSpPr>
          <p:cNvPr id="29" name="Text 24"/>
          <p:cNvSpPr/>
          <p:nvPr/>
        </p:nvSpPr>
        <p:spPr>
          <a:xfrm>
            <a:off x="1238250" y="96059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30" name="Text 25"/>
          <p:cNvSpPr/>
          <p:nvPr/>
        </p:nvSpPr>
        <p:spPr>
          <a:xfrm>
            <a:off x="16914093" y="9605963"/>
            <a:ext cx="211857"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344900" y="571500"/>
            <a:ext cx="1028700" cy="1239366"/>
          </a:xfrm>
          <a:prstGeom prst="rect">
            <a:avLst/>
          </a:prstGeom>
        </p:spPr>
      </p:pic>
      <p:sp>
        <p:nvSpPr>
          <p:cNvPr id="5" name="Text 1"/>
          <p:cNvSpPr/>
          <p:nvPr/>
        </p:nvSpPr>
        <p:spPr>
          <a:xfrm>
            <a:off x="1238250" y="838200"/>
            <a:ext cx="17392650"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PART 4 · THE FULL SHAPE</a:t>
            </a:r>
            <a:endParaRPr lang="en-US" sz="1800" dirty="0"/>
          </a:p>
        </p:txBody>
      </p:sp>
      <p:sp>
        <p:nvSpPr>
          <p:cNvPr id="6" name="Text 2"/>
          <p:cNvSpPr/>
          <p:nvPr/>
        </p:nvSpPr>
        <p:spPr>
          <a:xfrm>
            <a:off x="1238250" y="1247775"/>
            <a:ext cx="17392650" cy="614139"/>
          </a:xfrm>
          <a:prstGeom prst="rect">
            <a:avLst/>
          </a:prstGeom>
          <a:noFill/>
          <a:ln/>
        </p:spPr>
        <p:txBody>
          <a:bodyPr wrap="square" lIns="25400" tIns="25400" rIns="25400" bIns="25400" rtlCol="0" anchor="t">
            <a:normAutofit/>
          </a:bodyPr>
          <a:lstStyle/>
          <a:p>
            <a:pPr algn="l" indent="0" marL="0">
              <a:lnSpc>
                <a:spcPct val="112000"/>
              </a:lnSpc>
              <a:buNone/>
            </a:pPr>
            <a:r>
              <a:rPr lang="en-US" sz="4050" b="1" dirty="0">
                <a:solidFill>
                  <a:srgbClr val="292929"/>
                </a:solidFill>
                <a:latin typeface="Montserrat" pitchFamily="34" charset="0"/>
                <a:ea typeface="Montserrat" pitchFamily="34" charset="-122"/>
                <a:cs typeface="Montserrat" pitchFamily="34" charset="-120"/>
              </a:rPr>
              <a:t>The four-part shape, side by side.</a:t>
            </a:r>
            <a:endParaRPr lang="en-US" sz="4050" dirty="0"/>
          </a:p>
        </p:txBody>
      </p:sp>
      <p:sp>
        <p:nvSpPr>
          <p:cNvPr id="7" name="Shape 3"/>
          <p:cNvSpPr/>
          <p:nvPr/>
        </p:nvSpPr>
        <p:spPr>
          <a:xfrm>
            <a:off x="1238250" y="2281014"/>
            <a:ext cx="15621000" cy="1078185"/>
          </a:xfrm>
          <a:prstGeom prst="roundRect">
            <a:avLst>
              <a:gd name="adj" fmla="val 15902"/>
            </a:avLst>
          </a:prstGeom>
          <a:solidFill>
            <a:srgbClr val="FFFFFF">
              <a:alpha val="55000"/>
            </a:srgbClr>
          </a:solidFill>
          <a:ln/>
        </p:spPr>
      </p:sp>
      <p:sp>
        <p:nvSpPr>
          <p:cNvPr id="8" name="Shape 4"/>
          <p:cNvSpPr/>
          <p:nvPr/>
        </p:nvSpPr>
        <p:spPr>
          <a:xfrm>
            <a:off x="1238250" y="3349675"/>
            <a:ext cx="15621000" cy="9525"/>
          </a:xfrm>
          <a:prstGeom prst="rect">
            <a:avLst/>
          </a:prstGeom>
          <a:solidFill>
            <a:srgbClr val="292929">
              <a:alpha val="8000"/>
            </a:srgbClr>
          </a:solidFill>
          <a:ln/>
        </p:spPr>
      </p:sp>
      <p:sp>
        <p:nvSpPr>
          <p:cNvPr id="9" name="Shape 5"/>
          <p:cNvSpPr/>
          <p:nvPr/>
        </p:nvSpPr>
        <p:spPr>
          <a:xfrm>
            <a:off x="1238250" y="2281014"/>
            <a:ext cx="15621000" cy="9525"/>
          </a:xfrm>
          <a:prstGeom prst="rect">
            <a:avLst/>
          </a:prstGeom>
          <a:solidFill>
            <a:srgbClr val="292929">
              <a:alpha val="8000"/>
            </a:srgbClr>
          </a:solidFill>
          <a:ln/>
        </p:spPr>
      </p:sp>
      <p:sp>
        <p:nvSpPr>
          <p:cNvPr id="10" name="Shape 6"/>
          <p:cNvSpPr/>
          <p:nvPr/>
        </p:nvSpPr>
        <p:spPr>
          <a:xfrm>
            <a:off x="1238250" y="2281014"/>
            <a:ext cx="76200" cy="1078185"/>
          </a:xfrm>
          <a:prstGeom prst="rect">
            <a:avLst/>
          </a:prstGeom>
          <a:solidFill>
            <a:srgbClr val="5FB27B"/>
          </a:solidFill>
          <a:ln/>
        </p:spPr>
      </p:sp>
      <p:sp>
        <p:nvSpPr>
          <p:cNvPr id="11" name="Shape 7"/>
          <p:cNvSpPr/>
          <p:nvPr/>
        </p:nvSpPr>
        <p:spPr>
          <a:xfrm>
            <a:off x="16849725" y="2281014"/>
            <a:ext cx="9525" cy="1078185"/>
          </a:xfrm>
          <a:prstGeom prst="rect">
            <a:avLst/>
          </a:prstGeom>
          <a:solidFill>
            <a:srgbClr val="292929">
              <a:alpha val="8000"/>
            </a:srgbClr>
          </a:solidFill>
          <a:ln/>
        </p:spPr>
      </p:sp>
      <p:sp>
        <p:nvSpPr>
          <p:cNvPr id="12" name="Text 8"/>
          <p:cNvSpPr/>
          <p:nvPr/>
        </p:nvSpPr>
        <p:spPr>
          <a:xfrm>
            <a:off x="1695450" y="2576289"/>
            <a:ext cx="647700" cy="525735"/>
          </a:xfrm>
          <a:prstGeom prst="rect">
            <a:avLst/>
          </a:prstGeom>
          <a:noFill/>
          <a:ln/>
        </p:spPr>
        <p:txBody>
          <a:bodyPr wrap="square" lIns="25400" tIns="25400" rIns="25400" bIns="25400" rtlCol="0" anchor="t">
            <a:normAutofit/>
          </a:bodyPr>
          <a:lstStyle/>
          <a:p>
            <a:pPr algn="l" indent="0" marL="0">
              <a:lnSpc>
                <a:spcPct val="80000"/>
              </a:lnSpc>
              <a:buNone/>
            </a:pPr>
            <a:r>
              <a:rPr lang="en-US" sz="4800" b="1" dirty="0">
                <a:solidFill>
                  <a:srgbClr val="5FB27B"/>
                </a:solidFill>
                <a:latin typeface="Caveat" pitchFamily="34" charset="0"/>
                <a:ea typeface="Caveat" pitchFamily="34" charset="-122"/>
                <a:cs typeface="Caveat" pitchFamily="34" charset="-120"/>
              </a:rPr>
              <a:t>1</a:t>
            </a:r>
            <a:endParaRPr lang="en-US" sz="4800" dirty="0"/>
          </a:p>
        </p:txBody>
      </p:sp>
      <p:sp>
        <p:nvSpPr>
          <p:cNvPr id="13" name="Text 9"/>
          <p:cNvSpPr/>
          <p:nvPr/>
        </p:nvSpPr>
        <p:spPr>
          <a:xfrm>
            <a:off x="2609850" y="2610520"/>
            <a:ext cx="356235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292929"/>
                </a:solidFill>
                <a:latin typeface="Montserrat" pitchFamily="34" charset="0"/>
                <a:ea typeface="Montserrat" pitchFamily="34" charset="-122"/>
                <a:cs typeface="Montserrat" pitchFamily="34" charset="-120"/>
              </a:rPr>
              <a:t>Introduction</a:t>
            </a:r>
            <a:endParaRPr lang="en-US" sz="2700" dirty="0"/>
          </a:p>
        </p:txBody>
      </p:sp>
      <p:sp>
        <p:nvSpPr>
          <p:cNvPr id="14" name="Text 10"/>
          <p:cNvSpPr/>
          <p:nvPr/>
        </p:nvSpPr>
        <p:spPr>
          <a:xfrm>
            <a:off x="6191250" y="2627188"/>
            <a:ext cx="5905627"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6B625B"/>
                </a:solidFill>
                <a:latin typeface="Inter" pitchFamily="34" charset="0"/>
                <a:ea typeface="Inter" pitchFamily="34" charset="-122"/>
                <a:cs typeface="Inter" pitchFamily="34" charset="-120"/>
              </a:rPr>
              <a:t>Paraphrase the question, one sentence.</a:t>
            </a:r>
            <a:endParaRPr lang="en-US" sz="2250" dirty="0"/>
          </a:p>
        </p:txBody>
      </p:sp>
      <p:sp>
        <p:nvSpPr>
          <p:cNvPr id="15" name="Shape 11"/>
          <p:cNvSpPr/>
          <p:nvPr/>
        </p:nvSpPr>
        <p:spPr>
          <a:xfrm>
            <a:off x="1238250" y="3587800"/>
            <a:ext cx="15621000" cy="1078185"/>
          </a:xfrm>
          <a:prstGeom prst="roundRect">
            <a:avLst>
              <a:gd name="adj" fmla="val 15902"/>
            </a:avLst>
          </a:prstGeom>
          <a:solidFill>
            <a:srgbClr val="FFFFFF">
              <a:alpha val="55000"/>
            </a:srgbClr>
          </a:solidFill>
          <a:ln/>
        </p:spPr>
      </p:sp>
      <p:sp>
        <p:nvSpPr>
          <p:cNvPr id="16" name="Shape 12"/>
          <p:cNvSpPr/>
          <p:nvPr/>
        </p:nvSpPr>
        <p:spPr>
          <a:xfrm>
            <a:off x="1238250" y="4656460"/>
            <a:ext cx="15621000" cy="9525"/>
          </a:xfrm>
          <a:prstGeom prst="rect">
            <a:avLst/>
          </a:prstGeom>
          <a:solidFill>
            <a:srgbClr val="292929">
              <a:alpha val="8000"/>
            </a:srgbClr>
          </a:solidFill>
          <a:ln/>
        </p:spPr>
      </p:sp>
      <p:sp>
        <p:nvSpPr>
          <p:cNvPr id="17" name="Shape 13"/>
          <p:cNvSpPr/>
          <p:nvPr/>
        </p:nvSpPr>
        <p:spPr>
          <a:xfrm>
            <a:off x="1238250" y="3587800"/>
            <a:ext cx="15621000" cy="9525"/>
          </a:xfrm>
          <a:prstGeom prst="rect">
            <a:avLst/>
          </a:prstGeom>
          <a:solidFill>
            <a:srgbClr val="292929">
              <a:alpha val="8000"/>
            </a:srgbClr>
          </a:solidFill>
          <a:ln/>
        </p:spPr>
      </p:sp>
      <p:sp>
        <p:nvSpPr>
          <p:cNvPr id="18" name="Shape 14"/>
          <p:cNvSpPr/>
          <p:nvPr/>
        </p:nvSpPr>
        <p:spPr>
          <a:xfrm>
            <a:off x="1238250" y="3587800"/>
            <a:ext cx="76200" cy="1078185"/>
          </a:xfrm>
          <a:prstGeom prst="rect">
            <a:avLst/>
          </a:prstGeom>
          <a:solidFill>
            <a:srgbClr val="5FB27B"/>
          </a:solidFill>
          <a:ln/>
        </p:spPr>
      </p:sp>
      <p:sp>
        <p:nvSpPr>
          <p:cNvPr id="19" name="Shape 15"/>
          <p:cNvSpPr/>
          <p:nvPr/>
        </p:nvSpPr>
        <p:spPr>
          <a:xfrm>
            <a:off x="16849725" y="3587800"/>
            <a:ext cx="9525" cy="1078185"/>
          </a:xfrm>
          <a:prstGeom prst="rect">
            <a:avLst/>
          </a:prstGeom>
          <a:solidFill>
            <a:srgbClr val="292929">
              <a:alpha val="8000"/>
            </a:srgbClr>
          </a:solidFill>
          <a:ln/>
        </p:spPr>
      </p:sp>
      <p:sp>
        <p:nvSpPr>
          <p:cNvPr id="20" name="Text 16"/>
          <p:cNvSpPr/>
          <p:nvPr/>
        </p:nvSpPr>
        <p:spPr>
          <a:xfrm>
            <a:off x="1695450" y="3883075"/>
            <a:ext cx="647700" cy="525735"/>
          </a:xfrm>
          <a:prstGeom prst="rect">
            <a:avLst/>
          </a:prstGeom>
          <a:noFill/>
          <a:ln/>
        </p:spPr>
        <p:txBody>
          <a:bodyPr wrap="square" lIns="25400" tIns="25400" rIns="25400" bIns="25400" rtlCol="0" anchor="t">
            <a:normAutofit/>
          </a:bodyPr>
          <a:lstStyle/>
          <a:p>
            <a:pPr algn="l" indent="0" marL="0">
              <a:lnSpc>
                <a:spcPct val="80000"/>
              </a:lnSpc>
              <a:buNone/>
            </a:pPr>
            <a:r>
              <a:rPr lang="en-US" sz="4800" b="1" dirty="0">
                <a:solidFill>
                  <a:srgbClr val="5FB27B"/>
                </a:solidFill>
                <a:latin typeface="Caveat" pitchFamily="34" charset="0"/>
                <a:ea typeface="Caveat" pitchFamily="34" charset="-122"/>
                <a:cs typeface="Caveat" pitchFamily="34" charset="-120"/>
              </a:rPr>
              <a:t>2</a:t>
            </a:r>
            <a:endParaRPr lang="en-US" sz="4800" dirty="0"/>
          </a:p>
        </p:txBody>
      </p:sp>
      <p:sp>
        <p:nvSpPr>
          <p:cNvPr id="21" name="Text 17"/>
          <p:cNvSpPr/>
          <p:nvPr/>
        </p:nvSpPr>
        <p:spPr>
          <a:xfrm>
            <a:off x="2609850" y="3917305"/>
            <a:ext cx="356235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292929"/>
                </a:solidFill>
                <a:latin typeface="Montserrat" pitchFamily="34" charset="0"/>
                <a:ea typeface="Montserrat" pitchFamily="34" charset="-122"/>
                <a:cs typeface="Montserrat" pitchFamily="34" charset="-120"/>
              </a:rPr>
              <a:t>Overview</a:t>
            </a:r>
            <a:endParaRPr lang="en-US" sz="2700" dirty="0"/>
          </a:p>
        </p:txBody>
      </p:sp>
      <p:sp>
        <p:nvSpPr>
          <p:cNvPr id="22" name="Text 18"/>
          <p:cNvSpPr/>
          <p:nvPr/>
        </p:nvSpPr>
        <p:spPr>
          <a:xfrm>
            <a:off x="6191250" y="3933974"/>
            <a:ext cx="493146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6B625B"/>
                </a:solidFill>
                <a:latin typeface="Inter" pitchFamily="34" charset="0"/>
                <a:ea typeface="Inter" pitchFamily="34" charset="-122"/>
                <a:cs typeface="Inter" pitchFamily="34" charset="-120"/>
              </a:rPr>
              <a:t>General trends only, no numbers.</a:t>
            </a:r>
            <a:endParaRPr lang="en-US" sz="2250" dirty="0"/>
          </a:p>
        </p:txBody>
      </p:sp>
      <p:sp>
        <p:nvSpPr>
          <p:cNvPr id="23" name="Shape 19"/>
          <p:cNvSpPr/>
          <p:nvPr/>
        </p:nvSpPr>
        <p:spPr>
          <a:xfrm>
            <a:off x="1238250" y="4894585"/>
            <a:ext cx="15621000" cy="1078185"/>
          </a:xfrm>
          <a:prstGeom prst="roundRect">
            <a:avLst>
              <a:gd name="adj" fmla="val 15902"/>
            </a:avLst>
          </a:prstGeom>
          <a:solidFill>
            <a:srgbClr val="FFFFFF">
              <a:alpha val="55000"/>
            </a:srgbClr>
          </a:solidFill>
          <a:ln/>
        </p:spPr>
      </p:sp>
      <p:sp>
        <p:nvSpPr>
          <p:cNvPr id="24" name="Shape 20"/>
          <p:cNvSpPr/>
          <p:nvPr/>
        </p:nvSpPr>
        <p:spPr>
          <a:xfrm>
            <a:off x="1238250" y="5963245"/>
            <a:ext cx="15621000" cy="9525"/>
          </a:xfrm>
          <a:prstGeom prst="rect">
            <a:avLst/>
          </a:prstGeom>
          <a:solidFill>
            <a:srgbClr val="292929">
              <a:alpha val="8000"/>
            </a:srgbClr>
          </a:solidFill>
          <a:ln/>
        </p:spPr>
      </p:sp>
      <p:sp>
        <p:nvSpPr>
          <p:cNvPr id="25" name="Shape 21"/>
          <p:cNvSpPr/>
          <p:nvPr/>
        </p:nvSpPr>
        <p:spPr>
          <a:xfrm>
            <a:off x="1238250" y="4894585"/>
            <a:ext cx="15621000" cy="9525"/>
          </a:xfrm>
          <a:prstGeom prst="rect">
            <a:avLst/>
          </a:prstGeom>
          <a:solidFill>
            <a:srgbClr val="292929">
              <a:alpha val="8000"/>
            </a:srgbClr>
          </a:solidFill>
          <a:ln/>
        </p:spPr>
      </p:sp>
      <p:sp>
        <p:nvSpPr>
          <p:cNvPr id="26" name="Shape 22"/>
          <p:cNvSpPr/>
          <p:nvPr/>
        </p:nvSpPr>
        <p:spPr>
          <a:xfrm>
            <a:off x="1238250" y="4894585"/>
            <a:ext cx="76200" cy="1078185"/>
          </a:xfrm>
          <a:prstGeom prst="rect">
            <a:avLst/>
          </a:prstGeom>
          <a:solidFill>
            <a:srgbClr val="F88B48"/>
          </a:solidFill>
          <a:ln/>
        </p:spPr>
      </p:sp>
      <p:sp>
        <p:nvSpPr>
          <p:cNvPr id="27" name="Shape 23"/>
          <p:cNvSpPr/>
          <p:nvPr/>
        </p:nvSpPr>
        <p:spPr>
          <a:xfrm>
            <a:off x="16849725" y="4894585"/>
            <a:ext cx="9525" cy="1078185"/>
          </a:xfrm>
          <a:prstGeom prst="rect">
            <a:avLst/>
          </a:prstGeom>
          <a:solidFill>
            <a:srgbClr val="292929">
              <a:alpha val="8000"/>
            </a:srgbClr>
          </a:solidFill>
          <a:ln/>
        </p:spPr>
      </p:sp>
      <p:sp>
        <p:nvSpPr>
          <p:cNvPr id="28" name="Text 24"/>
          <p:cNvSpPr/>
          <p:nvPr/>
        </p:nvSpPr>
        <p:spPr>
          <a:xfrm>
            <a:off x="1695450" y="5189860"/>
            <a:ext cx="647700" cy="525735"/>
          </a:xfrm>
          <a:prstGeom prst="rect">
            <a:avLst/>
          </a:prstGeom>
          <a:noFill/>
          <a:ln/>
        </p:spPr>
        <p:txBody>
          <a:bodyPr wrap="square" lIns="25400" tIns="25400" rIns="25400" bIns="25400" rtlCol="0" anchor="t">
            <a:normAutofit/>
          </a:bodyPr>
          <a:lstStyle/>
          <a:p>
            <a:pPr algn="l" indent="0" marL="0">
              <a:lnSpc>
                <a:spcPct val="80000"/>
              </a:lnSpc>
              <a:buNone/>
            </a:pPr>
            <a:r>
              <a:rPr lang="en-US" sz="4800" b="1" dirty="0">
                <a:solidFill>
                  <a:srgbClr val="F88B48"/>
                </a:solidFill>
                <a:latin typeface="Caveat" pitchFamily="34" charset="0"/>
                <a:ea typeface="Caveat" pitchFamily="34" charset="-122"/>
                <a:cs typeface="Caveat" pitchFamily="34" charset="-120"/>
              </a:rPr>
              <a:t>3</a:t>
            </a:r>
            <a:endParaRPr lang="en-US" sz="4800" dirty="0"/>
          </a:p>
        </p:txBody>
      </p:sp>
      <p:sp>
        <p:nvSpPr>
          <p:cNvPr id="29" name="Text 25"/>
          <p:cNvSpPr/>
          <p:nvPr/>
        </p:nvSpPr>
        <p:spPr>
          <a:xfrm>
            <a:off x="2609850" y="5224090"/>
            <a:ext cx="356235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292929"/>
                </a:solidFill>
                <a:latin typeface="Montserrat" pitchFamily="34" charset="0"/>
                <a:ea typeface="Montserrat" pitchFamily="34" charset="-122"/>
                <a:cs typeface="Montserrat" pitchFamily="34" charset="-120"/>
              </a:rPr>
              <a:t>Body paragraph 1</a:t>
            </a:r>
            <a:endParaRPr lang="en-US" sz="2700" dirty="0"/>
          </a:p>
        </p:txBody>
      </p:sp>
      <p:sp>
        <p:nvSpPr>
          <p:cNvPr id="30" name="Text 26"/>
          <p:cNvSpPr/>
          <p:nvPr/>
        </p:nvSpPr>
        <p:spPr>
          <a:xfrm>
            <a:off x="6191250" y="5240759"/>
            <a:ext cx="4754657"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6B625B"/>
                </a:solidFill>
                <a:latin typeface="Inter" pitchFamily="34" charset="0"/>
                <a:ea typeface="Inter" pitchFamily="34" charset="-122"/>
                <a:cs typeface="Inter" pitchFamily="34" charset="-120"/>
              </a:rPr>
              <a:t>First group of data, with figures.</a:t>
            </a:r>
            <a:endParaRPr lang="en-US" sz="2250" dirty="0"/>
          </a:p>
        </p:txBody>
      </p:sp>
      <p:sp>
        <p:nvSpPr>
          <p:cNvPr id="31" name="Shape 27"/>
          <p:cNvSpPr/>
          <p:nvPr/>
        </p:nvSpPr>
        <p:spPr>
          <a:xfrm>
            <a:off x="1238250" y="6201370"/>
            <a:ext cx="15621000" cy="1078185"/>
          </a:xfrm>
          <a:prstGeom prst="roundRect">
            <a:avLst>
              <a:gd name="adj" fmla="val 15902"/>
            </a:avLst>
          </a:prstGeom>
          <a:solidFill>
            <a:srgbClr val="FFFFFF">
              <a:alpha val="55000"/>
            </a:srgbClr>
          </a:solidFill>
          <a:ln/>
        </p:spPr>
      </p:sp>
      <p:sp>
        <p:nvSpPr>
          <p:cNvPr id="32" name="Shape 28"/>
          <p:cNvSpPr/>
          <p:nvPr/>
        </p:nvSpPr>
        <p:spPr>
          <a:xfrm>
            <a:off x="1238250" y="7270031"/>
            <a:ext cx="15621000" cy="9525"/>
          </a:xfrm>
          <a:prstGeom prst="rect">
            <a:avLst/>
          </a:prstGeom>
          <a:solidFill>
            <a:srgbClr val="292929">
              <a:alpha val="8000"/>
            </a:srgbClr>
          </a:solidFill>
          <a:ln/>
        </p:spPr>
      </p:sp>
      <p:sp>
        <p:nvSpPr>
          <p:cNvPr id="33" name="Shape 29"/>
          <p:cNvSpPr/>
          <p:nvPr/>
        </p:nvSpPr>
        <p:spPr>
          <a:xfrm>
            <a:off x="1238250" y="6201370"/>
            <a:ext cx="15621000" cy="9525"/>
          </a:xfrm>
          <a:prstGeom prst="rect">
            <a:avLst/>
          </a:prstGeom>
          <a:solidFill>
            <a:srgbClr val="292929">
              <a:alpha val="8000"/>
            </a:srgbClr>
          </a:solidFill>
          <a:ln/>
        </p:spPr>
      </p:sp>
      <p:sp>
        <p:nvSpPr>
          <p:cNvPr id="34" name="Shape 30"/>
          <p:cNvSpPr/>
          <p:nvPr/>
        </p:nvSpPr>
        <p:spPr>
          <a:xfrm>
            <a:off x="1238250" y="6201370"/>
            <a:ext cx="76200" cy="1078185"/>
          </a:xfrm>
          <a:prstGeom prst="rect">
            <a:avLst/>
          </a:prstGeom>
          <a:solidFill>
            <a:srgbClr val="F88B48"/>
          </a:solidFill>
          <a:ln/>
        </p:spPr>
      </p:sp>
      <p:sp>
        <p:nvSpPr>
          <p:cNvPr id="35" name="Shape 31"/>
          <p:cNvSpPr/>
          <p:nvPr/>
        </p:nvSpPr>
        <p:spPr>
          <a:xfrm>
            <a:off x="16849725" y="6201370"/>
            <a:ext cx="9525" cy="1078185"/>
          </a:xfrm>
          <a:prstGeom prst="rect">
            <a:avLst/>
          </a:prstGeom>
          <a:solidFill>
            <a:srgbClr val="292929">
              <a:alpha val="8000"/>
            </a:srgbClr>
          </a:solidFill>
          <a:ln/>
        </p:spPr>
      </p:sp>
      <p:sp>
        <p:nvSpPr>
          <p:cNvPr id="36" name="Text 32"/>
          <p:cNvSpPr/>
          <p:nvPr/>
        </p:nvSpPr>
        <p:spPr>
          <a:xfrm>
            <a:off x="1695450" y="6496645"/>
            <a:ext cx="647700" cy="525735"/>
          </a:xfrm>
          <a:prstGeom prst="rect">
            <a:avLst/>
          </a:prstGeom>
          <a:noFill/>
          <a:ln/>
        </p:spPr>
        <p:txBody>
          <a:bodyPr wrap="square" lIns="25400" tIns="25400" rIns="25400" bIns="25400" rtlCol="0" anchor="t">
            <a:normAutofit/>
          </a:bodyPr>
          <a:lstStyle/>
          <a:p>
            <a:pPr algn="l" indent="0" marL="0">
              <a:lnSpc>
                <a:spcPct val="80000"/>
              </a:lnSpc>
              <a:buNone/>
            </a:pPr>
            <a:r>
              <a:rPr lang="en-US" sz="4800" b="1" dirty="0">
                <a:solidFill>
                  <a:srgbClr val="F88B48"/>
                </a:solidFill>
                <a:latin typeface="Caveat" pitchFamily="34" charset="0"/>
                <a:ea typeface="Caveat" pitchFamily="34" charset="-122"/>
                <a:cs typeface="Caveat" pitchFamily="34" charset="-120"/>
              </a:rPr>
              <a:t>4</a:t>
            </a:r>
            <a:endParaRPr lang="en-US" sz="4800" dirty="0"/>
          </a:p>
        </p:txBody>
      </p:sp>
      <p:sp>
        <p:nvSpPr>
          <p:cNvPr id="37" name="Text 33"/>
          <p:cNvSpPr/>
          <p:nvPr/>
        </p:nvSpPr>
        <p:spPr>
          <a:xfrm>
            <a:off x="2609850" y="6530876"/>
            <a:ext cx="356235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292929"/>
                </a:solidFill>
                <a:latin typeface="Montserrat" pitchFamily="34" charset="0"/>
                <a:ea typeface="Montserrat" pitchFamily="34" charset="-122"/>
                <a:cs typeface="Montserrat" pitchFamily="34" charset="-120"/>
              </a:rPr>
              <a:t>Body paragraph 2</a:t>
            </a:r>
            <a:endParaRPr lang="en-US" sz="2700" dirty="0"/>
          </a:p>
        </p:txBody>
      </p:sp>
      <p:sp>
        <p:nvSpPr>
          <p:cNvPr id="38" name="Text 34"/>
          <p:cNvSpPr/>
          <p:nvPr/>
        </p:nvSpPr>
        <p:spPr>
          <a:xfrm>
            <a:off x="6191250" y="6547545"/>
            <a:ext cx="4300850"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6B625B"/>
                </a:solidFill>
                <a:latin typeface="Inter" pitchFamily="34" charset="0"/>
                <a:ea typeface="Inter" pitchFamily="34" charset="-122"/>
                <a:cs typeface="Inter" pitchFamily="34" charset="-120"/>
              </a:rPr>
              <a:t>Remaining data, with figures.</a:t>
            </a:r>
            <a:endParaRPr lang="en-US" sz="2250" dirty="0"/>
          </a:p>
        </p:txBody>
      </p:sp>
      <p:sp>
        <p:nvSpPr>
          <p:cNvPr id="39" name="Text 35"/>
          <p:cNvSpPr/>
          <p:nvPr/>
        </p:nvSpPr>
        <p:spPr>
          <a:xfrm>
            <a:off x="1238250" y="96059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40" name="Text 36"/>
          <p:cNvSpPr/>
          <p:nvPr/>
        </p:nvSpPr>
        <p:spPr>
          <a:xfrm>
            <a:off x="16907991" y="9605963"/>
            <a:ext cx="217959"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249650" y="609600"/>
            <a:ext cx="1123950" cy="1354187"/>
          </a:xfrm>
          <a:prstGeom prst="rect">
            <a:avLst/>
          </a:prstGeom>
        </p:spPr>
      </p:pic>
      <p:sp>
        <p:nvSpPr>
          <p:cNvPr id="5" name="Text 1"/>
          <p:cNvSpPr/>
          <p:nvPr/>
        </p:nvSpPr>
        <p:spPr>
          <a:xfrm rot="-120000">
            <a:off x="1238250" y="914400"/>
            <a:ext cx="16285845" cy="542925"/>
          </a:xfrm>
          <a:prstGeom prst="rect">
            <a:avLst/>
          </a:prstGeom>
          <a:noFill/>
          <a:ln/>
        </p:spPr>
        <p:txBody>
          <a:bodyPr wrap="square" lIns="25400" tIns="25400" rIns="25400" bIns="25400" rtlCol="0" anchor="t">
            <a:normAutofit/>
          </a:bodyPr>
          <a:lstStyle/>
          <a:p>
            <a:pPr algn="l" indent="0" marL="0">
              <a:buNone/>
            </a:pPr>
            <a:r>
              <a:rPr lang="en-US" sz="3150" b="1" dirty="0">
                <a:solidFill>
                  <a:srgbClr val="F88B48"/>
                </a:solidFill>
                <a:latin typeface="Caveat" pitchFamily="34" charset="0"/>
                <a:ea typeface="Caveat" pitchFamily="34" charset="-122"/>
                <a:cs typeface="Caveat" pitchFamily="34" charset="-120"/>
              </a:rPr>
              <a:t>examiner mode</a:t>
            </a:r>
            <a:endParaRPr lang="en-US" sz="3150" dirty="0"/>
          </a:p>
        </p:txBody>
      </p:sp>
      <p:sp>
        <p:nvSpPr>
          <p:cNvPr id="6" name="Text 2"/>
          <p:cNvSpPr/>
          <p:nvPr/>
        </p:nvSpPr>
        <p:spPr>
          <a:xfrm>
            <a:off x="1238250" y="1514475"/>
            <a:ext cx="17392650" cy="635496"/>
          </a:xfrm>
          <a:prstGeom prst="rect">
            <a:avLst/>
          </a:prstGeom>
          <a:noFill/>
          <a:ln/>
        </p:spPr>
        <p:txBody>
          <a:bodyPr wrap="square" lIns="25400" tIns="25400" rIns="25400" bIns="25400" rtlCol="0" anchor="t">
            <a:normAutofit/>
          </a:bodyPr>
          <a:lstStyle/>
          <a:p>
            <a:pPr algn="l" indent="0" marL="0">
              <a:lnSpc>
                <a:spcPct val="112000"/>
              </a:lnSpc>
              <a:buNone/>
            </a:pPr>
            <a:r>
              <a:rPr lang="en-US" sz="4200" b="1" dirty="0">
                <a:solidFill>
                  <a:srgbClr val="292929"/>
                </a:solidFill>
                <a:latin typeface="Montserrat" pitchFamily="34" charset="0"/>
                <a:ea typeface="Montserrat" pitchFamily="34" charset="-122"/>
                <a:cs typeface="Montserrat" pitchFamily="34" charset="-120"/>
              </a:rPr>
              <a:t>The most common structure mistake.</a:t>
            </a:r>
            <a:endParaRPr lang="en-US" sz="4200" dirty="0"/>
          </a:p>
        </p:txBody>
      </p:sp>
      <p:sp>
        <p:nvSpPr>
          <p:cNvPr id="7" name="Shape 3"/>
          <p:cNvSpPr/>
          <p:nvPr/>
        </p:nvSpPr>
        <p:spPr>
          <a:xfrm>
            <a:off x="1238250" y="2645271"/>
            <a:ext cx="15430500" cy="2224088"/>
          </a:xfrm>
          <a:prstGeom prst="roundRect">
            <a:avLst>
              <a:gd name="adj" fmla="val 7709"/>
            </a:avLst>
          </a:prstGeom>
          <a:solidFill>
            <a:srgbClr val="FFFFFF">
              <a:alpha val="50000"/>
            </a:srgbClr>
          </a:solidFill>
          <a:ln w="9525">
            <a:solidFill>
              <a:srgbClr val="292929">
                <a:alpha val="8000"/>
              </a:srgbClr>
            </a:solidFill>
            <a:prstDash val="solid"/>
          </a:ln>
        </p:spPr>
      </p:sp>
      <p:sp>
        <p:nvSpPr>
          <p:cNvPr id="8" name="Text 4"/>
          <p:cNvSpPr/>
          <p:nvPr/>
        </p:nvSpPr>
        <p:spPr>
          <a:xfrm>
            <a:off x="1666875" y="3016746"/>
            <a:ext cx="239316" cy="385763"/>
          </a:xfrm>
          <a:prstGeom prst="rect">
            <a:avLst/>
          </a:prstGeom>
          <a:noFill/>
          <a:ln/>
        </p:spPr>
        <p:txBody>
          <a:bodyPr wrap="square" lIns="25400" tIns="25400" rIns="25400" bIns="25400" rtlCol="0" anchor="t">
            <a:normAutofit/>
          </a:bodyPr>
          <a:lstStyle/>
          <a:p>
            <a:pPr algn="l" indent="0" marL="0">
              <a:buNone/>
            </a:pPr>
            <a:r>
              <a:rPr lang="en-US" sz="2250" b="1" dirty="0">
                <a:solidFill>
                  <a:srgbClr val="B0421F"/>
                </a:solidFill>
                <a:latin typeface="Montserrat" pitchFamily="34" charset="0"/>
                <a:ea typeface="Montserrat" pitchFamily="34" charset="-122"/>
                <a:cs typeface="Montserrat" pitchFamily="34" charset="-120"/>
              </a:rPr>
              <a:t>✗</a:t>
            </a:r>
            <a:endParaRPr lang="en-US" sz="2250" dirty="0"/>
          </a:p>
        </p:txBody>
      </p:sp>
      <p:sp>
        <p:nvSpPr>
          <p:cNvPr id="9" name="Text 5"/>
          <p:cNvSpPr/>
          <p:nvPr/>
        </p:nvSpPr>
        <p:spPr>
          <a:xfrm>
            <a:off x="2001441" y="3052465"/>
            <a:ext cx="2617165"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B0421F"/>
                </a:solidFill>
                <a:latin typeface="Montserrat" pitchFamily="34" charset="0"/>
                <a:ea typeface="Montserrat" pitchFamily="34" charset="-122"/>
                <a:cs typeface="Montserrat" pitchFamily="34" charset="-120"/>
              </a:rPr>
              <a:t>WEAK OVERVIEW</a:t>
            </a:r>
            <a:endParaRPr lang="en-US" sz="1800" dirty="0"/>
          </a:p>
        </p:txBody>
      </p:sp>
      <p:sp>
        <p:nvSpPr>
          <p:cNvPr id="10" name="Text 6"/>
          <p:cNvSpPr/>
          <p:nvPr/>
        </p:nvSpPr>
        <p:spPr>
          <a:xfrm>
            <a:off x="1666875" y="3535859"/>
            <a:ext cx="16030575" cy="504825"/>
          </a:xfrm>
          <a:prstGeom prst="rect">
            <a:avLst/>
          </a:prstGeom>
          <a:noFill/>
          <a:ln/>
        </p:spPr>
        <p:txBody>
          <a:bodyPr wrap="square" lIns="25400" tIns="25400" rIns="25400" bIns="25400" rtlCol="0" anchor="t">
            <a:normAutofit/>
          </a:bodyPr>
          <a:lstStyle/>
          <a:p>
            <a:pPr algn="l" indent="0" marL="0">
              <a:lnSpc>
                <a:spcPct val="140000"/>
              </a:lnSpc>
              <a:buNone/>
            </a:pPr>
            <a:r>
              <a:rPr lang="en-US" sz="2625" dirty="0">
                <a:solidFill>
                  <a:srgbClr val="9A8F86"/>
                </a:solidFill>
                <a:latin typeface="Inter" pitchFamily="34" charset="0"/>
                <a:ea typeface="Inter" pitchFamily="34" charset="-122"/>
                <a:cs typeface="Inter" pitchFamily="34" charset="-120"/>
              </a:rPr>
              <a:t>"Overall, museum A had 1.2 million visitors in 2020 while museum C only had 300,000."</a:t>
            </a:r>
            <a:endParaRPr lang="en-US" sz="2625" dirty="0"/>
          </a:p>
        </p:txBody>
      </p:sp>
      <p:sp>
        <p:nvSpPr>
          <p:cNvPr id="11" name="Text 7"/>
          <p:cNvSpPr/>
          <p:nvPr/>
        </p:nvSpPr>
        <p:spPr>
          <a:xfrm>
            <a:off x="1666875" y="4135934"/>
            <a:ext cx="16030575"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B0421F"/>
                </a:solidFill>
                <a:latin typeface="Caveat" pitchFamily="34" charset="0"/>
                <a:ea typeface="Caveat" pitchFamily="34" charset="-122"/>
                <a:cs typeface="Caveat" pitchFamily="34" charset="-120"/>
              </a:rPr>
              <a:t>numbers belong in the body, not here</a:t>
            </a:r>
            <a:endParaRPr lang="en-US" sz="2250" dirty="0"/>
          </a:p>
        </p:txBody>
      </p:sp>
      <p:sp>
        <p:nvSpPr>
          <p:cNvPr id="12" name="Shape 8"/>
          <p:cNvSpPr/>
          <p:nvPr/>
        </p:nvSpPr>
        <p:spPr>
          <a:xfrm>
            <a:off x="1238250" y="5250359"/>
            <a:ext cx="15430500" cy="2724150"/>
          </a:xfrm>
          <a:prstGeom prst="roundRect">
            <a:avLst>
              <a:gd name="adj" fmla="val 6294"/>
            </a:avLst>
          </a:prstGeom>
          <a:solidFill>
            <a:srgbClr val="5FB27B">
              <a:alpha val="10000"/>
            </a:srgbClr>
          </a:solidFill>
          <a:ln w="9525">
            <a:solidFill>
              <a:srgbClr val="5FB27B">
                <a:alpha val="35000"/>
              </a:srgbClr>
            </a:solidFill>
            <a:prstDash val="solid"/>
          </a:ln>
        </p:spPr>
      </p:sp>
      <p:sp>
        <p:nvSpPr>
          <p:cNvPr id="13" name="Text 9"/>
          <p:cNvSpPr/>
          <p:nvPr/>
        </p:nvSpPr>
        <p:spPr>
          <a:xfrm>
            <a:off x="1666875" y="5621834"/>
            <a:ext cx="294605" cy="385763"/>
          </a:xfrm>
          <a:prstGeom prst="rect">
            <a:avLst/>
          </a:prstGeom>
          <a:noFill/>
          <a:ln/>
        </p:spPr>
        <p:txBody>
          <a:bodyPr wrap="square" lIns="25400" tIns="25400" rIns="25400" bIns="25400" rtlCol="0" anchor="t">
            <a:normAutofit/>
          </a:bodyPr>
          <a:lstStyle/>
          <a:p>
            <a:pPr algn="l" indent="0" marL="0">
              <a:buNone/>
            </a:pPr>
            <a:r>
              <a:rPr lang="en-US" sz="2250" b="1" dirty="0">
                <a:solidFill>
                  <a:srgbClr val="5FB27B"/>
                </a:solidFill>
                <a:latin typeface="Montserrat" pitchFamily="34" charset="0"/>
                <a:ea typeface="Montserrat" pitchFamily="34" charset="-122"/>
                <a:cs typeface="Montserrat" pitchFamily="34" charset="-120"/>
              </a:rPr>
              <a:t>✓</a:t>
            </a:r>
            <a:endParaRPr lang="en-US" sz="2250" dirty="0"/>
          </a:p>
        </p:txBody>
      </p:sp>
      <p:sp>
        <p:nvSpPr>
          <p:cNvPr id="14" name="Text 10"/>
          <p:cNvSpPr/>
          <p:nvPr/>
        </p:nvSpPr>
        <p:spPr>
          <a:xfrm>
            <a:off x="2056730" y="5657552"/>
            <a:ext cx="3329553"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3F8A5B"/>
                </a:solidFill>
                <a:latin typeface="Montserrat" pitchFamily="34" charset="0"/>
                <a:ea typeface="Montserrat" pitchFamily="34" charset="-122"/>
                <a:cs typeface="Montserrat" pitchFamily="34" charset="-120"/>
              </a:rPr>
              <a:t>STRONGER OVERVIEW</a:t>
            </a:r>
            <a:endParaRPr lang="en-US" sz="1800" dirty="0"/>
          </a:p>
        </p:txBody>
      </p:sp>
      <p:sp>
        <p:nvSpPr>
          <p:cNvPr id="15" name="Text 11"/>
          <p:cNvSpPr/>
          <p:nvPr/>
        </p:nvSpPr>
        <p:spPr>
          <a:xfrm>
            <a:off x="1666875" y="6179046"/>
            <a:ext cx="3261461" cy="442913"/>
          </a:xfrm>
          <a:prstGeom prst="rect">
            <a:avLst/>
          </a:prstGeom>
          <a:noFill/>
          <a:ln/>
        </p:spPr>
        <p:txBody>
          <a:bodyPr wrap="square" lIns="0" tIns="0" rIns="0" bIns="0" rtlCol="0" anchor="t">
            <a:normAutofit/>
          </a:bodyPr>
          <a:lstStyle/>
          <a:p>
            <a:pPr algn="l" indent="0" marL="0">
              <a:lnSpc>
                <a:spcPct val="145000"/>
              </a:lnSpc>
              <a:buNone/>
            </a:pPr>
            <a:r>
              <a:rPr lang="en-US" sz="2625" dirty="0">
                <a:solidFill>
                  <a:srgbClr val="292929"/>
                </a:solidFill>
                <a:latin typeface="Inter" pitchFamily="34" charset="0"/>
                <a:ea typeface="Inter" pitchFamily="34" charset="-122"/>
                <a:cs typeface="Inter" pitchFamily="34" charset="-120"/>
              </a:rPr>
              <a:t>"Overall, museum A</a:t>
            </a:r>
            <a:endParaRPr lang="en-US" sz="2625" dirty="0"/>
          </a:p>
        </p:txBody>
      </p:sp>
      <p:pic>
        <p:nvPicPr>
          <p:cNvPr id="16" name="Image 2" descr="preencoded.png">    </p:cNvPr>
          <p:cNvPicPr>
            <a:picLocks noChangeAspect="1"/>
          </p:cNvPicPr>
          <p:nvPr/>
        </p:nvPicPr>
        <p:blipFill>
          <a:blip r:embed="rId3">
            <a:alphaModFix amt="95000"/>
          </a:blip>
          <a:stretch>
            <a:fillRect/>
          </a:stretch>
        </p:blipFill>
        <p:spPr>
          <a:xfrm>
            <a:off x="4845993" y="6140946"/>
            <a:ext cx="5111055" cy="502444"/>
          </a:xfrm>
          <a:prstGeom prst="rect">
            <a:avLst/>
          </a:prstGeom>
        </p:spPr>
      </p:pic>
      <p:sp>
        <p:nvSpPr>
          <p:cNvPr id="17" name="Text 12"/>
          <p:cNvSpPr/>
          <p:nvPr/>
        </p:nvSpPr>
        <p:spPr>
          <a:xfrm>
            <a:off x="4922193" y="6179046"/>
            <a:ext cx="5454521" cy="442913"/>
          </a:xfrm>
          <a:prstGeom prst="rect">
            <a:avLst/>
          </a:prstGeom>
          <a:noFill/>
          <a:ln/>
        </p:spPr>
        <p:txBody>
          <a:bodyPr wrap="none" lIns="25400" tIns="25400" rIns="25400" bIns="25400" rtlCol="0" anchor="t">
            <a:normAutofit/>
          </a:bodyPr>
          <a:lstStyle/>
          <a:p>
            <a:pPr algn="l" indent="0" marL="0">
              <a:lnSpc>
                <a:spcPct val="145000"/>
              </a:lnSpc>
              <a:buNone/>
            </a:pPr>
            <a:r>
              <a:rPr lang="en-US" sz="2625" b="1" dirty="0">
                <a:solidFill>
                  <a:srgbClr val="292929"/>
                </a:solidFill>
                <a:latin typeface="Inter" pitchFamily="34" charset="0"/>
                <a:ea typeface="Inter" pitchFamily="34" charset="-122"/>
                <a:cs typeface="Inter" pitchFamily="34" charset="-120"/>
              </a:rPr>
              <a:t>consistently attracted far more</a:t>
            </a:r>
            <a:endParaRPr lang="en-US" sz="2625" dirty="0"/>
          </a:p>
        </p:txBody>
      </p:sp>
      <p:sp>
        <p:nvSpPr>
          <p:cNvPr id="18" name="Text 13"/>
          <p:cNvSpPr/>
          <p:nvPr/>
        </p:nvSpPr>
        <p:spPr>
          <a:xfrm>
            <a:off x="1666875" y="6179046"/>
            <a:ext cx="14102340" cy="926306"/>
          </a:xfrm>
          <a:prstGeom prst="rect">
            <a:avLst/>
          </a:prstGeom>
          <a:noFill/>
          <a:ln/>
        </p:spPr>
        <p:txBody>
          <a:bodyPr wrap="square" lIns="0" tIns="0" rIns="0" bIns="0" rtlCol="0" anchor="t">
            <a:normAutofit/>
          </a:bodyPr>
          <a:lstStyle/>
          <a:p>
            <a:pPr algn="l" indent="0" marL="0">
              <a:lnSpc>
                <a:spcPct val="145000"/>
              </a:lnSpc>
              <a:buNone/>
            </a:pPr>
            <a:r>
              <a:rPr lang="en-US" sz="2625" dirty="0">
                <a:solidFill>
                  <a:srgbClr val="292929"/>
                </a:solidFill>
                <a:latin typeface="Inter" pitchFamily="34" charset="0"/>
                <a:ea typeface="Inter" pitchFamily="34" charset="-122"/>
                <a:cs typeface="Inter" pitchFamily="34" charset="-120"/>
              </a:rPr>
              <a:t>visitors than the other two, and all three venues saw long-term growth."</a:t>
            </a:r>
            <a:endParaRPr lang="en-US" sz="2625" dirty="0"/>
          </a:p>
        </p:txBody>
      </p:sp>
      <p:sp>
        <p:nvSpPr>
          <p:cNvPr id="19" name="Text 14"/>
          <p:cNvSpPr/>
          <p:nvPr/>
        </p:nvSpPr>
        <p:spPr>
          <a:xfrm>
            <a:off x="1666875" y="7241084"/>
            <a:ext cx="16030575"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3F8A5B"/>
                </a:solidFill>
                <a:latin typeface="Caveat" pitchFamily="34" charset="0"/>
                <a:ea typeface="Caveat" pitchFamily="34" charset="-122"/>
                <a:cs typeface="Caveat" pitchFamily="34" charset="-120"/>
              </a:rPr>
              <a:t>general pattern only, figures saved for later</a:t>
            </a:r>
            <a:endParaRPr lang="en-US" sz="2250" dirty="0"/>
          </a:p>
        </p:txBody>
      </p:sp>
      <p:sp>
        <p:nvSpPr>
          <p:cNvPr id="20" name="Text 15"/>
          <p:cNvSpPr/>
          <p:nvPr/>
        </p:nvSpPr>
        <p:spPr>
          <a:xfrm>
            <a:off x="1238250" y="94916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21" name="Text 16"/>
          <p:cNvSpPr/>
          <p:nvPr/>
        </p:nvSpPr>
        <p:spPr>
          <a:xfrm>
            <a:off x="16920344" y="9491663"/>
            <a:ext cx="205606"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249650" y="609600"/>
            <a:ext cx="1123950" cy="1354187"/>
          </a:xfrm>
          <a:prstGeom prst="rect">
            <a:avLst/>
          </a:prstGeom>
        </p:spPr>
      </p:pic>
      <p:sp>
        <p:nvSpPr>
          <p:cNvPr id="5" name="Text 1"/>
          <p:cNvSpPr/>
          <p:nvPr/>
        </p:nvSpPr>
        <p:spPr>
          <a:xfrm>
            <a:off x="1238250" y="1028700"/>
            <a:ext cx="1526768"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ACTIVITY</a:t>
            </a:r>
            <a:endParaRPr lang="en-US" sz="1800" dirty="0"/>
          </a:p>
        </p:txBody>
      </p:sp>
      <p:sp>
        <p:nvSpPr>
          <p:cNvPr id="6" name="Text 2"/>
          <p:cNvSpPr/>
          <p:nvPr/>
        </p:nvSpPr>
        <p:spPr>
          <a:xfrm rot="-120000">
            <a:off x="2854896" y="914400"/>
            <a:ext cx="1498283"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b="1" dirty="0">
                <a:solidFill>
                  <a:srgbClr val="F88B48"/>
                </a:solidFill>
                <a:latin typeface="Caveat" pitchFamily="34" charset="0"/>
                <a:ea typeface="Caveat" pitchFamily="34" charset="-122"/>
                <a:cs typeface="Caveat" pitchFamily="34" charset="-120"/>
              </a:rPr>
              <a:t>your turn!</a:t>
            </a:r>
            <a:endParaRPr lang="en-US" sz="3150" dirty="0"/>
          </a:p>
        </p:txBody>
      </p:sp>
      <p:sp>
        <p:nvSpPr>
          <p:cNvPr id="7" name="Text 3"/>
          <p:cNvSpPr/>
          <p:nvPr/>
        </p:nvSpPr>
        <p:spPr>
          <a:xfrm>
            <a:off x="1238250" y="1447800"/>
            <a:ext cx="17392650" cy="592782"/>
          </a:xfrm>
          <a:prstGeom prst="rect">
            <a:avLst/>
          </a:prstGeom>
          <a:noFill/>
          <a:ln/>
        </p:spPr>
        <p:txBody>
          <a:bodyPr wrap="square" lIns="25400" tIns="25400" rIns="25400" bIns="25400" rtlCol="0" anchor="t">
            <a:normAutofit/>
          </a:bodyPr>
          <a:lstStyle/>
          <a:p>
            <a:pPr algn="l" indent="0" marL="0">
              <a:lnSpc>
                <a:spcPct val="112000"/>
              </a:lnSpc>
              <a:buNone/>
            </a:pPr>
            <a:r>
              <a:rPr lang="en-US" sz="3900" b="1" dirty="0">
                <a:solidFill>
                  <a:srgbClr val="292929"/>
                </a:solidFill>
                <a:latin typeface="Montserrat" pitchFamily="34" charset="0"/>
                <a:ea typeface="Montserrat" pitchFamily="34" charset="-122"/>
                <a:cs typeface="Montserrat" pitchFamily="34" charset="-120"/>
              </a:rPr>
              <a:t>Sort each line into its section.</a:t>
            </a:r>
            <a:endParaRPr lang="en-US" sz="3900" dirty="0"/>
          </a:p>
        </p:txBody>
      </p:sp>
      <p:sp>
        <p:nvSpPr>
          <p:cNvPr id="8" name="Text 4"/>
          <p:cNvSpPr/>
          <p:nvPr/>
        </p:nvSpPr>
        <p:spPr>
          <a:xfrm>
            <a:off x="1238250" y="2097732"/>
            <a:ext cx="17392650" cy="381000"/>
          </a:xfrm>
          <a:prstGeom prst="rect">
            <a:avLst/>
          </a:prstGeom>
          <a:noFill/>
          <a:ln/>
        </p:spPr>
        <p:txBody>
          <a:bodyPr wrap="square" lIns="25400" tIns="25400" rIns="25400" bIns="25400" rtlCol="0" anchor="t">
            <a:normAutofit/>
          </a:bodyPr>
          <a:lstStyle/>
          <a:p>
            <a:pPr algn="l" indent="0" marL="0">
              <a:buNone/>
            </a:pPr>
            <a:r>
              <a:rPr lang="en-US" sz="2250" dirty="0">
                <a:solidFill>
                  <a:srgbClr val="6B625B"/>
                </a:solidFill>
                <a:latin typeface="Inter" pitchFamily="34" charset="0"/>
                <a:ea typeface="Inter" pitchFamily="34" charset="-122"/>
                <a:cs typeface="Inter" pitchFamily="34" charset="-120"/>
              </a:rPr>
              <a:t>Decide whether each fragment belongs in the introduction, the overview, or a body paragraph.</a:t>
            </a:r>
            <a:endParaRPr lang="en-US" sz="2250" dirty="0"/>
          </a:p>
        </p:txBody>
      </p:sp>
      <p:sp>
        <p:nvSpPr>
          <p:cNvPr id="9" name="Shape 5"/>
          <p:cNvSpPr/>
          <p:nvPr/>
        </p:nvSpPr>
        <p:spPr>
          <a:xfrm>
            <a:off x="1238250" y="2726382"/>
            <a:ext cx="1996678" cy="523875"/>
          </a:xfrm>
          <a:prstGeom prst="roundRect">
            <a:avLst>
              <a:gd name="adj" fmla="val 50000"/>
            </a:avLst>
          </a:prstGeom>
          <a:solidFill>
            <a:srgbClr val="5FB27B">
              <a:alpha val="16000"/>
            </a:srgbClr>
          </a:solidFill>
          <a:ln w="9525">
            <a:solidFill>
              <a:srgbClr val="5FB27B">
                <a:alpha val="40000"/>
              </a:srgbClr>
            </a:solidFill>
            <a:prstDash val="solid"/>
          </a:ln>
        </p:spPr>
      </p:sp>
      <p:sp>
        <p:nvSpPr>
          <p:cNvPr id="10" name="Text 6"/>
          <p:cNvSpPr/>
          <p:nvPr/>
        </p:nvSpPr>
        <p:spPr>
          <a:xfrm>
            <a:off x="1495425" y="2850207"/>
            <a:ext cx="1558528"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3F8A5B"/>
                </a:solidFill>
                <a:latin typeface="Montserrat" pitchFamily="34" charset="0"/>
                <a:ea typeface="Montserrat" pitchFamily="34" charset="-122"/>
                <a:cs typeface="Montserrat" pitchFamily="34" charset="-120"/>
              </a:rPr>
              <a:t>Introduction</a:t>
            </a:r>
            <a:endParaRPr lang="en-US" sz="1800" dirty="0"/>
          </a:p>
        </p:txBody>
      </p:sp>
      <p:sp>
        <p:nvSpPr>
          <p:cNvPr id="11" name="Shape 7"/>
          <p:cNvSpPr/>
          <p:nvPr/>
        </p:nvSpPr>
        <p:spPr>
          <a:xfrm>
            <a:off x="3406378" y="2726382"/>
            <a:ext cx="1625203" cy="523875"/>
          </a:xfrm>
          <a:prstGeom prst="roundRect">
            <a:avLst>
              <a:gd name="adj" fmla="val 50000"/>
            </a:avLst>
          </a:prstGeom>
          <a:solidFill>
            <a:srgbClr val="5FB27B">
              <a:alpha val="16000"/>
            </a:srgbClr>
          </a:solidFill>
          <a:ln w="9525">
            <a:solidFill>
              <a:srgbClr val="5FB27B">
                <a:alpha val="40000"/>
              </a:srgbClr>
            </a:solidFill>
            <a:prstDash val="solid"/>
          </a:ln>
        </p:spPr>
      </p:sp>
      <p:sp>
        <p:nvSpPr>
          <p:cNvPr id="12" name="Text 8"/>
          <p:cNvSpPr/>
          <p:nvPr/>
        </p:nvSpPr>
        <p:spPr>
          <a:xfrm>
            <a:off x="3663553" y="2850207"/>
            <a:ext cx="1187053"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3F8A5B"/>
                </a:solidFill>
                <a:latin typeface="Montserrat" pitchFamily="34" charset="0"/>
                <a:ea typeface="Montserrat" pitchFamily="34" charset="-122"/>
                <a:cs typeface="Montserrat" pitchFamily="34" charset="-120"/>
              </a:rPr>
              <a:t>Overview</a:t>
            </a:r>
            <a:endParaRPr lang="en-US" sz="1800" dirty="0"/>
          </a:p>
        </p:txBody>
      </p:sp>
      <p:sp>
        <p:nvSpPr>
          <p:cNvPr id="13" name="Shape 9"/>
          <p:cNvSpPr/>
          <p:nvPr/>
        </p:nvSpPr>
        <p:spPr>
          <a:xfrm>
            <a:off x="5203031" y="2726382"/>
            <a:ext cx="2404244" cy="523875"/>
          </a:xfrm>
          <a:prstGeom prst="roundRect">
            <a:avLst>
              <a:gd name="adj" fmla="val 50000"/>
            </a:avLst>
          </a:prstGeom>
          <a:solidFill>
            <a:srgbClr val="F88B48">
              <a:alpha val="16000"/>
            </a:srgbClr>
          </a:solidFill>
          <a:ln w="9525">
            <a:solidFill>
              <a:srgbClr val="F88B48">
                <a:alpha val="40000"/>
              </a:srgbClr>
            </a:solidFill>
            <a:prstDash val="solid"/>
          </a:ln>
        </p:spPr>
      </p:sp>
      <p:sp>
        <p:nvSpPr>
          <p:cNvPr id="14" name="Text 10"/>
          <p:cNvSpPr/>
          <p:nvPr/>
        </p:nvSpPr>
        <p:spPr>
          <a:xfrm>
            <a:off x="5460206" y="2850207"/>
            <a:ext cx="1966094"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0421F"/>
                </a:solidFill>
                <a:latin typeface="Montserrat" pitchFamily="34" charset="0"/>
                <a:ea typeface="Montserrat" pitchFamily="34" charset="-122"/>
                <a:cs typeface="Montserrat" pitchFamily="34" charset="-120"/>
              </a:rPr>
              <a:t>Body paragraph</a:t>
            </a:r>
            <a:endParaRPr lang="en-US" sz="1800" dirty="0"/>
          </a:p>
        </p:txBody>
      </p:sp>
      <p:sp>
        <p:nvSpPr>
          <p:cNvPr id="15" name="Shape 11"/>
          <p:cNvSpPr/>
          <p:nvPr/>
        </p:nvSpPr>
        <p:spPr>
          <a:xfrm>
            <a:off x="1238250" y="3612207"/>
            <a:ext cx="15621000" cy="1038225"/>
          </a:xfrm>
          <a:prstGeom prst="roundRect">
            <a:avLst>
              <a:gd name="adj" fmla="val 14679"/>
            </a:avLst>
          </a:prstGeom>
          <a:solidFill>
            <a:srgbClr val="FFFFFF">
              <a:alpha val="55000"/>
            </a:srgbClr>
          </a:solidFill>
          <a:ln w="9525">
            <a:solidFill>
              <a:srgbClr val="292929">
                <a:alpha val="8000"/>
              </a:srgbClr>
            </a:solidFill>
            <a:prstDash val="solid"/>
          </a:ln>
        </p:spPr>
      </p:sp>
      <p:sp>
        <p:nvSpPr>
          <p:cNvPr id="16" name="Text 12"/>
          <p:cNvSpPr/>
          <p:nvPr/>
        </p:nvSpPr>
        <p:spPr>
          <a:xfrm>
            <a:off x="1571625" y="3869382"/>
            <a:ext cx="419100" cy="561975"/>
          </a:xfrm>
          <a:prstGeom prst="rect">
            <a:avLst/>
          </a:prstGeom>
          <a:noFill/>
          <a:ln/>
        </p:spPr>
        <p:txBody>
          <a:bodyPr wrap="square" lIns="25400" tIns="25400" rIns="25400" bIns="25400" rtlCol="0" anchor="t">
            <a:normAutofit/>
          </a:bodyPr>
          <a:lstStyle/>
          <a:p>
            <a:pPr algn="l" indent="0" marL="0">
              <a:buNone/>
            </a:pPr>
            <a:r>
              <a:rPr lang="en-US" sz="3300" b="1" dirty="0">
                <a:solidFill>
                  <a:srgbClr val="5FB27B"/>
                </a:solidFill>
                <a:latin typeface="Caveat" pitchFamily="34" charset="0"/>
                <a:ea typeface="Caveat" pitchFamily="34" charset="-122"/>
                <a:cs typeface="Caveat" pitchFamily="34" charset="-120"/>
              </a:rPr>
              <a:t>1</a:t>
            </a:r>
            <a:endParaRPr lang="en-US" sz="3300" dirty="0"/>
          </a:p>
        </p:txBody>
      </p:sp>
      <p:sp>
        <p:nvSpPr>
          <p:cNvPr id="17" name="Text 13"/>
          <p:cNvSpPr/>
          <p:nvPr/>
        </p:nvSpPr>
        <p:spPr>
          <a:xfrm>
            <a:off x="2200275" y="3944838"/>
            <a:ext cx="12300585" cy="410989"/>
          </a:xfrm>
          <a:prstGeom prst="rect">
            <a:avLst/>
          </a:prstGeom>
          <a:noFill/>
          <a:ln/>
        </p:spPr>
        <p:txBody>
          <a:bodyPr wrap="square" lIns="25400" tIns="25400" rIns="25400" bIns="25400" rtlCol="0" anchor="t">
            <a:normAutofit/>
          </a:bodyPr>
          <a:lstStyle/>
          <a:p>
            <a:pPr algn="l" indent="0" marL="0">
              <a:lnSpc>
                <a:spcPct val="135000"/>
              </a:lnSpc>
              <a:buNone/>
            </a:pPr>
            <a:r>
              <a:rPr lang="en-US" sz="2175" dirty="0">
                <a:solidFill>
                  <a:srgbClr val="292929"/>
                </a:solidFill>
                <a:latin typeface="Inter" pitchFamily="34" charset="0"/>
                <a:ea typeface="Inter" pitchFamily="34" charset="-122"/>
                <a:cs typeface="Inter" pitchFamily="34" charset="-120"/>
              </a:rPr>
              <a:t>"The line graph illustrates visitor numbers at three museums."</a:t>
            </a:r>
            <a:endParaRPr lang="en-US" sz="2175" dirty="0"/>
          </a:p>
        </p:txBody>
      </p:sp>
      <p:sp>
        <p:nvSpPr>
          <p:cNvPr id="18" name="Shape 14"/>
          <p:cNvSpPr/>
          <p:nvPr/>
        </p:nvSpPr>
        <p:spPr>
          <a:xfrm>
            <a:off x="13668375" y="4293245"/>
            <a:ext cx="2857500" cy="19050"/>
          </a:xfrm>
          <a:prstGeom prst="rect">
            <a:avLst/>
          </a:prstGeom>
          <a:solidFill>
            <a:srgbClr val="5FB27B">
              <a:alpha val="60000"/>
            </a:srgbClr>
          </a:solidFill>
          <a:ln/>
        </p:spPr>
      </p:sp>
      <p:sp>
        <p:nvSpPr>
          <p:cNvPr id="19" name="Shape 15"/>
          <p:cNvSpPr/>
          <p:nvPr/>
        </p:nvSpPr>
        <p:spPr>
          <a:xfrm>
            <a:off x="1238250" y="4859982"/>
            <a:ext cx="15621000" cy="1038225"/>
          </a:xfrm>
          <a:prstGeom prst="roundRect">
            <a:avLst>
              <a:gd name="adj" fmla="val 14679"/>
            </a:avLst>
          </a:prstGeom>
          <a:solidFill>
            <a:srgbClr val="FFFFFF">
              <a:alpha val="55000"/>
            </a:srgbClr>
          </a:solidFill>
          <a:ln w="9525">
            <a:solidFill>
              <a:srgbClr val="292929">
                <a:alpha val="8000"/>
              </a:srgbClr>
            </a:solidFill>
            <a:prstDash val="solid"/>
          </a:ln>
        </p:spPr>
      </p:sp>
      <p:sp>
        <p:nvSpPr>
          <p:cNvPr id="20" name="Text 16"/>
          <p:cNvSpPr/>
          <p:nvPr/>
        </p:nvSpPr>
        <p:spPr>
          <a:xfrm>
            <a:off x="1571625" y="5117157"/>
            <a:ext cx="419100" cy="561975"/>
          </a:xfrm>
          <a:prstGeom prst="rect">
            <a:avLst/>
          </a:prstGeom>
          <a:noFill/>
          <a:ln/>
        </p:spPr>
        <p:txBody>
          <a:bodyPr wrap="square" lIns="25400" tIns="25400" rIns="25400" bIns="25400" rtlCol="0" anchor="t">
            <a:normAutofit/>
          </a:bodyPr>
          <a:lstStyle/>
          <a:p>
            <a:pPr algn="l" indent="0" marL="0">
              <a:buNone/>
            </a:pPr>
            <a:r>
              <a:rPr lang="en-US" sz="3300" b="1" dirty="0">
                <a:solidFill>
                  <a:srgbClr val="5FB27B"/>
                </a:solidFill>
                <a:latin typeface="Caveat" pitchFamily="34" charset="0"/>
                <a:ea typeface="Caveat" pitchFamily="34" charset="-122"/>
                <a:cs typeface="Caveat" pitchFamily="34" charset="-120"/>
              </a:rPr>
              <a:t>2</a:t>
            </a:r>
            <a:endParaRPr lang="en-US" sz="3300" dirty="0"/>
          </a:p>
        </p:txBody>
      </p:sp>
      <p:sp>
        <p:nvSpPr>
          <p:cNvPr id="21" name="Text 17"/>
          <p:cNvSpPr/>
          <p:nvPr/>
        </p:nvSpPr>
        <p:spPr>
          <a:xfrm>
            <a:off x="2200275" y="5192613"/>
            <a:ext cx="12300585" cy="410989"/>
          </a:xfrm>
          <a:prstGeom prst="rect">
            <a:avLst/>
          </a:prstGeom>
          <a:noFill/>
          <a:ln/>
        </p:spPr>
        <p:txBody>
          <a:bodyPr wrap="square" lIns="25400" tIns="25400" rIns="25400" bIns="25400" rtlCol="0" anchor="t">
            <a:normAutofit/>
          </a:bodyPr>
          <a:lstStyle/>
          <a:p>
            <a:pPr algn="l" indent="0" marL="0">
              <a:lnSpc>
                <a:spcPct val="135000"/>
              </a:lnSpc>
              <a:buNone/>
            </a:pPr>
            <a:r>
              <a:rPr lang="en-US" sz="2175" dirty="0">
                <a:solidFill>
                  <a:srgbClr val="292929"/>
                </a:solidFill>
                <a:latin typeface="Inter" pitchFamily="34" charset="0"/>
                <a:ea typeface="Inter" pitchFamily="34" charset="-122"/>
                <a:cs typeface="Inter" pitchFamily="34" charset="-120"/>
              </a:rPr>
              <a:t>"Overall, all three venues saw growth over the period."</a:t>
            </a:r>
            <a:endParaRPr lang="en-US" sz="2175" dirty="0"/>
          </a:p>
        </p:txBody>
      </p:sp>
      <p:sp>
        <p:nvSpPr>
          <p:cNvPr id="22" name="Shape 18"/>
          <p:cNvSpPr/>
          <p:nvPr/>
        </p:nvSpPr>
        <p:spPr>
          <a:xfrm>
            <a:off x="13668375" y="5541020"/>
            <a:ext cx="2857500" cy="19050"/>
          </a:xfrm>
          <a:prstGeom prst="rect">
            <a:avLst/>
          </a:prstGeom>
          <a:solidFill>
            <a:srgbClr val="5FB27B">
              <a:alpha val="60000"/>
            </a:srgbClr>
          </a:solidFill>
          <a:ln/>
        </p:spPr>
      </p:sp>
      <p:sp>
        <p:nvSpPr>
          <p:cNvPr id="23" name="Shape 19"/>
          <p:cNvSpPr/>
          <p:nvPr/>
        </p:nvSpPr>
        <p:spPr>
          <a:xfrm>
            <a:off x="1238250" y="6107757"/>
            <a:ext cx="15621000" cy="1038225"/>
          </a:xfrm>
          <a:prstGeom prst="roundRect">
            <a:avLst>
              <a:gd name="adj" fmla="val 14679"/>
            </a:avLst>
          </a:prstGeom>
          <a:solidFill>
            <a:srgbClr val="FFFFFF">
              <a:alpha val="55000"/>
            </a:srgbClr>
          </a:solidFill>
          <a:ln w="9525">
            <a:solidFill>
              <a:srgbClr val="292929">
                <a:alpha val="8000"/>
              </a:srgbClr>
            </a:solidFill>
            <a:prstDash val="solid"/>
          </a:ln>
        </p:spPr>
      </p:sp>
      <p:sp>
        <p:nvSpPr>
          <p:cNvPr id="24" name="Text 20"/>
          <p:cNvSpPr/>
          <p:nvPr/>
        </p:nvSpPr>
        <p:spPr>
          <a:xfrm>
            <a:off x="1571625" y="6364932"/>
            <a:ext cx="419100" cy="561975"/>
          </a:xfrm>
          <a:prstGeom prst="rect">
            <a:avLst/>
          </a:prstGeom>
          <a:noFill/>
          <a:ln/>
        </p:spPr>
        <p:txBody>
          <a:bodyPr wrap="square" lIns="25400" tIns="25400" rIns="25400" bIns="25400" rtlCol="0" anchor="t">
            <a:normAutofit/>
          </a:bodyPr>
          <a:lstStyle/>
          <a:p>
            <a:pPr algn="l" indent="0" marL="0">
              <a:buNone/>
            </a:pPr>
            <a:r>
              <a:rPr lang="en-US" sz="3300" b="1" dirty="0">
                <a:solidFill>
                  <a:srgbClr val="5FB27B"/>
                </a:solidFill>
                <a:latin typeface="Caveat" pitchFamily="34" charset="0"/>
                <a:ea typeface="Caveat" pitchFamily="34" charset="-122"/>
                <a:cs typeface="Caveat" pitchFamily="34" charset="-120"/>
              </a:rPr>
              <a:t>3</a:t>
            </a:r>
            <a:endParaRPr lang="en-US" sz="3300" dirty="0"/>
          </a:p>
        </p:txBody>
      </p:sp>
      <p:sp>
        <p:nvSpPr>
          <p:cNvPr id="25" name="Text 21"/>
          <p:cNvSpPr/>
          <p:nvPr/>
        </p:nvSpPr>
        <p:spPr>
          <a:xfrm>
            <a:off x="2200275" y="6440388"/>
            <a:ext cx="12300585" cy="410989"/>
          </a:xfrm>
          <a:prstGeom prst="rect">
            <a:avLst/>
          </a:prstGeom>
          <a:noFill/>
          <a:ln/>
        </p:spPr>
        <p:txBody>
          <a:bodyPr wrap="square" lIns="25400" tIns="25400" rIns="25400" bIns="25400" rtlCol="0" anchor="t">
            <a:normAutofit/>
          </a:bodyPr>
          <a:lstStyle/>
          <a:p>
            <a:pPr algn="l" indent="0" marL="0">
              <a:lnSpc>
                <a:spcPct val="135000"/>
              </a:lnSpc>
              <a:buNone/>
            </a:pPr>
            <a:r>
              <a:rPr lang="en-US" sz="2175" dirty="0">
                <a:solidFill>
                  <a:srgbClr val="292929"/>
                </a:solidFill>
                <a:latin typeface="Inter" pitchFamily="34" charset="0"/>
                <a:ea typeface="Inter" pitchFamily="34" charset="-122"/>
                <a:cs typeface="Inter" pitchFamily="34" charset="-120"/>
              </a:rPr>
              <a:t>"Specifically, museum A reached 1.2 million visitors by 2020."</a:t>
            </a:r>
            <a:endParaRPr lang="en-US" sz="2175" dirty="0"/>
          </a:p>
        </p:txBody>
      </p:sp>
      <p:sp>
        <p:nvSpPr>
          <p:cNvPr id="26" name="Shape 22"/>
          <p:cNvSpPr/>
          <p:nvPr/>
        </p:nvSpPr>
        <p:spPr>
          <a:xfrm>
            <a:off x="13668375" y="6788795"/>
            <a:ext cx="2857500" cy="19050"/>
          </a:xfrm>
          <a:prstGeom prst="rect">
            <a:avLst/>
          </a:prstGeom>
          <a:solidFill>
            <a:srgbClr val="5FB27B">
              <a:alpha val="60000"/>
            </a:srgbClr>
          </a:solidFill>
          <a:ln/>
        </p:spPr>
      </p:sp>
      <p:sp>
        <p:nvSpPr>
          <p:cNvPr id="27" name="Shape 23"/>
          <p:cNvSpPr/>
          <p:nvPr/>
        </p:nvSpPr>
        <p:spPr>
          <a:xfrm>
            <a:off x="1238250" y="7355532"/>
            <a:ext cx="15621000" cy="1038225"/>
          </a:xfrm>
          <a:prstGeom prst="roundRect">
            <a:avLst>
              <a:gd name="adj" fmla="val 14679"/>
            </a:avLst>
          </a:prstGeom>
          <a:solidFill>
            <a:srgbClr val="FFFFFF">
              <a:alpha val="55000"/>
            </a:srgbClr>
          </a:solidFill>
          <a:ln w="9525">
            <a:solidFill>
              <a:srgbClr val="292929">
                <a:alpha val="8000"/>
              </a:srgbClr>
            </a:solidFill>
            <a:prstDash val="solid"/>
          </a:ln>
        </p:spPr>
      </p:sp>
      <p:sp>
        <p:nvSpPr>
          <p:cNvPr id="28" name="Text 24"/>
          <p:cNvSpPr/>
          <p:nvPr/>
        </p:nvSpPr>
        <p:spPr>
          <a:xfrm>
            <a:off x="1571625" y="7612707"/>
            <a:ext cx="419100" cy="561975"/>
          </a:xfrm>
          <a:prstGeom prst="rect">
            <a:avLst/>
          </a:prstGeom>
          <a:noFill/>
          <a:ln/>
        </p:spPr>
        <p:txBody>
          <a:bodyPr wrap="square" lIns="25400" tIns="25400" rIns="25400" bIns="25400" rtlCol="0" anchor="t">
            <a:normAutofit/>
          </a:bodyPr>
          <a:lstStyle/>
          <a:p>
            <a:pPr algn="l" indent="0" marL="0">
              <a:buNone/>
            </a:pPr>
            <a:r>
              <a:rPr lang="en-US" sz="3300" b="1" dirty="0">
                <a:solidFill>
                  <a:srgbClr val="5FB27B"/>
                </a:solidFill>
                <a:latin typeface="Caveat" pitchFamily="34" charset="0"/>
                <a:ea typeface="Caveat" pitchFamily="34" charset="-122"/>
                <a:cs typeface="Caveat" pitchFamily="34" charset="-120"/>
              </a:rPr>
              <a:t>4</a:t>
            </a:r>
            <a:endParaRPr lang="en-US" sz="3300" dirty="0"/>
          </a:p>
        </p:txBody>
      </p:sp>
      <p:sp>
        <p:nvSpPr>
          <p:cNvPr id="29" name="Text 25"/>
          <p:cNvSpPr/>
          <p:nvPr/>
        </p:nvSpPr>
        <p:spPr>
          <a:xfrm>
            <a:off x="2200275" y="7688163"/>
            <a:ext cx="12300585" cy="410989"/>
          </a:xfrm>
          <a:prstGeom prst="rect">
            <a:avLst/>
          </a:prstGeom>
          <a:noFill/>
          <a:ln/>
        </p:spPr>
        <p:txBody>
          <a:bodyPr wrap="square" lIns="25400" tIns="25400" rIns="25400" bIns="25400" rtlCol="0" anchor="t">
            <a:normAutofit/>
          </a:bodyPr>
          <a:lstStyle/>
          <a:p>
            <a:pPr algn="l" indent="0" marL="0">
              <a:lnSpc>
                <a:spcPct val="135000"/>
              </a:lnSpc>
              <a:buNone/>
            </a:pPr>
            <a:r>
              <a:rPr lang="en-US" sz="2175" dirty="0">
                <a:solidFill>
                  <a:srgbClr val="292929"/>
                </a:solidFill>
                <a:latin typeface="Inter" pitchFamily="34" charset="0"/>
                <a:ea typeface="Inter" pitchFamily="34" charset="-122"/>
                <a:cs typeface="Inter" pitchFamily="34" charset="-120"/>
              </a:rPr>
              <a:t>"In contrast, museum C grew at a much slower rate, ending at 300,000."</a:t>
            </a:r>
            <a:endParaRPr lang="en-US" sz="2175" dirty="0"/>
          </a:p>
        </p:txBody>
      </p:sp>
      <p:sp>
        <p:nvSpPr>
          <p:cNvPr id="30" name="Shape 26"/>
          <p:cNvSpPr/>
          <p:nvPr/>
        </p:nvSpPr>
        <p:spPr>
          <a:xfrm>
            <a:off x="13668375" y="8036570"/>
            <a:ext cx="2857500" cy="19050"/>
          </a:xfrm>
          <a:prstGeom prst="rect">
            <a:avLst/>
          </a:prstGeom>
          <a:solidFill>
            <a:srgbClr val="5FB27B">
              <a:alpha val="60000"/>
            </a:srgbClr>
          </a:solidFill>
          <a:ln/>
        </p:spPr>
      </p:sp>
      <p:sp>
        <p:nvSpPr>
          <p:cNvPr id="31" name="Text 27"/>
          <p:cNvSpPr/>
          <p:nvPr/>
        </p:nvSpPr>
        <p:spPr>
          <a:xfrm>
            <a:off x="1238250" y="94916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32" name="Text 28"/>
          <p:cNvSpPr/>
          <p:nvPr/>
        </p:nvSpPr>
        <p:spPr>
          <a:xfrm>
            <a:off x="16908289" y="9491663"/>
            <a:ext cx="217661"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8F3"/>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stretch>
            <a:fillRect/>
          </a:stretch>
        </p:blipFill>
        <p:spPr>
          <a:xfrm>
            <a:off x="16249650" y="609600"/>
            <a:ext cx="1123950" cy="1354187"/>
          </a:xfrm>
          <a:prstGeom prst="rect">
            <a:avLst/>
          </a:prstGeom>
        </p:spPr>
      </p:pic>
      <p:sp>
        <p:nvSpPr>
          <p:cNvPr id="5" name="Text 1"/>
          <p:cNvSpPr/>
          <p:nvPr/>
        </p:nvSpPr>
        <p:spPr>
          <a:xfrm>
            <a:off x="1238250" y="914400"/>
            <a:ext cx="17392650" cy="314325"/>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5FB27B"/>
                </a:solidFill>
                <a:latin typeface="Montserrat" pitchFamily="34" charset="0"/>
                <a:ea typeface="Montserrat" pitchFamily="34" charset="-122"/>
                <a:cs typeface="Montserrat" pitchFamily="34" charset="-120"/>
              </a:rPr>
              <a:t>KEY TAKEAWAYS</a:t>
            </a:r>
            <a:endParaRPr lang="en-US" sz="1800" dirty="0"/>
          </a:p>
        </p:txBody>
      </p:sp>
      <p:sp>
        <p:nvSpPr>
          <p:cNvPr id="6" name="Text 2"/>
          <p:cNvSpPr/>
          <p:nvPr/>
        </p:nvSpPr>
        <p:spPr>
          <a:xfrm>
            <a:off x="1238250" y="1323975"/>
            <a:ext cx="17392650" cy="614139"/>
          </a:xfrm>
          <a:prstGeom prst="rect">
            <a:avLst/>
          </a:prstGeom>
          <a:noFill/>
          <a:ln/>
        </p:spPr>
        <p:txBody>
          <a:bodyPr wrap="square" lIns="25400" tIns="25400" rIns="25400" bIns="25400" rtlCol="0" anchor="t">
            <a:normAutofit/>
          </a:bodyPr>
          <a:lstStyle/>
          <a:p>
            <a:pPr algn="l" indent="0" marL="0">
              <a:lnSpc>
                <a:spcPct val="112000"/>
              </a:lnSpc>
              <a:buNone/>
            </a:pPr>
            <a:r>
              <a:rPr lang="en-US" sz="4050" b="1" dirty="0">
                <a:solidFill>
                  <a:srgbClr val="292929"/>
                </a:solidFill>
                <a:latin typeface="Montserrat" pitchFamily="34" charset="0"/>
                <a:ea typeface="Montserrat" pitchFamily="34" charset="-122"/>
                <a:cs typeface="Montserrat" pitchFamily="34" charset="-120"/>
              </a:rPr>
              <a:t>What to carry into your writing.</a:t>
            </a:r>
            <a:endParaRPr lang="en-US" sz="4050" dirty="0"/>
          </a:p>
        </p:txBody>
      </p:sp>
      <p:sp>
        <p:nvSpPr>
          <p:cNvPr id="7" name="Shape 3"/>
          <p:cNvSpPr/>
          <p:nvPr/>
        </p:nvSpPr>
        <p:spPr>
          <a:xfrm>
            <a:off x="1238250" y="2509614"/>
            <a:ext cx="171450" cy="171450"/>
          </a:xfrm>
          <a:prstGeom prst="ellipse">
            <a:avLst/>
          </a:prstGeom>
          <a:solidFill>
            <a:srgbClr val="5FB27B"/>
          </a:solidFill>
          <a:ln/>
        </p:spPr>
      </p:sp>
      <p:sp>
        <p:nvSpPr>
          <p:cNvPr id="8" name="Text 4"/>
          <p:cNvSpPr/>
          <p:nvPr/>
        </p:nvSpPr>
        <p:spPr>
          <a:xfrm>
            <a:off x="1657350" y="2376264"/>
            <a:ext cx="15375158" cy="480045"/>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Every Task 1 answer follows the same shape: </a:t>
            </a:r>
            <a:pPr algn="l" indent="0" marL="0">
              <a:lnSpc>
                <a:spcPct val="145000"/>
              </a:lnSpc>
              <a:buNone/>
            </a:pPr>
            <a:r>
              <a:rPr lang="en-US" sz="2400" b="1" dirty="0">
                <a:solidFill>
                  <a:srgbClr val="292929"/>
                </a:solidFill>
                <a:latin typeface="Inter" pitchFamily="34" charset="0"/>
                <a:ea typeface="Inter" pitchFamily="34" charset="-122"/>
                <a:cs typeface="Inter" pitchFamily="34" charset="-120"/>
              </a:rPr>
              <a:t>introduction, overview, </a:t>
            </a:r>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then two </a:t>
            </a:r>
            <a:pPr algn="l" indent="0" marL="0">
              <a:lnSpc>
                <a:spcPct val="145000"/>
              </a:lnSpc>
              <a:buNone/>
            </a:pPr>
            <a:r>
              <a:rPr lang="en-US" sz="2400" b="1" dirty="0">
                <a:solidFill>
                  <a:srgbClr val="292929"/>
                </a:solidFill>
                <a:latin typeface="Inter" pitchFamily="34" charset="0"/>
                <a:ea typeface="Inter" pitchFamily="34" charset="-122"/>
                <a:cs typeface="Inter" pitchFamily="34" charset="-120"/>
              </a:rPr>
              <a:t>body paragraphs</a:t>
            </a:r>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a:t>
            </a:r>
            <a:endParaRPr lang="en-US" sz="2400" dirty="0"/>
          </a:p>
        </p:txBody>
      </p:sp>
      <p:sp>
        <p:nvSpPr>
          <p:cNvPr id="9" name="Shape 5"/>
          <p:cNvSpPr/>
          <p:nvPr/>
        </p:nvSpPr>
        <p:spPr>
          <a:xfrm>
            <a:off x="1238250" y="3218259"/>
            <a:ext cx="171450" cy="171450"/>
          </a:xfrm>
          <a:prstGeom prst="ellipse">
            <a:avLst/>
          </a:prstGeom>
          <a:solidFill>
            <a:srgbClr val="5FB27B"/>
          </a:solidFill>
          <a:ln/>
        </p:spPr>
      </p:sp>
      <p:sp>
        <p:nvSpPr>
          <p:cNvPr id="10" name="Text 6"/>
          <p:cNvSpPr/>
          <p:nvPr/>
        </p:nvSpPr>
        <p:spPr>
          <a:xfrm>
            <a:off x="1657350" y="3084909"/>
            <a:ext cx="11519848" cy="480045"/>
          </a:xfrm>
          <a:prstGeom prst="rect">
            <a:avLst/>
          </a:prstGeom>
          <a:noFill/>
          <a:ln/>
        </p:spPr>
        <p:txBody>
          <a:bodyPr wrap="square" lIns="25400" tIns="25400" rIns="25400" bIns="25400" rtlCol="0" anchor="t">
            <a:normAutofit/>
          </a:bodyPr>
          <a:lstStyle/>
          <a:p>
            <a:pPr algn="l" indent="0" marL="0">
              <a:lnSpc>
                <a:spcPct val="145000"/>
              </a:lnSpc>
              <a:buNone/>
            </a:pPr>
            <a:r>
              <a:rPr lang="en-US" sz="2400" b="1" dirty="0">
                <a:solidFill>
                  <a:srgbClr val="292929"/>
                </a:solidFill>
                <a:latin typeface="Inter" pitchFamily="34" charset="0"/>
                <a:ea typeface="Inter" pitchFamily="34" charset="-122"/>
                <a:cs typeface="Inter" pitchFamily="34" charset="-120"/>
              </a:rPr>
              <a:t>Paraphrase </a:t>
            </a:r>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the question in the introduction, never copy it word for word.</a:t>
            </a:r>
            <a:endParaRPr lang="en-US" sz="2400" dirty="0"/>
          </a:p>
        </p:txBody>
      </p:sp>
      <p:sp>
        <p:nvSpPr>
          <p:cNvPr id="11" name="Shape 7"/>
          <p:cNvSpPr/>
          <p:nvPr/>
        </p:nvSpPr>
        <p:spPr>
          <a:xfrm>
            <a:off x="1238250" y="3926904"/>
            <a:ext cx="171450" cy="171450"/>
          </a:xfrm>
          <a:prstGeom prst="ellipse">
            <a:avLst/>
          </a:prstGeom>
          <a:solidFill>
            <a:srgbClr val="5FB27B"/>
          </a:solidFill>
          <a:ln/>
        </p:spPr>
      </p:sp>
      <p:sp>
        <p:nvSpPr>
          <p:cNvPr id="12" name="Text 8"/>
          <p:cNvSpPr/>
          <p:nvPr/>
        </p:nvSpPr>
        <p:spPr>
          <a:xfrm>
            <a:off x="1657350" y="3793554"/>
            <a:ext cx="12590026" cy="480045"/>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Keep the overview </a:t>
            </a:r>
            <a:pPr algn="l" indent="0" marL="0">
              <a:lnSpc>
                <a:spcPct val="145000"/>
              </a:lnSpc>
              <a:buNone/>
            </a:pPr>
            <a:r>
              <a:rPr lang="en-US" sz="2400" b="1" dirty="0">
                <a:solidFill>
                  <a:srgbClr val="292929"/>
                </a:solidFill>
                <a:latin typeface="Inter" pitchFamily="34" charset="0"/>
                <a:ea typeface="Inter" pitchFamily="34" charset="-122"/>
                <a:cs typeface="Inter" pitchFamily="34" charset="-120"/>
              </a:rPr>
              <a:t>free of numbers</a:t>
            </a:r>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 save every figure for the body paragraphs.</a:t>
            </a:r>
            <a:endParaRPr lang="en-US" sz="2400" dirty="0"/>
          </a:p>
        </p:txBody>
      </p:sp>
      <p:sp>
        <p:nvSpPr>
          <p:cNvPr id="13" name="Shape 9"/>
          <p:cNvSpPr/>
          <p:nvPr/>
        </p:nvSpPr>
        <p:spPr>
          <a:xfrm>
            <a:off x="1238250" y="4635550"/>
            <a:ext cx="171450" cy="171450"/>
          </a:xfrm>
          <a:prstGeom prst="ellipse">
            <a:avLst/>
          </a:prstGeom>
          <a:solidFill>
            <a:srgbClr val="5FB27B"/>
          </a:solidFill>
          <a:ln/>
        </p:spPr>
      </p:sp>
      <p:sp>
        <p:nvSpPr>
          <p:cNvPr id="14" name="Text 10"/>
          <p:cNvSpPr/>
          <p:nvPr/>
        </p:nvSpPr>
        <p:spPr>
          <a:xfrm>
            <a:off x="1657350" y="4502200"/>
            <a:ext cx="14413029" cy="480045"/>
          </a:xfrm>
          <a:prstGeom prst="rect">
            <a:avLst/>
          </a:prstGeom>
          <a:noFill/>
          <a:ln/>
        </p:spPr>
        <p:txBody>
          <a:bodyPr wrap="square" lIns="25400" tIns="25400" rIns="25400" bIns="25400" rtlCol="0" anchor="t">
            <a:normAutofit/>
          </a:bodyPr>
          <a:lstStyle/>
          <a:p>
            <a:pPr algn="l" indent="0" marL="0">
              <a:lnSpc>
                <a:spcPct val="145000"/>
              </a:lnSpc>
              <a:buNone/>
            </a:pPr>
            <a:r>
              <a:rPr lang="en-US" sz="2400" b="1" dirty="0">
                <a:solidFill>
                  <a:srgbClr val="292929"/>
                </a:solidFill>
                <a:latin typeface="Inter" pitchFamily="34" charset="0"/>
                <a:ea typeface="Inter" pitchFamily="34" charset="-122"/>
                <a:cs typeface="Inter" pitchFamily="34" charset="-120"/>
              </a:rPr>
              <a:t>Group body paragraphs logically</a:t>
            </a:r>
            <a:pPr algn="l" indent="0" marL="0">
              <a:lnSpc>
                <a:spcPct val="145000"/>
              </a:lnSpc>
              <a:buNone/>
            </a:pPr>
            <a:r>
              <a:rPr lang="en-US" sz="2400" dirty="0">
                <a:solidFill>
                  <a:srgbClr val="6B625B"/>
                </a:solidFill>
                <a:latin typeface="Inter" pitchFamily="34" charset="0"/>
                <a:ea typeface="Inter" pitchFamily="34" charset="-122"/>
                <a:cs typeface="Inter" pitchFamily="34" charset="-120"/>
              </a:rPr>
              <a:t>, by category, time period, or trend, whichever is clearest.</a:t>
            </a:r>
            <a:endParaRPr lang="en-US" sz="2400" dirty="0"/>
          </a:p>
        </p:txBody>
      </p:sp>
      <p:sp>
        <p:nvSpPr>
          <p:cNvPr id="15" name="Text 11"/>
          <p:cNvSpPr/>
          <p:nvPr/>
        </p:nvSpPr>
        <p:spPr>
          <a:xfrm rot="-120000">
            <a:off x="14064258" y="8015288"/>
            <a:ext cx="2986088" cy="447675"/>
          </a:xfrm>
          <a:prstGeom prst="rect">
            <a:avLst/>
          </a:prstGeom>
          <a:noFill/>
          <a:ln/>
        </p:spPr>
        <p:txBody>
          <a:bodyPr wrap="square" lIns="25400" tIns="25400" rIns="25400" bIns="25400" rtlCol="0" anchor="t">
            <a:normAutofit/>
          </a:bodyPr>
          <a:lstStyle/>
          <a:p>
            <a:pPr algn="r" indent="0" marL="0">
              <a:buNone/>
            </a:pPr>
            <a:r>
              <a:rPr lang="en-US" sz="2550" b="1" dirty="0">
                <a:solidFill>
                  <a:srgbClr val="F88B48"/>
                </a:solidFill>
                <a:latin typeface="Caveat" pitchFamily="34" charset="0"/>
                <a:ea typeface="Caveat" pitchFamily="34" charset="-122"/>
                <a:cs typeface="Caveat" pitchFamily="34" charset="-120"/>
              </a:rPr>
              <a:t>next up →</a:t>
            </a:r>
            <a:endParaRPr lang="en-US" sz="2550" dirty="0"/>
          </a:p>
        </p:txBody>
      </p:sp>
      <p:sp>
        <p:nvSpPr>
          <p:cNvPr id="16" name="Text 12"/>
          <p:cNvSpPr/>
          <p:nvPr/>
        </p:nvSpPr>
        <p:spPr>
          <a:xfrm>
            <a:off x="14064972" y="8482013"/>
            <a:ext cx="2984778" cy="433388"/>
          </a:xfrm>
          <a:prstGeom prst="rect">
            <a:avLst/>
          </a:prstGeom>
          <a:noFill/>
          <a:ln/>
        </p:spPr>
        <p:txBody>
          <a:bodyPr wrap="square" lIns="25400" tIns="25400" rIns="25400" bIns="25400" rtlCol="0" anchor="t">
            <a:normAutofit/>
          </a:bodyPr>
          <a:lstStyle/>
          <a:p>
            <a:pPr algn="r" indent="0" marL="0">
              <a:buNone/>
            </a:pPr>
            <a:r>
              <a:rPr lang="en-US" sz="2550" b="1" dirty="0">
                <a:solidFill>
                  <a:srgbClr val="292929"/>
                </a:solidFill>
                <a:latin typeface="Montserrat" pitchFamily="34" charset="0"/>
                <a:ea typeface="Montserrat" pitchFamily="34" charset="-122"/>
                <a:cs typeface="Montserrat" pitchFamily="34" charset="-120"/>
              </a:rPr>
              <a:t>Writing Practice</a:t>
            </a:r>
            <a:endParaRPr lang="en-US" sz="2550" dirty="0"/>
          </a:p>
        </p:txBody>
      </p:sp>
      <p:sp>
        <p:nvSpPr>
          <p:cNvPr id="17" name="Text 13"/>
          <p:cNvSpPr/>
          <p:nvPr/>
        </p:nvSpPr>
        <p:spPr>
          <a:xfrm>
            <a:off x="1238250" y="9491663"/>
            <a:ext cx="640011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Lesson 4 of 8 · IELTS Writing Task 1 · orangeenglish.nl</a:t>
            </a:r>
            <a:endParaRPr lang="en-US" sz="1800" dirty="0"/>
          </a:p>
        </p:txBody>
      </p:sp>
      <p:sp>
        <p:nvSpPr>
          <p:cNvPr id="18" name="Text 14"/>
          <p:cNvSpPr/>
          <p:nvPr/>
        </p:nvSpPr>
        <p:spPr>
          <a:xfrm>
            <a:off x="16907991" y="9491663"/>
            <a:ext cx="217959" cy="319088"/>
          </a:xfrm>
          <a:prstGeom prst="rect">
            <a:avLst/>
          </a:prstGeom>
          <a:noFill/>
          <a:ln/>
        </p:spPr>
        <p:txBody>
          <a:bodyPr wrap="square" lIns="25400" tIns="25400" rIns="25400" bIns="25400" rtlCol="0" anchor="t">
            <a:normAutofit/>
          </a:bodyPr>
          <a:lstStyle/>
          <a:p>
            <a:pPr algn="l" indent="0" marL="0">
              <a:buNone/>
            </a:pPr>
            <a:r>
              <a:rPr lang="en-US" sz="1800" dirty="0">
                <a:solidFill>
                  <a:srgbClr val="6B625B"/>
                </a:solidFill>
                <a:latin typeface="Inter" pitchFamily="34" charset="0"/>
                <a:ea typeface="Inter" pitchFamily="34" charset="-122"/>
                <a:cs typeface="Inter" pitchFamily="34" charset="-120"/>
              </a:rPr>
              <a:t>9</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2026-06-20T14:12:09Z</dcterms:created>
  <dcterms:modified xsi:type="dcterms:W3CDTF">2026-06-20T14:12:09Z</dcterms:modified>
</cp:coreProperties>
</file>